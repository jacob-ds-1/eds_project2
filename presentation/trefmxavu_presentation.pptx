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4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5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6.xml" ContentType="application/vnd.openxmlformats-officedocument.presentationml.notesSlide+xml"/>
  <Override PartName="/ppt/tags/tag44.xml" ContentType="application/vnd.openxmlformats-officedocument.presentationml.tags+xml"/>
  <Override PartName="/ppt/notesSlides/notesSlide7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8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51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7" r:id="rId3"/>
  </p:sldMasterIdLst>
  <p:notesMasterIdLst>
    <p:notesMasterId r:id="rId23"/>
  </p:notesMasterIdLst>
  <p:handoutMasterIdLst>
    <p:handoutMasterId r:id="rId24"/>
  </p:handoutMasterIdLst>
  <p:sldIdLst>
    <p:sldId id="856" r:id="rId4"/>
    <p:sldId id="851" r:id="rId5"/>
    <p:sldId id="863" r:id="rId6"/>
    <p:sldId id="864" r:id="rId7"/>
    <p:sldId id="865" r:id="rId8"/>
    <p:sldId id="866" r:id="rId9"/>
    <p:sldId id="867" r:id="rId10"/>
    <p:sldId id="868" r:id="rId11"/>
    <p:sldId id="872" r:id="rId12"/>
    <p:sldId id="874" r:id="rId13"/>
    <p:sldId id="857" r:id="rId14"/>
    <p:sldId id="871" r:id="rId15"/>
    <p:sldId id="854" r:id="rId16"/>
    <p:sldId id="869" r:id="rId17"/>
    <p:sldId id="859" r:id="rId18"/>
    <p:sldId id="870" r:id="rId19"/>
    <p:sldId id="862" r:id="rId20"/>
    <p:sldId id="860" r:id="rId21"/>
    <p:sldId id="8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8" userDrawn="1">
          <p15:clr>
            <a:srgbClr val="A4A3A4"/>
          </p15:clr>
        </p15:guide>
        <p15:guide id="2" pos="39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24D"/>
    <a:srgbClr val="4F81BD"/>
    <a:srgbClr val="C00000"/>
    <a:srgbClr val="7800A2"/>
    <a:srgbClr val="FDEADA"/>
    <a:srgbClr val="E6B9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26E175-9A88-9893-0912-A3C7FA895709}" v="56" dt="2026-04-21T14:51:32.547"/>
    <p1510:client id="{5DFAEC78-3DF5-48D2-AF14-32E4D8A0DE84}" v="25" dt="2026-04-21T20:36:59.109"/>
    <p1510:client id="{75025F4F-5B6F-BB46-A0B8-9E797B11FCBE}" v="359" dt="2026-04-21T21:20:52.004"/>
    <p1510:client id="{75BBBD8A-87F6-6FBF-FBBC-74FEFC475779}" v="100" dt="2026-04-21T10:07:08.241"/>
    <p1510:client id="{834DA00C-BBF4-7F5D-5ACB-E43446A6BB53}" v="8" dt="2026-04-21T20:36:37.299"/>
    <p1510:client id="{BC8A87E5-6130-B335-3569-FFC0ACCF2CEF}" v="395" dt="2026-04-21T19:32:25.4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4"/>
    <p:restoredTop sz="78222"/>
  </p:normalViewPr>
  <p:slideViewPr>
    <p:cSldViewPr snapToGrid="0">
      <p:cViewPr varScale="1">
        <p:scale>
          <a:sx n="122" d="100"/>
          <a:sy n="122" d="100"/>
        </p:scale>
        <p:origin x="1248" y="208"/>
      </p:cViewPr>
      <p:guideLst>
        <p:guide orient="horz" pos="2108"/>
        <p:guide pos="39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AE0682-C0CE-6A4F-91A5-90963CB93A17}" type="doc">
      <dgm:prSet loTypeId="urn:microsoft.com/office/officeart/2005/8/layout/process4" loCatId="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GB"/>
        </a:p>
      </dgm:t>
    </dgm:pt>
    <dgm:pt modelId="{E219E1E3-DF95-7B46-8206-EE506ABEC9EB}">
      <dgm:prSet phldrT="[Text]" custT="1"/>
      <dgm:spPr/>
      <dgm:t>
        <a:bodyPr/>
        <a:lstStyle/>
        <a:p>
          <a:r>
            <a:rPr lang="en-GB" sz="1300"/>
            <a:t>Raw </a:t>
          </a:r>
          <a:r>
            <a:rPr lang="en-GB" sz="1300" err="1"/>
            <a:t>NetCDF</a:t>
          </a:r>
          <a:r>
            <a:rPr lang="en-GB" sz="1300"/>
            <a:t> data</a:t>
          </a:r>
        </a:p>
      </dgm:t>
    </dgm:pt>
    <dgm:pt modelId="{D5EDF695-7C75-754D-AD46-6C8B6E738FDE}" type="parTrans" cxnId="{062AABDA-7281-D24A-9A95-5F6AE527BC5C}">
      <dgm:prSet/>
      <dgm:spPr/>
      <dgm:t>
        <a:bodyPr/>
        <a:lstStyle/>
        <a:p>
          <a:endParaRPr lang="en-GB" sz="1300"/>
        </a:p>
      </dgm:t>
    </dgm:pt>
    <dgm:pt modelId="{62AA64C9-DDBB-004F-80C7-00C98FF2F7BF}" type="sibTrans" cxnId="{062AABDA-7281-D24A-9A95-5F6AE527BC5C}">
      <dgm:prSet/>
      <dgm:spPr/>
      <dgm:t>
        <a:bodyPr/>
        <a:lstStyle/>
        <a:p>
          <a:endParaRPr lang="en-GB" sz="1300"/>
        </a:p>
      </dgm:t>
    </dgm:pt>
    <dgm:pt modelId="{20B4212F-3F3E-4C4C-B6D1-D4EB7990C00B}">
      <dgm:prSet phldrT="[Text]" custT="1"/>
      <dgm:spPr/>
      <dgm:t>
        <a:bodyPr/>
        <a:lstStyle/>
        <a:p>
          <a:r>
            <a:rPr lang="en-GB" sz="1300"/>
            <a:t>Preprocessing / monthly aggregation</a:t>
          </a:r>
        </a:p>
      </dgm:t>
    </dgm:pt>
    <dgm:pt modelId="{6EDBCD81-D0B0-BC48-9460-C72E3EF354ED}" type="parTrans" cxnId="{6007B0D7-47FA-0C47-A99B-BCDEEBB0FF78}">
      <dgm:prSet/>
      <dgm:spPr/>
      <dgm:t>
        <a:bodyPr/>
        <a:lstStyle/>
        <a:p>
          <a:endParaRPr lang="en-GB" sz="1300"/>
        </a:p>
      </dgm:t>
    </dgm:pt>
    <dgm:pt modelId="{A971650B-B24D-F345-BFEF-56FFAA50F7B9}" type="sibTrans" cxnId="{6007B0D7-47FA-0C47-A99B-BCDEEBB0FF78}">
      <dgm:prSet/>
      <dgm:spPr/>
      <dgm:t>
        <a:bodyPr/>
        <a:lstStyle/>
        <a:p>
          <a:endParaRPr lang="en-GB" sz="1300"/>
        </a:p>
      </dgm:t>
    </dgm:pt>
    <dgm:pt modelId="{897A7534-8CAD-E042-ABEC-477653B09C86}">
      <dgm:prSet phldrT="[Text]" custT="1"/>
      <dgm:spPr/>
      <dgm:t>
        <a:bodyPr/>
        <a:lstStyle/>
        <a:p>
          <a:pPr rtl="0"/>
          <a:r>
            <a:rPr lang="en-GB" sz="1300">
              <a:latin typeface="Arial"/>
            </a:rPr>
            <a:t>Validate models on pre-2050 folds</a:t>
          </a:r>
          <a:endParaRPr lang="en-GB"/>
        </a:p>
      </dgm:t>
    </dgm:pt>
    <dgm:pt modelId="{7F2AAB96-1D62-A04C-8FEC-E367CDD83153}" type="parTrans" cxnId="{48C842BB-BCC3-2346-A46E-6CA33FF3BB33}">
      <dgm:prSet/>
      <dgm:spPr/>
      <dgm:t>
        <a:bodyPr/>
        <a:lstStyle/>
        <a:p>
          <a:endParaRPr lang="en-GB" sz="1300"/>
        </a:p>
      </dgm:t>
    </dgm:pt>
    <dgm:pt modelId="{923AAFB0-A641-4749-AFF5-253D910E0086}" type="sibTrans" cxnId="{48C842BB-BCC3-2346-A46E-6CA33FF3BB33}">
      <dgm:prSet/>
      <dgm:spPr/>
      <dgm:t>
        <a:bodyPr/>
        <a:lstStyle/>
        <a:p>
          <a:endParaRPr lang="en-GB" sz="1300"/>
        </a:p>
      </dgm:t>
    </dgm:pt>
    <dgm:pt modelId="{1B3E9EE6-0B24-B044-A55C-4ED8CEA655A4}">
      <dgm:prSet phldrT="[Text]" custT="1"/>
      <dgm:spPr/>
      <dgm:t>
        <a:bodyPr/>
        <a:lstStyle/>
        <a:p>
          <a:pPr rtl="0"/>
          <a:r>
            <a:rPr lang="en-GB" sz="1300">
              <a:latin typeface="Arial"/>
            </a:rPr>
            <a:t>Fit final model on all pre-2050 data</a:t>
          </a:r>
          <a:endParaRPr lang="en-GB" sz="1300" dirty="0"/>
        </a:p>
      </dgm:t>
    </dgm:pt>
    <dgm:pt modelId="{4BE9277E-494D-5C4B-8B93-9C75669BCF01}" type="parTrans" cxnId="{2050BAE9-8BD5-664B-8EBF-B675514A3F59}">
      <dgm:prSet/>
      <dgm:spPr/>
      <dgm:t>
        <a:bodyPr/>
        <a:lstStyle/>
        <a:p>
          <a:endParaRPr lang="en-GB" sz="1300"/>
        </a:p>
      </dgm:t>
    </dgm:pt>
    <dgm:pt modelId="{EC50D032-4206-B744-82C2-6BC8D38E5492}" type="sibTrans" cxnId="{2050BAE9-8BD5-664B-8EBF-B675514A3F59}">
      <dgm:prSet/>
      <dgm:spPr/>
      <dgm:t>
        <a:bodyPr/>
        <a:lstStyle/>
        <a:p>
          <a:endParaRPr lang="en-GB" sz="1300"/>
        </a:p>
      </dgm:t>
    </dgm:pt>
    <dgm:pt modelId="{48B6923E-83E5-0F41-A562-D7E29333259F}">
      <dgm:prSet phldrT="[Text]" custT="1"/>
      <dgm:spPr/>
      <dgm:t>
        <a:bodyPr/>
        <a:lstStyle/>
        <a:p>
          <a:pPr rtl="0"/>
          <a:r>
            <a:rPr lang="en-GB" sz="1300">
              <a:latin typeface="Arial"/>
            </a:rPr>
            <a:t>Evaluate on post-2050 holdout</a:t>
          </a:r>
          <a:endParaRPr lang="en-GB" sz="1300" dirty="0"/>
        </a:p>
      </dgm:t>
    </dgm:pt>
    <dgm:pt modelId="{81585D03-3F42-8A4D-A93B-190C9790BC8E}" type="parTrans" cxnId="{E31527F9-78EC-D241-ADBC-CFB80D260413}">
      <dgm:prSet/>
      <dgm:spPr/>
      <dgm:t>
        <a:bodyPr/>
        <a:lstStyle/>
        <a:p>
          <a:endParaRPr lang="en-GB" sz="1300"/>
        </a:p>
      </dgm:t>
    </dgm:pt>
    <dgm:pt modelId="{41BAD8FF-3F23-AF47-9052-694D0608A68A}" type="sibTrans" cxnId="{E31527F9-78EC-D241-ADBC-CFB80D260413}">
      <dgm:prSet/>
      <dgm:spPr/>
      <dgm:t>
        <a:bodyPr/>
        <a:lstStyle/>
        <a:p>
          <a:endParaRPr lang="en-GB" sz="1300"/>
        </a:p>
      </dgm:t>
    </dgm:pt>
    <dgm:pt modelId="{FE30D5BB-AAD6-404F-B296-AE0D4463742B}">
      <dgm:prSet phldr="0"/>
      <dgm:spPr/>
      <dgm:t>
        <a:bodyPr/>
        <a:lstStyle/>
        <a:p>
          <a:pPr rtl="0"/>
          <a:r>
            <a:rPr lang="en-GB" sz="1300" dirty="0">
              <a:latin typeface="Arial"/>
            </a:rPr>
            <a:t>Interpret scenario / season / spatial / Manchester-focused patterns</a:t>
          </a:r>
        </a:p>
      </dgm:t>
    </dgm:pt>
    <dgm:pt modelId="{E20F54D4-71E3-4B2C-BFC2-B54998378C73}" type="parTrans" cxnId="{C6086DD5-32DB-6242-A218-1C821682C024}">
      <dgm:prSet/>
      <dgm:spPr/>
      <dgm:t>
        <a:bodyPr/>
        <a:lstStyle/>
        <a:p>
          <a:endParaRPr lang="en-GB"/>
        </a:p>
      </dgm:t>
    </dgm:pt>
    <dgm:pt modelId="{4DC66E99-4F99-4C81-BAEB-20918A78DDC7}" type="sibTrans" cxnId="{C6086DD5-32DB-6242-A218-1C821682C024}">
      <dgm:prSet/>
      <dgm:spPr/>
      <dgm:t>
        <a:bodyPr/>
        <a:lstStyle/>
        <a:p>
          <a:endParaRPr lang="en-GB"/>
        </a:p>
      </dgm:t>
    </dgm:pt>
    <dgm:pt modelId="{3FBD7961-4668-014F-A089-D19904BBDCB5}" type="pres">
      <dgm:prSet presAssocID="{ADAE0682-C0CE-6A4F-91A5-90963CB93A17}" presName="Name0" presStyleCnt="0">
        <dgm:presLayoutVars>
          <dgm:dir/>
          <dgm:animLvl val="lvl"/>
          <dgm:resizeHandles val="exact"/>
        </dgm:presLayoutVars>
      </dgm:prSet>
      <dgm:spPr/>
    </dgm:pt>
    <dgm:pt modelId="{94F1B1DF-2A33-4EB9-A027-98D6926D0412}" type="pres">
      <dgm:prSet presAssocID="{FE30D5BB-AAD6-404F-B296-AE0D4463742B}" presName="boxAndChildren" presStyleCnt="0"/>
      <dgm:spPr/>
    </dgm:pt>
    <dgm:pt modelId="{9BC976CF-2E7E-4678-A5AD-E07400498A22}" type="pres">
      <dgm:prSet presAssocID="{FE30D5BB-AAD6-404F-B296-AE0D4463742B}" presName="parentTextBox" presStyleLbl="node1" presStyleIdx="0" presStyleCnt="6"/>
      <dgm:spPr/>
    </dgm:pt>
    <dgm:pt modelId="{A310A595-78D9-44D6-BB95-87EDDFF5EAF2}" type="pres">
      <dgm:prSet presAssocID="{41BAD8FF-3F23-AF47-9052-694D0608A68A}" presName="sp" presStyleCnt="0"/>
      <dgm:spPr/>
    </dgm:pt>
    <dgm:pt modelId="{8D599BFF-EA75-4077-B542-8545E3D7B978}" type="pres">
      <dgm:prSet presAssocID="{48B6923E-83E5-0F41-A562-D7E29333259F}" presName="arrowAndChildren" presStyleCnt="0"/>
      <dgm:spPr/>
    </dgm:pt>
    <dgm:pt modelId="{6F305602-562F-4BE8-9342-5B245A7E292D}" type="pres">
      <dgm:prSet presAssocID="{48B6923E-83E5-0F41-A562-D7E29333259F}" presName="parentTextArrow" presStyleLbl="node1" presStyleIdx="1" presStyleCnt="6"/>
      <dgm:spPr/>
    </dgm:pt>
    <dgm:pt modelId="{0A1D5D01-E44A-4B42-A304-FFBD4CD66467}" type="pres">
      <dgm:prSet presAssocID="{EC50D032-4206-B744-82C2-6BC8D38E5492}" presName="sp" presStyleCnt="0"/>
      <dgm:spPr/>
    </dgm:pt>
    <dgm:pt modelId="{CE91B09A-A2FF-2B49-A408-65FC0C002143}" type="pres">
      <dgm:prSet presAssocID="{1B3E9EE6-0B24-B044-A55C-4ED8CEA655A4}" presName="arrowAndChildren" presStyleCnt="0"/>
      <dgm:spPr/>
    </dgm:pt>
    <dgm:pt modelId="{2FBC947A-04BE-9845-90DC-284CC4082D3F}" type="pres">
      <dgm:prSet presAssocID="{1B3E9EE6-0B24-B044-A55C-4ED8CEA655A4}" presName="parentTextArrow" presStyleLbl="node1" presStyleIdx="2" presStyleCnt="6"/>
      <dgm:spPr/>
    </dgm:pt>
    <dgm:pt modelId="{9F14A0AF-3581-6448-B8A8-BBCF7969CDB4}" type="pres">
      <dgm:prSet presAssocID="{923AAFB0-A641-4749-AFF5-253D910E0086}" presName="sp" presStyleCnt="0"/>
      <dgm:spPr/>
    </dgm:pt>
    <dgm:pt modelId="{1860EA67-644D-D94A-9A3A-5A90A39D400B}" type="pres">
      <dgm:prSet presAssocID="{897A7534-8CAD-E042-ABEC-477653B09C86}" presName="arrowAndChildren" presStyleCnt="0"/>
      <dgm:spPr/>
    </dgm:pt>
    <dgm:pt modelId="{E75DC511-C09C-0C4B-BF92-24CD1B8E6B8C}" type="pres">
      <dgm:prSet presAssocID="{897A7534-8CAD-E042-ABEC-477653B09C86}" presName="parentTextArrow" presStyleLbl="node1" presStyleIdx="3" presStyleCnt="6"/>
      <dgm:spPr/>
    </dgm:pt>
    <dgm:pt modelId="{B755F2EC-6AAD-C145-93E1-2A5D54B22AD2}" type="pres">
      <dgm:prSet presAssocID="{A971650B-B24D-F345-BFEF-56FFAA50F7B9}" presName="sp" presStyleCnt="0"/>
      <dgm:spPr/>
    </dgm:pt>
    <dgm:pt modelId="{C9FA227A-2E3E-034A-B94C-C4806CC772F6}" type="pres">
      <dgm:prSet presAssocID="{20B4212F-3F3E-4C4C-B6D1-D4EB7990C00B}" presName="arrowAndChildren" presStyleCnt="0"/>
      <dgm:spPr/>
    </dgm:pt>
    <dgm:pt modelId="{E33EB2E6-63F5-4A40-B4FE-8E85164C7EDF}" type="pres">
      <dgm:prSet presAssocID="{20B4212F-3F3E-4C4C-B6D1-D4EB7990C00B}" presName="parentTextArrow" presStyleLbl="node1" presStyleIdx="4" presStyleCnt="6"/>
      <dgm:spPr/>
    </dgm:pt>
    <dgm:pt modelId="{30088495-1B51-7747-AFF7-1B357531BE25}" type="pres">
      <dgm:prSet presAssocID="{62AA64C9-DDBB-004F-80C7-00C98FF2F7BF}" presName="sp" presStyleCnt="0"/>
      <dgm:spPr/>
    </dgm:pt>
    <dgm:pt modelId="{357DC476-2438-464D-9594-2F9F50E3AE8F}" type="pres">
      <dgm:prSet presAssocID="{E219E1E3-DF95-7B46-8206-EE506ABEC9EB}" presName="arrowAndChildren" presStyleCnt="0"/>
      <dgm:spPr/>
    </dgm:pt>
    <dgm:pt modelId="{476F936C-7772-2C4F-8ED1-0E5F5944CC35}" type="pres">
      <dgm:prSet presAssocID="{E219E1E3-DF95-7B46-8206-EE506ABEC9EB}" presName="parentTextArrow" presStyleLbl="node1" presStyleIdx="5" presStyleCnt="6" custLinFactX="-3386" custLinFactY="-291120" custLinFactNeighborX="-100000" custLinFactNeighborY="-300000"/>
      <dgm:spPr/>
    </dgm:pt>
  </dgm:ptLst>
  <dgm:cxnLst>
    <dgm:cxn modelId="{B22CD212-7701-AE45-ACF5-70518C21E72C}" type="presOf" srcId="{E219E1E3-DF95-7B46-8206-EE506ABEC9EB}" destId="{476F936C-7772-2C4F-8ED1-0E5F5944CC35}" srcOrd="0" destOrd="0" presId="urn:microsoft.com/office/officeart/2005/8/layout/process4"/>
    <dgm:cxn modelId="{5C0FD824-A349-DD4F-8EA1-3A792AA3DDD5}" type="presOf" srcId="{1B3E9EE6-0B24-B044-A55C-4ED8CEA655A4}" destId="{2FBC947A-04BE-9845-90DC-284CC4082D3F}" srcOrd="0" destOrd="0" presId="urn:microsoft.com/office/officeart/2005/8/layout/process4"/>
    <dgm:cxn modelId="{CC59A16E-A1D2-4149-A56A-4D32D3907B21}" type="presOf" srcId="{FE30D5BB-AAD6-404F-B296-AE0D4463742B}" destId="{9BC976CF-2E7E-4678-A5AD-E07400498A22}" srcOrd="0" destOrd="0" presId="urn:microsoft.com/office/officeart/2005/8/layout/process4"/>
    <dgm:cxn modelId="{CFD1A88D-BC0B-A44C-8E4A-954450877EE2}" type="presOf" srcId="{48B6923E-83E5-0F41-A562-D7E29333259F}" destId="{6F305602-562F-4BE8-9342-5B245A7E292D}" srcOrd="0" destOrd="0" presId="urn:microsoft.com/office/officeart/2005/8/layout/process4"/>
    <dgm:cxn modelId="{C6A807A1-27D9-B347-BE42-A61A5C2BB7E7}" type="presOf" srcId="{ADAE0682-C0CE-6A4F-91A5-90963CB93A17}" destId="{3FBD7961-4668-014F-A089-D19904BBDCB5}" srcOrd="0" destOrd="0" presId="urn:microsoft.com/office/officeart/2005/8/layout/process4"/>
    <dgm:cxn modelId="{48C842BB-BCC3-2346-A46E-6CA33FF3BB33}" srcId="{ADAE0682-C0CE-6A4F-91A5-90963CB93A17}" destId="{897A7534-8CAD-E042-ABEC-477653B09C86}" srcOrd="2" destOrd="0" parTransId="{7F2AAB96-1D62-A04C-8FEC-E367CDD83153}" sibTransId="{923AAFB0-A641-4749-AFF5-253D910E0086}"/>
    <dgm:cxn modelId="{2EBE05C3-D3B6-6340-8A41-F75EE4FD5A46}" type="presOf" srcId="{897A7534-8CAD-E042-ABEC-477653B09C86}" destId="{E75DC511-C09C-0C4B-BF92-24CD1B8E6B8C}" srcOrd="0" destOrd="0" presId="urn:microsoft.com/office/officeart/2005/8/layout/process4"/>
    <dgm:cxn modelId="{33727ACA-7F09-FB47-A6C0-B16F8645BBBB}" type="presOf" srcId="{20B4212F-3F3E-4C4C-B6D1-D4EB7990C00B}" destId="{E33EB2E6-63F5-4A40-B4FE-8E85164C7EDF}" srcOrd="0" destOrd="0" presId="urn:microsoft.com/office/officeart/2005/8/layout/process4"/>
    <dgm:cxn modelId="{C6086DD5-32DB-6242-A218-1C821682C024}" srcId="{ADAE0682-C0CE-6A4F-91A5-90963CB93A17}" destId="{FE30D5BB-AAD6-404F-B296-AE0D4463742B}" srcOrd="5" destOrd="0" parTransId="{E20F54D4-71E3-4B2C-BFC2-B54998378C73}" sibTransId="{4DC66E99-4F99-4C81-BAEB-20918A78DDC7}"/>
    <dgm:cxn modelId="{6007B0D7-47FA-0C47-A99B-BCDEEBB0FF78}" srcId="{ADAE0682-C0CE-6A4F-91A5-90963CB93A17}" destId="{20B4212F-3F3E-4C4C-B6D1-D4EB7990C00B}" srcOrd="1" destOrd="0" parTransId="{6EDBCD81-D0B0-BC48-9460-C72E3EF354ED}" sibTransId="{A971650B-B24D-F345-BFEF-56FFAA50F7B9}"/>
    <dgm:cxn modelId="{062AABDA-7281-D24A-9A95-5F6AE527BC5C}" srcId="{ADAE0682-C0CE-6A4F-91A5-90963CB93A17}" destId="{E219E1E3-DF95-7B46-8206-EE506ABEC9EB}" srcOrd="0" destOrd="0" parTransId="{D5EDF695-7C75-754D-AD46-6C8B6E738FDE}" sibTransId="{62AA64C9-DDBB-004F-80C7-00C98FF2F7BF}"/>
    <dgm:cxn modelId="{2050BAE9-8BD5-664B-8EBF-B675514A3F59}" srcId="{ADAE0682-C0CE-6A4F-91A5-90963CB93A17}" destId="{1B3E9EE6-0B24-B044-A55C-4ED8CEA655A4}" srcOrd="3" destOrd="0" parTransId="{4BE9277E-494D-5C4B-8B93-9C75669BCF01}" sibTransId="{EC50D032-4206-B744-82C2-6BC8D38E5492}"/>
    <dgm:cxn modelId="{E31527F9-78EC-D241-ADBC-CFB80D260413}" srcId="{ADAE0682-C0CE-6A4F-91A5-90963CB93A17}" destId="{48B6923E-83E5-0F41-A562-D7E29333259F}" srcOrd="4" destOrd="0" parTransId="{81585D03-3F42-8A4D-A93B-190C9790BC8E}" sibTransId="{41BAD8FF-3F23-AF47-9052-694D0608A68A}"/>
    <dgm:cxn modelId="{4E037C3A-2D77-0E48-8C61-456FBD64B5F2}" type="presParOf" srcId="{3FBD7961-4668-014F-A089-D19904BBDCB5}" destId="{94F1B1DF-2A33-4EB9-A027-98D6926D0412}" srcOrd="0" destOrd="0" presId="urn:microsoft.com/office/officeart/2005/8/layout/process4"/>
    <dgm:cxn modelId="{DCC5445A-CF6D-B84F-BAD0-E358B9187ADF}" type="presParOf" srcId="{94F1B1DF-2A33-4EB9-A027-98D6926D0412}" destId="{9BC976CF-2E7E-4678-A5AD-E07400498A22}" srcOrd="0" destOrd="0" presId="urn:microsoft.com/office/officeart/2005/8/layout/process4"/>
    <dgm:cxn modelId="{0F25A6C8-6360-5441-8DC9-0C798481CF25}" type="presParOf" srcId="{3FBD7961-4668-014F-A089-D19904BBDCB5}" destId="{A310A595-78D9-44D6-BB95-87EDDFF5EAF2}" srcOrd="1" destOrd="0" presId="urn:microsoft.com/office/officeart/2005/8/layout/process4"/>
    <dgm:cxn modelId="{9FC82030-4E7B-594C-8452-1074B68AA6D9}" type="presParOf" srcId="{3FBD7961-4668-014F-A089-D19904BBDCB5}" destId="{8D599BFF-EA75-4077-B542-8545E3D7B978}" srcOrd="2" destOrd="0" presId="urn:microsoft.com/office/officeart/2005/8/layout/process4"/>
    <dgm:cxn modelId="{61D16B93-954D-B245-8DBB-1C8BC66FE4C4}" type="presParOf" srcId="{8D599BFF-EA75-4077-B542-8545E3D7B978}" destId="{6F305602-562F-4BE8-9342-5B245A7E292D}" srcOrd="0" destOrd="0" presId="urn:microsoft.com/office/officeart/2005/8/layout/process4"/>
    <dgm:cxn modelId="{B59EB6E5-C90B-A34C-B939-62FDA71579CF}" type="presParOf" srcId="{3FBD7961-4668-014F-A089-D19904BBDCB5}" destId="{0A1D5D01-E44A-4B42-A304-FFBD4CD66467}" srcOrd="3" destOrd="0" presId="urn:microsoft.com/office/officeart/2005/8/layout/process4"/>
    <dgm:cxn modelId="{E2565AF2-145A-F042-BF73-068720CC1E33}" type="presParOf" srcId="{3FBD7961-4668-014F-A089-D19904BBDCB5}" destId="{CE91B09A-A2FF-2B49-A408-65FC0C002143}" srcOrd="4" destOrd="0" presId="urn:microsoft.com/office/officeart/2005/8/layout/process4"/>
    <dgm:cxn modelId="{91EF142B-1D5D-CB41-A6BF-4AF2D58F4CE0}" type="presParOf" srcId="{CE91B09A-A2FF-2B49-A408-65FC0C002143}" destId="{2FBC947A-04BE-9845-90DC-284CC4082D3F}" srcOrd="0" destOrd="0" presId="urn:microsoft.com/office/officeart/2005/8/layout/process4"/>
    <dgm:cxn modelId="{856B35F1-2834-5443-BD37-4A215EDA116E}" type="presParOf" srcId="{3FBD7961-4668-014F-A089-D19904BBDCB5}" destId="{9F14A0AF-3581-6448-B8A8-BBCF7969CDB4}" srcOrd="5" destOrd="0" presId="urn:microsoft.com/office/officeart/2005/8/layout/process4"/>
    <dgm:cxn modelId="{2C0FC272-17AE-1B42-B1CE-C32291382B18}" type="presParOf" srcId="{3FBD7961-4668-014F-A089-D19904BBDCB5}" destId="{1860EA67-644D-D94A-9A3A-5A90A39D400B}" srcOrd="6" destOrd="0" presId="urn:microsoft.com/office/officeart/2005/8/layout/process4"/>
    <dgm:cxn modelId="{A21381B8-54C4-B744-AB37-21C434AC85B3}" type="presParOf" srcId="{1860EA67-644D-D94A-9A3A-5A90A39D400B}" destId="{E75DC511-C09C-0C4B-BF92-24CD1B8E6B8C}" srcOrd="0" destOrd="0" presId="urn:microsoft.com/office/officeart/2005/8/layout/process4"/>
    <dgm:cxn modelId="{D5AF0557-5AFA-8741-A31C-1AAC15976FBF}" type="presParOf" srcId="{3FBD7961-4668-014F-A089-D19904BBDCB5}" destId="{B755F2EC-6AAD-C145-93E1-2A5D54B22AD2}" srcOrd="7" destOrd="0" presId="urn:microsoft.com/office/officeart/2005/8/layout/process4"/>
    <dgm:cxn modelId="{C33ABA11-B4D1-394C-A4A2-40559F2DF818}" type="presParOf" srcId="{3FBD7961-4668-014F-A089-D19904BBDCB5}" destId="{C9FA227A-2E3E-034A-B94C-C4806CC772F6}" srcOrd="8" destOrd="0" presId="urn:microsoft.com/office/officeart/2005/8/layout/process4"/>
    <dgm:cxn modelId="{F32E7DE4-AD20-D840-9CEA-3C15AE045F72}" type="presParOf" srcId="{C9FA227A-2E3E-034A-B94C-C4806CC772F6}" destId="{E33EB2E6-63F5-4A40-B4FE-8E85164C7EDF}" srcOrd="0" destOrd="0" presId="urn:microsoft.com/office/officeart/2005/8/layout/process4"/>
    <dgm:cxn modelId="{DF844C12-53B6-D247-9848-A46D7AAD0EBD}" type="presParOf" srcId="{3FBD7961-4668-014F-A089-D19904BBDCB5}" destId="{30088495-1B51-7747-AFF7-1B357531BE25}" srcOrd="9" destOrd="0" presId="urn:microsoft.com/office/officeart/2005/8/layout/process4"/>
    <dgm:cxn modelId="{569E5646-074F-B545-9969-A9F71AFB811B}" type="presParOf" srcId="{3FBD7961-4668-014F-A089-D19904BBDCB5}" destId="{357DC476-2438-464D-9594-2F9F50E3AE8F}" srcOrd="10" destOrd="0" presId="urn:microsoft.com/office/officeart/2005/8/layout/process4"/>
    <dgm:cxn modelId="{4354CB93-0854-5E4E-B9FA-B8CC8545B8B9}" type="presParOf" srcId="{357DC476-2438-464D-9594-2F9F50E3AE8F}" destId="{476F936C-7772-2C4F-8ED1-0E5F5944CC35}" srcOrd="0" destOrd="0" presId="urn:microsoft.com/office/officeart/2005/8/layout/process4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C976CF-2E7E-4678-A5AD-E07400498A22}">
      <dsp:nvSpPr>
        <dsp:cNvPr id="0" name=""/>
        <dsp:cNvSpPr/>
      </dsp:nvSpPr>
      <dsp:spPr>
        <a:xfrm>
          <a:off x="0" y="3237067"/>
          <a:ext cx="4563688" cy="424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Arial"/>
            </a:rPr>
            <a:t>Interpret scenario / season / spatial / Manchester-focused patterns</a:t>
          </a:r>
        </a:p>
      </dsp:txBody>
      <dsp:txXfrm>
        <a:off x="0" y="3237067"/>
        <a:ext cx="4563688" cy="424863"/>
      </dsp:txXfrm>
    </dsp:sp>
    <dsp:sp modelId="{6F305602-562F-4BE8-9342-5B245A7E292D}">
      <dsp:nvSpPr>
        <dsp:cNvPr id="0" name=""/>
        <dsp:cNvSpPr/>
      </dsp:nvSpPr>
      <dsp:spPr>
        <a:xfrm rot="10800000">
          <a:off x="0" y="2590000"/>
          <a:ext cx="4563688" cy="65343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>
              <a:latin typeface="Arial"/>
            </a:rPr>
            <a:t>Evaluate on post-2050 holdout</a:t>
          </a:r>
          <a:endParaRPr lang="en-GB" sz="1300" kern="1200" dirty="0"/>
        </a:p>
      </dsp:txBody>
      <dsp:txXfrm rot="10800000">
        <a:off x="0" y="2590000"/>
        <a:ext cx="4563688" cy="424585"/>
      </dsp:txXfrm>
    </dsp:sp>
    <dsp:sp modelId="{2FBC947A-04BE-9845-90DC-284CC4082D3F}">
      <dsp:nvSpPr>
        <dsp:cNvPr id="0" name=""/>
        <dsp:cNvSpPr/>
      </dsp:nvSpPr>
      <dsp:spPr>
        <a:xfrm rot="10800000">
          <a:off x="0" y="1942933"/>
          <a:ext cx="4563688" cy="65343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>
              <a:latin typeface="Arial"/>
            </a:rPr>
            <a:t>Fit final model on all pre-2050 data</a:t>
          </a:r>
          <a:endParaRPr lang="en-GB" sz="1300" kern="1200" dirty="0"/>
        </a:p>
      </dsp:txBody>
      <dsp:txXfrm rot="10800000">
        <a:off x="0" y="1942933"/>
        <a:ext cx="4563688" cy="424585"/>
      </dsp:txXfrm>
    </dsp:sp>
    <dsp:sp modelId="{E75DC511-C09C-0C4B-BF92-24CD1B8E6B8C}">
      <dsp:nvSpPr>
        <dsp:cNvPr id="0" name=""/>
        <dsp:cNvSpPr/>
      </dsp:nvSpPr>
      <dsp:spPr>
        <a:xfrm rot="10800000">
          <a:off x="0" y="1295866"/>
          <a:ext cx="4563688" cy="65343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>
              <a:latin typeface="Arial"/>
            </a:rPr>
            <a:t>Validate models on pre-2050 folds</a:t>
          </a:r>
          <a:endParaRPr lang="en-GB" kern="1200"/>
        </a:p>
      </dsp:txBody>
      <dsp:txXfrm rot="10800000">
        <a:off x="0" y="1295866"/>
        <a:ext cx="4563688" cy="424585"/>
      </dsp:txXfrm>
    </dsp:sp>
    <dsp:sp modelId="{E33EB2E6-63F5-4A40-B4FE-8E85164C7EDF}">
      <dsp:nvSpPr>
        <dsp:cNvPr id="0" name=""/>
        <dsp:cNvSpPr/>
      </dsp:nvSpPr>
      <dsp:spPr>
        <a:xfrm rot="10800000">
          <a:off x="0" y="648799"/>
          <a:ext cx="4563688" cy="65343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Preprocessing / monthly aggregation</a:t>
          </a:r>
        </a:p>
      </dsp:txBody>
      <dsp:txXfrm rot="10800000">
        <a:off x="0" y="648799"/>
        <a:ext cx="4563688" cy="424585"/>
      </dsp:txXfrm>
    </dsp:sp>
    <dsp:sp modelId="{476F936C-7772-2C4F-8ED1-0E5F5944CC35}">
      <dsp:nvSpPr>
        <dsp:cNvPr id="0" name=""/>
        <dsp:cNvSpPr/>
      </dsp:nvSpPr>
      <dsp:spPr>
        <a:xfrm rot="10800000">
          <a:off x="0" y="0"/>
          <a:ext cx="4563688" cy="65343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Raw </a:t>
          </a:r>
          <a:r>
            <a:rPr lang="en-GB" sz="1300" kern="1200" err="1"/>
            <a:t>NetCDF</a:t>
          </a:r>
          <a:r>
            <a:rPr lang="en-GB" sz="1300" kern="1200"/>
            <a:t> data</a:t>
          </a:r>
        </a:p>
      </dsp:txBody>
      <dsp:txXfrm rot="10800000">
        <a:off x="0" y="0"/>
        <a:ext cx="4563688" cy="424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9D220-9986-1645-993A-1DADAE0CC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78E09-E4CC-E646-A8E2-42364C70E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99CDA-54DB-42F8-BC0E-B5BB7444202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18C0E-EBC0-4363-B866-4FBE8A16C4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8C0E-EBC0-4363-B866-4FBE8A16C4C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8C0E-EBC0-4363-B866-4FBE8A16C4C0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altLang="zh-CN" dirty="0"/>
              <a:t>Structured to be reproducible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altLang="zh-CN" dirty="0"/>
              <a:t>Defined workflow and repo organised into clear folders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altLang="zh-CN" dirty="0"/>
              <a:t>Two main notebooks separate model development from post-2050 evaluation and analysis = clean workflow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8C0E-EBC0-4363-B866-4FBE8A16C4C0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Project workflow designed to be reproducible from the start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Dedicated environment which is clearly recorded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Used branches for different analysis strands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Before merging back to main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Separate tasks could be worked on without breaking main project history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8C0E-EBC0-4363-B866-4FBE8A16C4C0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Main approach </a:t>
            </a:r>
            <a:r>
              <a:rPr lang="en-GB" altLang="zh-CN" dirty="0" err="1"/>
              <a:t>xgboost</a:t>
            </a:r>
            <a:r>
              <a:rPr lang="en-GB" altLang="zh-CN" dirty="0"/>
              <a:t> – compared with linear and ridge baselines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Target = monthly mean of maximum ref height urban temp – avoid daily noise and see long-term trends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 err="1"/>
              <a:t>Xgboost</a:t>
            </a:r>
            <a:r>
              <a:rPr lang="en-GB" altLang="zh-CN" dirty="0"/>
              <a:t> since we thought climate relationships were likely to be non-linear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Expanding window cv = max. utilisation of data, prevents leakage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Key result is that </a:t>
            </a:r>
            <a:r>
              <a:rPr lang="en-GB" altLang="zh-CN" dirty="0" err="1"/>
              <a:t>xgboost</a:t>
            </a:r>
            <a:r>
              <a:rPr lang="en-GB" altLang="zh-CN" dirty="0"/>
              <a:t> clearly outperformed baselines, justifying its use in later analyses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8C0E-EBC0-4363-B866-4FBE8A16C4C0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We built the model from a mix of climate, time, and spatial 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Climate variables </a:t>
            </a:r>
            <a:r>
              <a:rPr lang="en-GB" altLang="zh-CN" dirty="0" err="1"/>
              <a:t>inc</a:t>
            </a:r>
            <a:r>
              <a:rPr lang="en-GB" altLang="zh-CN" dirty="0"/>
              <a:t> temp, radiation, precipitation, humidity, wind components, snowfall-related 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Derived wind speed from components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Added year and cyclical month encoding to capture seasonality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Lat/</a:t>
            </a:r>
            <a:r>
              <a:rPr lang="en-GB" altLang="zh-CN" dirty="0" err="1"/>
              <a:t>lon</a:t>
            </a:r>
            <a:r>
              <a:rPr lang="en-GB" altLang="zh-CN" dirty="0"/>
              <a:t>/scenario added so model could learn spatial and scenario-level differences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Daily values </a:t>
            </a:r>
            <a:r>
              <a:rPr lang="en-GB" altLang="zh-CN" dirty="0" err="1"/>
              <a:t>agg</a:t>
            </a:r>
            <a:r>
              <a:rPr lang="en-GB" altLang="zh-CN" dirty="0"/>
              <a:t> to monthly scale – means for temp/radiation, sums for precipitation/snowfall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Lagged features added to capture short-term temporal memory e.g. the previous month’s climate variables may play an important role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Feature set designed to represent a good variety of covariates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8C0E-EBC0-4363-B866-4FBE8A16C4C0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ea typeface="Calibri"/>
                <a:cs typeface="Calibri"/>
              </a:rPr>
              <a:t>Shows how </a:t>
            </a:r>
            <a:r>
              <a:rPr lang="en-GB" dirty="0" err="1">
                <a:ea typeface="Calibri"/>
                <a:cs typeface="Calibri"/>
              </a:rPr>
              <a:t>xgboost</a:t>
            </a:r>
            <a:r>
              <a:rPr lang="en-GB" dirty="0">
                <a:ea typeface="Calibri"/>
                <a:cs typeface="Calibri"/>
              </a:rPr>
              <a:t> performed in pre-2050 cv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ea typeface="Calibri"/>
                <a:cs typeface="Calibri"/>
              </a:rPr>
              <a:t>Consistent across scenarios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>
                <a:ea typeface="宋体"/>
                <a:cs typeface="Calibri"/>
              </a:rPr>
              <a:t>RMSE &gt; MAE indicates </a:t>
            </a:r>
            <a:r>
              <a:rPr lang="en-GB" altLang="zh-CN" dirty="0">
                <a:ea typeface="宋体"/>
              </a:rPr>
              <a:t>that the model likely makes a few larger errors within each scenario.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Similar gap suggests the overall error structure is stable across scenarios.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Sharper RMSE rise in harder months indicates not just higher average error but some larger misses or outliers in those periods.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This is only first step – then checked final model against true holdout post-2050 data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Before that holdout check, we also examined which predictors were most important for the model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altLang="zh-CN" dirty="0">
              <a:ea typeface="宋体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8C0E-EBC0-4363-B866-4FBE8A16C4C0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altLang="zh-CN" dirty="0"/>
              <a:t>The standout result is reference height temperature is by far the most dominant predictor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Previous month shortwave radiation also matters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Many other variables contribute much less – predictive skill concentrated in small no of 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Raised Q – how dependent is model skill on TREFHT?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8C0E-EBC0-4363-B866-4FBE8A16C4C0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Removed TREFHT and its lagged version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Performance worsened substantially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Biggest deterioration in spring/summer which were already hardest seasons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Confirms that TREFHT carries large share of predictive signal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zh-CN" dirty="0"/>
              <a:t>Finally, once selected, tested model on true post-2050 holdout period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218C0E-EBC0-4363-B866-4FBE8A16C4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889FB-8FF6-9E9A-D3D8-BC87E390A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CB6ECB-211E-6B7A-3E4E-366B0B295F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3507DD-4107-3E33-4C4E-F58CA33AB97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ea typeface="Calibri"/>
                <a:cs typeface="Calibri"/>
              </a:rPr>
              <a:t>This is the key bridge between model development and the climate interpretation slides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ea typeface="Calibri"/>
                <a:cs typeface="Calibri"/>
              </a:rPr>
              <a:t>Overall holdout performance remained strong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ea typeface="Calibri"/>
                <a:cs typeface="Calibri"/>
              </a:rPr>
              <a:t>Stable performance across scenarios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ea typeface="Calibri"/>
                <a:cs typeface="Calibri"/>
              </a:rPr>
              <a:t>Seasonal difficulty remained uneven but this is consistent with cv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ea typeface="Calibri"/>
                <a:cs typeface="Calibri"/>
              </a:rPr>
              <a:t>This gave confidence that post-2050 scenario and seasonal patterns are meaningful rather than unchecked extrapolation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ea typeface="Calibri"/>
                <a:cs typeface="Calibri"/>
              </a:rPr>
              <a:t>Hand over to now interpret those post-2050 prediction patterns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EAA2D5-7479-604C-82D1-1F3F9FA11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8C0E-EBC0-4363-B866-4FBE8A16C4C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74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8C0E-EBC0-4363-B866-4FBE8A16C4C0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8C0E-EBC0-4363-B866-4FBE8A16C4C0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8C0E-EBC0-4363-B866-4FBE8A16C4C0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GB" altLang="zh-CN" dirty="0"/>
              <a:t>Holdout errors are low overall and so this can be interpreted with confidence.</a:t>
            </a:r>
          </a:p>
          <a:p>
            <a:r>
              <a:rPr lang="en-GB" altLang="zh-CN" dirty="0"/>
              <a:t>However, if there were a part to treat with caution, it’s the warm-season since those errors are larger.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8C0E-EBC0-4363-B866-4FBE8A16C4C0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8C0E-EBC0-4363-B866-4FBE8A16C4C0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8C0E-EBC0-4363-B866-4FBE8A16C4C0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8C0E-EBC0-4363-B866-4FBE8A16C4C0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2" y="2132857"/>
            <a:ext cx="10363200" cy="1470025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3392" y="3933056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/>
          <p:cNvCxnSpPr>
            <a:cxnSpLocks noChangeShapeType="1"/>
          </p:cNvCxnSpPr>
          <p:nvPr userDrawn="1"/>
        </p:nvCxnSpPr>
        <p:spPr bwMode="auto">
          <a:xfrm>
            <a:off x="623392" y="3789040"/>
            <a:ext cx="9505056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 sz="3600"/>
            </a:lvl1pPr>
          </a:lstStyle>
          <a:p>
            <a:r>
              <a:rPr lang="en-US"/>
              <a:t>		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0EF0-FDF0-4D03-AC50-8BC10C2D8C4A}" type="datetime1">
              <a:rPr lang="en-GB" smtClean="0"/>
              <a:t>21/04/2026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B5FAE-E6BD-4BFD-865C-B9623812F52F}" type="datetime1">
              <a:rPr lang="en-GB" smtClean="0"/>
              <a:t>21/04/2026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DB76-7E42-44B4-8EB4-449560A284C5}" type="datetime1">
              <a:rPr lang="en-GB" smtClean="0"/>
              <a:t>21/04/2026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C2FB0-8BD2-4BBA-8178-4F4A4FB9BF89}" type="datetime1">
              <a:rPr lang="en-GB" smtClean="0"/>
              <a:t>21/04/2026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B59D0-C056-4946-829F-E8F2B2E5697E}" type="datetime1">
              <a:rPr lang="en-GB" smtClean="0"/>
              <a:t>21/04/2026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0E726-2538-47C2-9779-0D56E55D6D89}" type="datetime1">
              <a:rPr lang="en-GB" smtClean="0"/>
              <a:t>21/04/2026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7D396-5C50-45B6-85CC-579255B8BB3C}" type="datetime1">
              <a:rPr lang="en-GB" smtClean="0"/>
              <a:t>21/04/2026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6F0F7-FF06-4AB5-AD78-4E3F86AA7864}" type="datetime1">
              <a:rPr lang="en-GB" smtClean="0"/>
              <a:t>21/04/2026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640B-83F0-4950-B5B2-251FABC93E11}" type="datetime1">
              <a:rPr lang="en-GB" smtClean="0"/>
              <a:t>21/04/2026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8BA85-62EA-453D-9121-87A4ACE19859}" type="datetime1">
              <a:rPr lang="en-GB" smtClean="0"/>
              <a:t>21/04/2026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0" y="1844826"/>
            <a:ext cx="11521280" cy="1470025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rgbClr val="9A1D2B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0" y="3356992"/>
            <a:ext cx="1152128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361" y="6165304"/>
            <a:ext cx="2851911" cy="451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  <a:latin typeface="Segoe UI Light" panose="020B0502040204020203" pitchFamily="34" charset="0"/>
                <a:cs typeface="CordiaUPC" panose="020B0304020202020204" pitchFamily="34" charset="-34"/>
              </a:defRPr>
            </a:lvl1pPr>
          </a:lstStyle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1196752"/>
            <a:ext cx="11521280" cy="576064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rgbClr val="9A1D2B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916833"/>
            <a:ext cx="11521280" cy="4209332"/>
          </a:xfrm>
        </p:spPr>
        <p:txBody>
          <a:bodyPr/>
          <a:lstStyle>
            <a:lvl5pPr>
              <a:buFont typeface="Arial" panose="020B0604020202020204" pitchFamily="34" charset="0"/>
              <a:buChar char="­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361" y="6165304"/>
            <a:ext cx="2851911" cy="451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  <a:latin typeface="Segoe UI Light" panose="020B0502040204020203" pitchFamily="34" charset="0"/>
                <a:cs typeface="CordiaUPC" panose="020B0304020202020204" pitchFamily="34" charset="-34"/>
              </a:defRPr>
            </a:lvl1pPr>
          </a:lstStyle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196753"/>
            <a:ext cx="11521280" cy="4929411"/>
          </a:xfrm>
        </p:spPr>
        <p:txBody>
          <a:bodyPr/>
          <a:lstStyle>
            <a:lvl5pPr>
              <a:buFont typeface="Arial" panose="020B0604020202020204" pitchFamily="34" charset="0"/>
              <a:buChar char="­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361" y="6165304"/>
            <a:ext cx="2851911" cy="451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  <a:latin typeface="Segoe UI Light" panose="020B0502040204020203" pitchFamily="34" charset="0"/>
                <a:cs typeface="CordiaUPC" panose="020B0304020202020204" pitchFamily="34" charset="-34"/>
              </a:defRPr>
            </a:lvl1pPr>
          </a:lstStyle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12778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12778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361" y="6165304"/>
            <a:ext cx="2851911" cy="451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  <a:latin typeface="Segoe UI Light" panose="020B0502040204020203" pitchFamily="34" charset="0"/>
                <a:cs typeface="CordiaUPC" panose="020B0304020202020204" pitchFamily="34" charset="-34"/>
              </a:defRPr>
            </a:lvl1pPr>
          </a:lstStyle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268760"/>
            <a:ext cx="7315200" cy="4176464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445225"/>
            <a:ext cx="7315200" cy="65496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361" y="6165304"/>
            <a:ext cx="2851911" cy="451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  <a:latin typeface="Segoe UI Light" panose="020B0502040204020203" pitchFamily="34" charset="0"/>
                <a:cs typeface="CordiaUPC" panose="020B0304020202020204" pitchFamily="34" charset="-34"/>
              </a:defRPr>
            </a:lvl1pPr>
          </a:lstStyle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361" y="6165304"/>
            <a:ext cx="2851911" cy="451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  <a:latin typeface="Segoe UI Light" panose="020B0502040204020203" pitchFamily="34" charset="0"/>
                <a:cs typeface="CordiaUPC" panose="020B0304020202020204" pitchFamily="34" charset="-34"/>
              </a:defRPr>
            </a:lvl1pPr>
          </a:lstStyle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2" y="2132857"/>
            <a:ext cx="10363200" cy="1470025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3392" y="3933056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/>
          <p:cNvCxnSpPr>
            <a:cxnSpLocks noChangeShapeType="1"/>
          </p:cNvCxnSpPr>
          <p:nvPr userDrawn="1"/>
        </p:nvCxnSpPr>
        <p:spPr bwMode="auto">
          <a:xfrm>
            <a:off x="623392" y="3789040"/>
            <a:ext cx="9505056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 sz="3600"/>
            </a:lvl1pPr>
          </a:lstStyle>
          <a:p>
            <a:r>
              <a:rPr lang="en-US"/>
              <a:t>		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5.jpeg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79576" y="258212"/>
            <a:ext cx="93028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F0673-C28F-4BF7-AE33-0EB1E579660E}" type="datetime1">
              <a:rPr lang="en-GB" smtClean="0"/>
              <a:t>21/04/2026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8785" y="647297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TAB_col_white_background.eps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7800A2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3023659" y="253032"/>
            <a:ext cx="7200800" cy="826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196753"/>
            <a:ext cx="10972800" cy="4929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028" name="Picture 7" descr="logo-ltr.tif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34" y="312080"/>
            <a:ext cx="2592917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334434" y="1079500"/>
            <a:ext cx="115231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34434" y="6165850"/>
            <a:ext cx="115231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Picture 11" descr="address.gif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0" y="6237288"/>
            <a:ext cx="198966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479" y="233836"/>
            <a:ext cx="1339180" cy="745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7382" y="6165304"/>
            <a:ext cx="2851911" cy="451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  <a:latin typeface="Segoe UI Light" panose="020B0502040204020203" pitchFamily="34" charset="0"/>
                <a:cs typeface="CordiaUPC" panose="020B0304020202020204" pitchFamily="34" charset="-34"/>
              </a:defRPr>
            </a:lvl1pPr>
          </a:lstStyle>
          <a:p>
            <a:pPr>
              <a:defRPr/>
            </a:pPr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848" y="476677"/>
            <a:ext cx="2784000" cy="4535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117" y="253844"/>
            <a:ext cx="2400000" cy="654876"/>
          </a:xfrm>
          <a:prstGeom prst="rect">
            <a:avLst/>
          </a:prstGeom>
        </p:spPr>
      </p:pic>
      <p:pic>
        <p:nvPicPr>
          <p:cNvPr id="15" name="Picture 7" descr="logo-ltr.tif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62" y="324732"/>
            <a:ext cx="2592917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9867900" y="6237288"/>
            <a:ext cx="1989667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597" y="6207517"/>
            <a:ext cx="1344000" cy="4024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kern="1200">
          <a:solidFill>
            <a:srgbClr val="9A1D2B"/>
          </a:solidFill>
          <a:latin typeface="+mj-lt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BF2F37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79576" y="258212"/>
            <a:ext cx="93028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8785" y="647297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51FE3-7623-4EAD-B2F3-330393A65E7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TAB_col_white_background.eps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7800A2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3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2" Type="http://schemas.openxmlformats.org/officeDocument/2006/relationships/tags" Target="../tags/tag10.xml"/><Relationship Id="rId16" Type="http://schemas.openxmlformats.org/officeDocument/2006/relationships/notesSlide" Target="../notesSlides/notesSlide4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8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3" Type="http://schemas.openxmlformats.org/officeDocument/2006/relationships/tags" Target="../tags/tag27.xml"/><Relationship Id="rId21" Type="http://schemas.openxmlformats.org/officeDocument/2006/relationships/notesSlide" Target="../notesSlides/notesSlide6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7" Type="http://schemas.openxmlformats.org/officeDocument/2006/relationships/image" Target="../media/image11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6"/>
          <p:cNvSpPr>
            <a:spLocks noChangeArrowheads="1"/>
          </p:cNvSpPr>
          <p:nvPr/>
        </p:nvSpPr>
        <p:spPr bwMode="auto">
          <a:xfrm>
            <a:off x="575853" y="1693479"/>
            <a:ext cx="10493377" cy="142026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sz="2000" dirty="0">
                <a:solidFill>
                  <a:schemeClr val="accent2"/>
                </a:solidFill>
                <a:ea typeface="Geneva" charset="0"/>
                <a:cs typeface="Arial" panose="020B0604020202020204"/>
                <a:sym typeface="+mn-ea"/>
              </a:rPr>
              <a:t>How do projected post-2050 increases in </a:t>
            </a:r>
            <a:r>
              <a:rPr lang="en-GB" sz="2000" i="1" dirty="0">
                <a:solidFill>
                  <a:schemeClr val="accent2"/>
                </a:solidFill>
                <a:ea typeface="Geneva" charset="0"/>
                <a:cs typeface="Arial" panose="020B0604020202020204"/>
                <a:sym typeface="+mn-ea"/>
              </a:rPr>
              <a:t>monthly aggregated maximum near-surface air temperature </a:t>
            </a:r>
            <a:r>
              <a:rPr lang="en-GB" sz="2000" dirty="0">
                <a:solidFill>
                  <a:schemeClr val="accent2"/>
                </a:solidFill>
                <a:ea typeface="Geneva" charset="0"/>
                <a:cs typeface="Arial" panose="020B0604020202020204"/>
                <a:sym typeface="+mn-ea"/>
              </a:rPr>
              <a:t>(TREFMXAV_U) vary across scenario and season, and does Manchester follow the wider regional pattern?</a:t>
            </a:r>
            <a:endParaRPr lang="en-US" altLang="zh-CN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5853" y="4195025"/>
            <a:ext cx="755437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>
                <a:solidFill>
                  <a:schemeClr val="tx2"/>
                </a:solidFill>
              </a:rPr>
              <a:t>Group 2</a:t>
            </a:r>
          </a:p>
          <a:p>
            <a:endParaRPr lang="en-US" altLang="zh-CN" sz="2400">
              <a:solidFill>
                <a:schemeClr val="tx2"/>
              </a:solidFill>
            </a:endParaRPr>
          </a:p>
          <a:p>
            <a:r>
              <a:rPr lang="en-GB" altLang="zh-CN" sz="2400">
                <a:solidFill>
                  <a:schemeClr val="tx2"/>
                </a:solidFill>
              </a:rPr>
              <a:t>Members: Jacob Woodland, Yuhui Duan, Ruiqi Huang</a:t>
            </a:r>
          </a:p>
          <a:p>
            <a:endParaRPr lang="en-US" altLang="zh-CN" sz="2400">
              <a:solidFill>
                <a:schemeClr val="tx2"/>
              </a:solidFill>
            </a:endParaRPr>
          </a:p>
          <a:p>
            <a:r>
              <a:rPr lang="en-US" altLang="zh-CN" sz="2400">
                <a:solidFill>
                  <a:schemeClr val="tx2"/>
                </a:solidFill>
              </a:rPr>
              <a:t>Date: 22/4/2026</a:t>
            </a:r>
            <a:endParaRPr lang="en-GB" altLang="zh-CN" sz="2400">
              <a:solidFill>
                <a:schemeClr val="tx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5945" y="3253832"/>
            <a:ext cx="956818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dirty="0">
                <a:ea typeface="黑体"/>
                <a:sym typeface="+mn-ea"/>
              </a:rPr>
              <a:t>Which covariates appear most important for predicting TREFMXAV_U?</a:t>
            </a:r>
            <a:endParaRPr lang="zh-CN" altLang="en-US" dirty="0">
              <a:ea typeface="黑体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641DA7B3-23DB-AD01-B43B-333FEFAD7CE3}"/>
              </a:ext>
            </a:extLst>
          </p:cNvPr>
          <p:cNvSpPr txBox="1"/>
          <p:nvPr/>
        </p:nvSpPr>
        <p:spPr>
          <a:xfrm>
            <a:off x="575853" y="1377133"/>
            <a:ext cx="956818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u="sng" dirty="0">
                <a:ea typeface="黑体"/>
                <a:sym typeface="+mn-ea"/>
              </a:rPr>
              <a:t>Research Questions</a:t>
            </a:r>
            <a:endParaRPr lang="zh-CN" altLang="en-US" u="sng" dirty="0">
              <a:ea typeface="黑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线连接符 10"/>
          <p:cNvCxnSpPr/>
          <p:nvPr/>
        </p:nvCxnSpPr>
        <p:spPr>
          <a:xfrm>
            <a:off x="336069" y="1268914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279650" y="548640"/>
            <a:ext cx="9285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 Area</a:t>
            </a:r>
          </a:p>
        </p:txBody>
      </p:sp>
      <p:sp>
        <p:nvSpPr>
          <p:cNvPr id="101" name="椭圆 100"/>
          <p:cNvSpPr/>
          <p:nvPr>
            <p:custDataLst>
              <p:tags r:id="rId1"/>
            </p:custDataLst>
          </p:nvPr>
        </p:nvSpPr>
        <p:spPr>
          <a:xfrm>
            <a:off x="6483717" y="2977682"/>
            <a:ext cx="352927" cy="35292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>
                <a:solidFill>
                  <a:schemeClr val="bg1"/>
                </a:solidFill>
                <a:latin typeface="DIN2014-DEMIBOLD" panose="020B0504020202020204" pitchFamily="34" charset="0"/>
                <a:ea typeface="DIN2014-DEMIBOLD" panose="020B0504020202020204" pitchFamily="34" charset="0"/>
              </a:rPr>
              <a:t>1</a:t>
            </a:r>
          </a:p>
        </p:txBody>
      </p:sp>
      <p:sp>
        <p:nvSpPr>
          <p:cNvPr id="102" name="文本框 101"/>
          <p:cNvSpPr txBox="1"/>
          <p:nvPr>
            <p:custDataLst>
              <p:tags r:id="rId2"/>
            </p:custDataLst>
          </p:nvPr>
        </p:nvSpPr>
        <p:spPr>
          <a:xfrm>
            <a:off x="6916420" y="2856230"/>
            <a:ext cx="51041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TREFMXAV_U is sensitive to coastal air masses and wind patterns.</a:t>
            </a:r>
          </a:p>
        </p:txBody>
      </p:sp>
      <p:cxnSp>
        <p:nvCxnSpPr>
          <p:cNvPr id="136" name="直线连接符 135"/>
          <p:cNvCxnSpPr/>
          <p:nvPr>
            <p:custDataLst>
              <p:tags r:id="rId3"/>
            </p:custDataLst>
          </p:nvPr>
        </p:nvCxnSpPr>
        <p:spPr>
          <a:xfrm flipV="1">
            <a:off x="6660753" y="3841378"/>
            <a:ext cx="5440045" cy="1333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/>
          <p:cNvSpPr/>
          <p:nvPr>
            <p:custDataLst>
              <p:tags r:id="rId4"/>
            </p:custDataLst>
          </p:nvPr>
        </p:nvSpPr>
        <p:spPr>
          <a:xfrm>
            <a:off x="6483082" y="4401480"/>
            <a:ext cx="352927" cy="35292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>
                <a:solidFill>
                  <a:schemeClr val="bg1"/>
                </a:solidFill>
                <a:latin typeface="DIN2014-DEMIBOLD" panose="020B0504020202020204" pitchFamily="34" charset="0"/>
                <a:ea typeface="DIN2014-DEMIBOLD" panose="020B0504020202020204" pitchFamily="34" charset="0"/>
              </a:rPr>
              <a:t>2</a:t>
            </a: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6916420" y="3998595"/>
            <a:ext cx="518350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Urbanization amplifies baseline temperatures, so climate variables linked to UHI interact with global climate drivers in this region.</a:t>
            </a:r>
          </a:p>
        </p:txBody>
      </p:sp>
      <p:cxnSp>
        <p:nvCxnSpPr>
          <p:cNvPr id="5" name="直线连接符 135"/>
          <p:cNvCxnSpPr/>
          <p:nvPr>
            <p:custDataLst>
              <p:tags r:id="rId6"/>
            </p:custDataLst>
          </p:nvPr>
        </p:nvCxnSpPr>
        <p:spPr>
          <a:xfrm flipV="1">
            <a:off x="6628368" y="5353948"/>
            <a:ext cx="5440045" cy="1333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: 圆角 57"/>
          <p:cNvSpPr/>
          <p:nvPr/>
        </p:nvSpPr>
        <p:spPr>
          <a:xfrm>
            <a:off x="335280" y="2386965"/>
            <a:ext cx="5955665" cy="2964180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1980" y="2602865"/>
            <a:ext cx="5491480" cy="2644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Manchester (53.48°N, 2.24°W) is a major urban center in northwest England with a </a:t>
            </a:r>
            <a:r>
              <a:rPr lang="en-US" altLang="zh-CN"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maritime temperate climate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(influenced by the North Atlantic Oscillation, urban heat island (UHI) effects, and proximity to the Irish Sea).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796405" y="2021840"/>
            <a:ext cx="52235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unique geographic features mean:</a:t>
            </a:r>
          </a:p>
        </p:txBody>
      </p:sp>
      <p:grpSp>
        <p:nvGrpSpPr>
          <p:cNvPr id="3635" name="Google Shape;3635;p71"/>
          <p:cNvGrpSpPr/>
          <p:nvPr/>
        </p:nvGrpSpPr>
        <p:grpSpPr>
          <a:xfrm>
            <a:off x="121815" y="1960824"/>
            <a:ext cx="783828" cy="683164"/>
            <a:chOff x="6000100" y="3076250"/>
            <a:chExt cx="587871" cy="512373"/>
          </a:xfrm>
        </p:grpSpPr>
        <p:sp>
          <p:nvSpPr>
            <p:cNvPr id="3636" name="Google Shape;3636;p71"/>
            <p:cNvSpPr/>
            <p:nvPr/>
          </p:nvSpPr>
          <p:spPr>
            <a:xfrm>
              <a:off x="6000100" y="3076250"/>
              <a:ext cx="587871" cy="512373"/>
            </a:xfrm>
            <a:custGeom>
              <a:avLst/>
              <a:gdLst/>
              <a:ahLst/>
              <a:cxnLst/>
              <a:rect l="l" t="t" r="r" b="b"/>
              <a:pathLst>
                <a:path w="101884" h="88838" extrusionOk="0">
                  <a:moveTo>
                    <a:pt x="50272" y="0"/>
                  </a:moveTo>
                  <a:cubicBezTo>
                    <a:pt x="31897" y="0"/>
                    <a:pt x="14791" y="11087"/>
                    <a:pt x="8322" y="29000"/>
                  </a:cubicBezTo>
                  <a:cubicBezTo>
                    <a:pt x="1" y="51995"/>
                    <a:pt x="12332" y="77546"/>
                    <a:pt x="35878" y="86063"/>
                  </a:cubicBezTo>
                  <a:cubicBezTo>
                    <a:pt x="41078" y="87945"/>
                    <a:pt x="46391" y="88838"/>
                    <a:pt x="51602" y="88838"/>
                  </a:cubicBezTo>
                  <a:cubicBezTo>
                    <a:pt x="69970" y="88838"/>
                    <a:pt x="87079" y="77751"/>
                    <a:pt x="93562" y="59838"/>
                  </a:cubicBezTo>
                  <a:cubicBezTo>
                    <a:pt x="101883" y="36843"/>
                    <a:pt x="89534" y="11292"/>
                    <a:pt x="66006" y="2775"/>
                  </a:cubicBezTo>
                  <a:cubicBezTo>
                    <a:pt x="60802" y="893"/>
                    <a:pt x="55486" y="0"/>
                    <a:pt x="5027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3637" name="Google Shape;3637;p71"/>
            <p:cNvGrpSpPr/>
            <p:nvPr/>
          </p:nvGrpSpPr>
          <p:grpSpPr>
            <a:xfrm>
              <a:off x="6031360" y="3076713"/>
              <a:ext cx="539107" cy="480965"/>
              <a:chOff x="6031360" y="3076713"/>
              <a:chExt cx="539107" cy="480965"/>
            </a:xfrm>
          </p:grpSpPr>
          <p:sp>
            <p:nvSpPr>
              <p:cNvPr id="3638" name="Google Shape;3638;p71"/>
              <p:cNvSpPr/>
              <p:nvPr/>
            </p:nvSpPr>
            <p:spPr>
              <a:xfrm>
                <a:off x="6160232" y="3107767"/>
                <a:ext cx="410235" cy="449911"/>
              </a:xfrm>
              <a:custGeom>
                <a:avLst/>
                <a:gdLst/>
                <a:ahLst/>
                <a:cxnLst/>
                <a:rect l="l" t="t" r="r" b="b"/>
                <a:pathLst>
                  <a:path w="71098" h="78008" extrusionOk="0">
                    <a:moveTo>
                      <a:pt x="36108" y="3531"/>
                    </a:moveTo>
                    <a:lnTo>
                      <a:pt x="36835" y="4631"/>
                    </a:lnTo>
                    <a:cubicBezTo>
                      <a:pt x="36551" y="4826"/>
                      <a:pt x="36268" y="5039"/>
                      <a:pt x="35948" y="5217"/>
                    </a:cubicBezTo>
                    <a:cubicBezTo>
                      <a:pt x="35043" y="5749"/>
                      <a:pt x="34635" y="6459"/>
                      <a:pt x="35132" y="7488"/>
                    </a:cubicBezTo>
                    <a:cubicBezTo>
                      <a:pt x="35486" y="8208"/>
                      <a:pt x="35984" y="8561"/>
                      <a:pt x="36635" y="8561"/>
                    </a:cubicBezTo>
                    <a:cubicBezTo>
                      <a:pt x="36866" y="8561"/>
                      <a:pt x="37116" y="8517"/>
                      <a:pt x="37385" y="8428"/>
                    </a:cubicBezTo>
                    <a:cubicBezTo>
                      <a:pt x="37776" y="8304"/>
                      <a:pt x="38184" y="8198"/>
                      <a:pt x="38752" y="8056"/>
                    </a:cubicBezTo>
                    <a:lnTo>
                      <a:pt x="38752" y="8056"/>
                    </a:lnTo>
                    <a:cubicBezTo>
                      <a:pt x="38412" y="9075"/>
                      <a:pt x="37909" y="9331"/>
                      <a:pt x="37373" y="9331"/>
                    </a:cubicBezTo>
                    <a:cubicBezTo>
                      <a:pt x="36833" y="9331"/>
                      <a:pt x="36258" y="9072"/>
                      <a:pt x="35779" y="9072"/>
                    </a:cubicBezTo>
                    <a:cubicBezTo>
                      <a:pt x="35690" y="9072"/>
                      <a:pt x="35604" y="9081"/>
                      <a:pt x="35522" y="9102"/>
                    </a:cubicBezTo>
                    <a:lnTo>
                      <a:pt x="33162" y="11977"/>
                    </a:lnTo>
                    <a:lnTo>
                      <a:pt x="28585" y="11037"/>
                    </a:lnTo>
                    <a:lnTo>
                      <a:pt x="31832" y="10238"/>
                    </a:lnTo>
                    <a:cubicBezTo>
                      <a:pt x="32825" y="8162"/>
                      <a:pt x="33127" y="7062"/>
                      <a:pt x="32914" y="6228"/>
                    </a:cubicBezTo>
                    <a:lnTo>
                      <a:pt x="36108" y="3531"/>
                    </a:lnTo>
                    <a:close/>
                    <a:moveTo>
                      <a:pt x="38947" y="36232"/>
                    </a:moveTo>
                    <a:lnTo>
                      <a:pt x="38947" y="36232"/>
                    </a:lnTo>
                    <a:cubicBezTo>
                      <a:pt x="40402" y="36374"/>
                      <a:pt x="40561" y="37705"/>
                      <a:pt x="41253" y="38486"/>
                    </a:cubicBezTo>
                    <a:cubicBezTo>
                      <a:pt x="40278" y="40029"/>
                      <a:pt x="42194" y="41076"/>
                      <a:pt x="41963" y="42673"/>
                    </a:cubicBezTo>
                    <a:cubicBezTo>
                      <a:pt x="41786" y="43862"/>
                      <a:pt x="42833" y="45264"/>
                      <a:pt x="43241" y="46648"/>
                    </a:cubicBezTo>
                    <a:cubicBezTo>
                      <a:pt x="43560" y="47641"/>
                      <a:pt x="43507" y="48741"/>
                      <a:pt x="43046" y="49699"/>
                    </a:cubicBezTo>
                    <a:lnTo>
                      <a:pt x="40473" y="45760"/>
                    </a:lnTo>
                    <a:cubicBezTo>
                      <a:pt x="41449" y="42726"/>
                      <a:pt x="39160" y="39728"/>
                      <a:pt x="38947" y="36232"/>
                    </a:cubicBezTo>
                    <a:close/>
                    <a:moveTo>
                      <a:pt x="36430" y="1"/>
                    </a:moveTo>
                    <a:cubicBezTo>
                      <a:pt x="35873" y="1"/>
                      <a:pt x="35316" y="87"/>
                      <a:pt x="34759" y="284"/>
                    </a:cubicBezTo>
                    <a:cubicBezTo>
                      <a:pt x="33659" y="657"/>
                      <a:pt x="32346" y="870"/>
                      <a:pt x="31885" y="2005"/>
                    </a:cubicBezTo>
                    <a:cubicBezTo>
                      <a:pt x="31264" y="3567"/>
                      <a:pt x="29809" y="3549"/>
                      <a:pt x="28656" y="3992"/>
                    </a:cubicBezTo>
                    <a:cubicBezTo>
                      <a:pt x="26331" y="4826"/>
                      <a:pt x="26012" y="5465"/>
                      <a:pt x="27006" y="7683"/>
                    </a:cubicBezTo>
                    <a:lnTo>
                      <a:pt x="29791" y="7736"/>
                    </a:lnTo>
                    <a:lnTo>
                      <a:pt x="29046" y="10327"/>
                    </a:lnTo>
                    <a:lnTo>
                      <a:pt x="28425" y="7736"/>
                    </a:lnTo>
                    <a:lnTo>
                      <a:pt x="26633" y="11143"/>
                    </a:lnTo>
                    <a:cubicBezTo>
                      <a:pt x="25746" y="11374"/>
                      <a:pt x="24734" y="11391"/>
                      <a:pt x="24113" y="11870"/>
                    </a:cubicBezTo>
                    <a:cubicBezTo>
                      <a:pt x="22960" y="12775"/>
                      <a:pt x="21328" y="12509"/>
                      <a:pt x="20352" y="13680"/>
                    </a:cubicBezTo>
                    <a:lnTo>
                      <a:pt x="19695" y="12900"/>
                    </a:lnTo>
                    <a:lnTo>
                      <a:pt x="18808" y="14106"/>
                    </a:lnTo>
                    <a:cubicBezTo>
                      <a:pt x="18523" y="13971"/>
                      <a:pt x="18518" y="13452"/>
                      <a:pt x="18160" y="13452"/>
                    </a:cubicBezTo>
                    <a:cubicBezTo>
                      <a:pt x="18049" y="13452"/>
                      <a:pt x="17905" y="13501"/>
                      <a:pt x="17708" y="13627"/>
                    </a:cubicBezTo>
                    <a:lnTo>
                      <a:pt x="18560" y="17193"/>
                    </a:lnTo>
                    <a:cubicBezTo>
                      <a:pt x="17972" y="17718"/>
                      <a:pt x="17385" y="18062"/>
                      <a:pt x="16823" y="18062"/>
                    </a:cubicBezTo>
                    <a:cubicBezTo>
                      <a:pt x="16435" y="18062"/>
                      <a:pt x="16059" y="17897"/>
                      <a:pt x="15703" y="17513"/>
                    </a:cubicBezTo>
                    <a:cubicBezTo>
                      <a:pt x="14869" y="16626"/>
                      <a:pt x="13929" y="16750"/>
                      <a:pt x="13112" y="16643"/>
                    </a:cubicBezTo>
                    <a:lnTo>
                      <a:pt x="11196" y="21381"/>
                    </a:lnTo>
                    <a:cubicBezTo>
                      <a:pt x="11922" y="22616"/>
                      <a:pt x="12753" y="22986"/>
                      <a:pt x="13632" y="22986"/>
                    </a:cubicBezTo>
                    <a:cubicBezTo>
                      <a:pt x="14835" y="22986"/>
                      <a:pt x="16130" y="22292"/>
                      <a:pt x="17371" y="22179"/>
                    </a:cubicBezTo>
                    <a:lnTo>
                      <a:pt x="17868" y="20618"/>
                    </a:lnTo>
                    <a:cubicBezTo>
                      <a:pt x="19961" y="20600"/>
                      <a:pt x="19961" y="20600"/>
                      <a:pt x="21594" y="18879"/>
                    </a:cubicBezTo>
                    <a:lnTo>
                      <a:pt x="22587" y="19784"/>
                    </a:lnTo>
                    <a:lnTo>
                      <a:pt x="24646" y="19181"/>
                    </a:lnTo>
                    <a:lnTo>
                      <a:pt x="28762" y="24788"/>
                    </a:lnTo>
                    <a:lnTo>
                      <a:pt x="24930" y="23971"/>
                    </a:lnTo>
                    <a:lnTo>
                      <a:pt x="24930" y="23971"/>
                    </a:lnTo>
                    <a:lnTo>
                      <a:pt x="26544" y="25746"/>
                    </a:lnTo>
                    <a:cubicBezTo>
                      <a:pt x="28177" y="25604"/>
                      <a:pt x="29507" y="24930"/>
                      <a:pt x="30182" y="23209"/>
                    </a:cubicBezTo>
                    <a:cubicBezTo>
                      <a:pt x="29738" y="22747"/>
                      <a:pt x="29365" y="22321"/>
                      <a:pt x="28957" y="21949"/>
                    </a:cubicBezTo>
                    <a:cubicBezTo>
                      <a:pt x="28017" y="21150"/>
                      <a:pt x="27165" y="20352"/>
                      <a:pt x="27502" y="18400"/>
                    </a:cubicBezTo>
                    <a:lnTo>
                      <a:pt x="27502" y="18400"/>
                    </a:lnTo>
                    <a:cubicBezTo>
                      <a:pt x="28336" y="19678"/>
                      <a:pt x="28709" y="20902"/>
                      <a:pt x="29472" y="21239"/>
                    </a:cubicBezTo>
                    <a:cubicBezTo>
                      <a:pt x="30678" y="21771"/>
                      <a:pt x="30785" y="22641"/>
                      <a:pt x="30927" y="23617"/>
                    </a:cubicBezTo>
                    <a:cubicBezTo>
                      <a:pt x="31016" y="24255"/>
                      <a:pt x="30874" y="24965"/>
                      <a:pt x="31087" y="25551"/>
                    </a:cubicBezTo>
                    <a:cubicBezTo>
                      <a:pt x="31282" y="26083"/>
                      <a:pt x="31832" y="26473"/>
                      <a:pt x="32187" y="26952"/>
                    </a:cubicBezTo>
                    <a:cubicBezTo>
                      <a:pt x="32275" y="27077"/>
                      <a:pt x="32329" y="27236"/>
                      <a:pt x="32329" y="27396"/>
                    </a:cubicBezTo>
                    <a:lnTo>
                      <a:pt x="34369" y="26225"/>
                    </a:lnTo>
                    <a:cubicBezTo>
                      <a:pt x="33860" y="25322"/>
                      <a:pt x="33670" y="24632"/>
                      <a:pt x="34867" y="24632"/>
                    </a:cubicBezTo>
                    <a:cubicBezTo>
                      <a:pt x="34964" y="24632"/>
                      <a:pt x="35070" y="24636"/>
                      <a:pt x="35185" y="24646"/>
                    </a:cubicBezTo>
                    <a:cubicBezTo>
                      <a:pt x="35416" y="25462"/>
                      <a:pt x="35718" y="26189"/>
                      <a:pt x="35753" y="26917"/>
                    </a:cubicBezTo>
                    <a:cubicBezTo>
                      <a:pt x="35859" y="28390"/>
                      <a:pt x="37013" y="29011"/>
                      <a:pt x="38024" y="29224"/>
                    </a:cubicBezTo>
                    <a:cubicBezTo>
                      <a:pt x="38126" y="29247"/>
                      <a:pt x="38227" y="29254"/>
                      <a:pt x="38330" y="29254"/>
                    </a:cubicBezTo>
                    <a:cubicBezTo>
                      <a:pt x="38476" y="29254"/>
                      <a:pt x="38623" y="29240"/>
                      <a:pt x="38773" y="29240"/>
                    </a:cubicBezTo>
                    <a:cubicBezTo>
                      <a:pt x="39073" y="29240"/>
                      <a:pt x="39384" y="29296"/>
                      <a:pt x="39710" y="29632"/>
                    </a:cubicBezTo>
                    <a:cubicBezTo>
                      <a:pt x="39812" y="29734"/>
                      <a:pt x="39986" y="29769"/>
                      <a:pt x="40202" y="29769"/>
                    </a:cubicBezTo>
                    <a:cubicBezTo>
                      <a:pt x="40620" y="29769"/>
                      <a:pt x="41193" y="29637"/>
                      <a:pt x="41697" y="29614"/>
                    </a:cubicBezTo>
                    <a:lnTo>
                      <a:pt x="41697" y="29614"/>
                    </a:lnTo>
                    <a:cubicBezTo>
                      <a:pt x="41182" y="31175"/>
                      <a:pt x="41608" y="32825"/>
                      <a:pt x="39657" y="33517"/>
                    </a:cubicBezTo>
                    <a:cubicBezTo>
                      <a:pt x="37368" y="32683"/>
                      <a:pt x="34369" y="33198"/>
                      <a:pt x="32488" y="30608"/>
                    </a:cubicBezTo>
                    <a:cubicBezTo>
                      <a:pt x="32240" y="30253"/>
                      <a:pt x="31388" y="30306"/>
                      <a:pt x="30820" y="30217"/>
                    </a:cubicBezTo>
                    <a:cubicBezTo>
                      <a:pt x="30607" y="30217"/>
                      <a:pt x="30395" y="30270"/>
                      <a:pt x="30182" y="30324"/>
                    </a:cubicBezTo>
                    <a:lnTo>
                      <a:pt x="29507" y="32151"/>
                    </a:lnTo>
                    <a:cubicBezTo>
                      <a:pt x="27875" y="31246"/>
                      <a:pt x="26686" y="29969"/>
                      <a:pt x="25373" y="29259"/>
                    </a:cubicBezTo>
                    <a:cubicBezTo>
                      <a:pt x="23918" y="28496"/>
                      <a:pt x="23794" y="27431"/>
                      <a:pt x="23794" y="26456"/>
                    </a:cubicBezTo>
                    <a:cubicBezTo>
                      <a:pt x="23808" y="24745"/>
                      <a:pt x="23906" y="24354"/>
                      <a:pt x="23055" y="24354"/>
                    </a:cubicBezTo>
                    <a:cubicBezTo>
                      <a:pt x="22802" y="24354"/>
                      <a:pt x="22466" y="24388"/>
                      <a:pt x="22020" y="24433"/>
                    </a:cubicBezTo>
                    <a:cubicBezTo>
                      <a:pt x="21712" y="24458"/>
                      <a:pt x="21377" y="24558"/>
                      <a:pt x="21074" y="24558"/>
                    </a:cubicBezTo>
                    <a:cubicBezTo>
                      <a:pt x="20958" y="24558"/>
                      <a:pt x="20846" y="24543"/>
                      <a:pt x="20742" y="24504"/>
                    </a:cubicBezTo>
                    <a:cubicBezTo>
                      <a:pt x="20157" y="24291"/>
                      <a:pt x="19678" y="23670"/>
                      <a:pt x="19092" y="23546"/>
                    </a:cubicBezTo>
                    <a:cubicBezTo>
                      <a:pt x="19019" y="23530"/>
                      <a:pt x="18944" y="23524"/>
                      <a:pt x="18868" y="23524"/>
                    </a:cubicBezTo>
                    <a:cubicBezTo>
                      <a:pt x="18388" y="23524"/>
                      <a:pt x="17849" y="23788"/>
                      <a:pt x="17363" y="23788"/>
                    </a:cubicBezTo>
                    <a:cubicBezTo>
                      <a:pt x="17305" y="23788"/>
                      <a:pt x="17249" y="23784"/>
                      <a:pt x="17193" y="23776"/>
                    </a:cubicBezTo>
                    <a:cubicBezTo>
                      <a:pt x="17025" y="23751"/>
                      <a:pt x="16855" y="23741"/>
                      <a:pt x="16686" y="23741"/>
                    </a:cubicBezTo>
                    <a:cubicBezTo>
                      <a:pt x="15885" y="23741"/>
                      <a:pt x="15077" y="23971"/>
                      <a:pt x="14280" y="23971"/>
                    </a:cubicBezTo>
                    <a:cubicBezTo>
                      <a:pt x="13809" y="23971"/>
                      <a:pt x="13342" y="23890"/>
                      <a:pt x="12882" y="23634"/>
                    </a:cubicBezTo>
                    <a:cubicBezTo>
                      <a:pt x="12688" y="23891"/>
                      <a:pt x="12389" y="23939"/>
                      <a:pt x="12067" y="23939"/>
                    </a:cubicBezTo>
                    <a:cubicBezTo>
                      <a:pt x="11878" y="23939"/>
                      <a:pt x="11682" y="23923"/>
                      <a:pt x="11494" y="23923"/>
                    </a:cubicBezTo>
                    <a:cubicBezTo>
                      <a:pt x="11005" y="23923"/>
                      <a:pt x="10573" y="24032"/>
                      <a:pt x="10486" y="24823"/>
                    </a:cubicBezTo>
                    <a:cubicBezTo>
                      <a:pt x="8943" y="25125"/>
                      <a:pt x="8925" y="26935"/>
                      <a:pt x="7594" y="27644"/>
                    </a:cubicBezTo>
                    <a:cubicBezTo>
                      <a:pt x="6636" y="28159"/>
                      <a:pt x="5270" y="28461"/>
                      <a:pt x="4720" y="29365"/>
                    </a:cubicBezTo>
                    <a:cubicBezTo>
                      <a:pt x="3992" y="30554"/>
                      <a:pt x="2733" y="30874"/>
                      <a:pt x="1899" y="31779"/>
                    </a:cubicBezTo>
                    <a:cubicBezTo>
                      <a:pt x="1420" y="32311"/>
                      <a:pt x="1100" y="33021"/>
                      <a:pt x="692" y="33695"/>
                    </a:cubicBezTo>
                    <a:lnTo>
                      <a:pt x="2058" y="34529"/>
                    </a:lnTo>
                    <a:lnTo>
                      <a:pt x="0" y="40331"/>
                    </a:lnTo>
                    <a:cubicBezTo>
                      <a:pt x="568" y="41839"/>
                      <a:pt x="1828" y="42460"/>
                      <a:pt x="1579" y="43844"/>
                    </a:cubicBezTo>
                    <a:cubicBezTo>
                      <a:pt x="1526" y="44093"/>
                      <a:pt x="4542" y="47659"/>
                      <a:pt x="4720" y="47677"/>
                    </a:cubicBezTo>
                    <a:cubicBezTo>
                      <a:pt x="6407" y="47823"/>
                      <a:pt x="7973" y="48589"/>
                      <a:pt x="9698" y="48589"/>
                    </a:cubicBezTo>
                    <a:cubicBezTo>
                      <a:pt x="10059" y="48589"/>
                      <a:pt x="10428" y="48555"/>
                      <a:pt x="10806" y="48475"/>
                    </a:cubicBezTo>
                    <a:cubicBezTo>
                      <a:pt x="10987" y="48438"/>
                      <a:pt x="11194" y="48420"/>
                      <a:pt x="11413" y="48420"/>
                    </a:cubicBezTo>
                    <a:cubicBezTo>
                      <a:pt x="12352" y="48420"/>
                      <a:pt x="13516" y="48748"/>
                      <a:pt x="13875" y="49309"/>
                    </a:cubicBezTo>
                    <a:cubicBezTo>
                      <a:pt x="14692" y="50587"/>
                      <a:pt x="15916" y="50622"/>
                      <a:pt x="17140" y="51048"/>
                    </a:cubicBezTo>
                    <a:lnTo>
                      <a:pt x="16076" y="56140"/>
                    </a:lnTo>
                    <a:cubicBezTo>
                      <a:pt x="17477" y="57542"/>
                      <a:pt x="16874" y="59405"/>
                      <a:pt x="17513" y="60896"/>
                    </a:cubicBezTo>
                    <a:cubicBezTo>
                      <a:pt x="17939" y="61907"/>
                      <a:pt x="17566" y="62439"/>
                      <a:pt x="17105" y="63291"/>
                    </a:cubicBezTo>
                    <a:cubicBezTo>
                      <a:pt x="16484" y="64409"/>
                      <a:pt x="14922" y="65544"/>
                      <a:pt x="15526" y="66751"/>
                    </a:cubicBezTo>
                    <a:cubicBezTo>
                      <a:pt x="16359" y="68454"/>
                      <a:pt x="16218" y="70264"/>
                      <a:pt x="16218" y="71879"/>
                    </a:cubicBezTo>
                    <a:cubicBezTo>
                      <a:pt x="16218" y="73795"/>
                      <a:pt x="17726" y="75427"/>
                      <a:pt x="16697" y="77361"/>
                    </a:cubicBezTo>
                    <a:cubicBezTo>
                      <a:pt x="17566" y="77539"/>
                      <a:pt x="18134" y="77610"/>
                      <a:pt x="18684" y="77787"/>
                    </a:cubicBezTo>
                    <a:cubicBezTo>
                      <a:pt x="19160" y="77941"/>
                      <a:pt x="19615" y="78007"/>
                      <a:pt x="20054" y="78007"/>
                    </a:cubicBezTo>
                    <a:cubicBezTo>
                      <a:pt x="21942" y="78007"/>
                      <a:pt x="23543" y="76798"/>
                      <a:pt x="25284" y="76208"/>
                    </a:cubicBezTo>
                    <a:cubicBezTo>
                      <a:pt x="25497" y="74416"/>
                      <a:pt x="27183" y="74310"/>
                      <a:pt x="28336" y="73671"/>
                    </a:cubicBezTo>
                    <a:cubicBezTo>
                      <a:pt x="29472" y="73032"/>
                      <a:pt x="29064" y="71826"/>
                      <a:pt x="29436" y="71240"/>
                    </a:cubicBezTo>
                    <a:cubicBezTo>
                      <a:pt x="30359" y="70814"/>
                      <a:pt x="31051" y="70495"/>
                      <a:pt x="31761" y="70175"/>
                    </a:cubicBezTo>
                    <a:cubicBezTo>
                      <a:pt x="32701" y="69750"/>
                      <a:pt x="34032" y="69998"/>
                      <a:pt x="34351" y="68472"/>
                    </a:cubicBezTo>
                    <a:cubicBezTo>
                      <a:pt x="34564" y="67407"/>
                      <a:pt x="35593" y="66680"/>
                      <a:pt x="35682" y="65456"/>
                    </a:cubicBezTo>
                    <a:cubicBezTo>
                      <a:pt x="35789" y="64196"/>
                      <a:pt x="36179" y="62972"/>
                      <a:pt x="36427" y="61783"/>
                    </a:cubicBezTo>
                    <a:cubicBezTo>
                      <a:pt x="38255" y="60576"/>
                      <a:pt x="39869" y="58979"/>
                      <a:pt x="41786" y="58376"/>
                    </a:cubicBezTo>
                    <a:cubicBezTo>
                      <a:pt x="44997" y="57365"/>
                      <a:pt x="46843" y="55306"/>
                      <a:pt x="48156" y="52432"/>
                    </a:cubicBezTo>
                    <a:cubicBezTo>
                      <a:pt x="47847" y="52304"/>
                      <a:pt x="47534" y="52259"/>
                      <a:pt x="47221" y="52259"/>
                    </a:cubicBezTo>
                    <a:cubicBezTo>
                      <a:pt x="46487" y="52259"/>
                      <a:pt x="45750" y="52505"/>
                      <a:pt x="45050" y="52505"/>
                    </a:cubicBezTo>
                    <a:cubicBezTo>
                      <a:pt x="44519" y="52505"/>
                      <a:pt x="44011" y="52363"/>
                      <a:pt x="43542" y="51864"/>
                    </a:cubicBezTo>
                    <a:cubicBezTo>
                      <a:pt x="44838" y="50108"/>
                      <a:pt x="44909" y="50037"/>
                      <a:pt x="46293" y="49859"/>
                    </a:cubicBezTo>
                    <a:cubicBezTo>
                      <a:pt x="49646" y="49451"/>
                      <a:pt x="52822" y="48599"/>
                      <a:pt x="55395" y="46222"/>
                    </a:cubicBezTo>
                    <a:cubicBezTo>
                      <a:pt x="55484" y="45760"/>
                      <a:pt x="55697" y="45281"/>
                      <a:pt x="55643" y="44838"/>
                    </a:cubicBezTo>
                    <a:cubicBezTo>
                      <a:pt x="55519" y="44022"/>
                      <a:pt x="55359" y="43205"/>
                      <a:pt x="55164" y="42389"/>
                    </a:cubicBezTo>
                    <a:lnTo>
                      <a:pt x="54224" y="42886"/>
                    </a:lnTo>
                    <a:lnTo>
                      <a:pt x="53887" y="41254"/>
                    </a:lnTo>
                    <a:lnTo>
                      <a:pt x="53017" y="42655"/>
                    </a:lnTo>
                    <a:cubicBezTo>
                      <a:pt x="51775" y="40810"/>
                      <a:pt x="49327" y="39763"/>
                      <a:pt x="49735" y="36906"/>
                    </a:cubicBezTo>
                    <a:lnTo>
                      <a:pt x="49735" y="36906"/>
                    </a:lnTo>
                    <a:cubicBezTo>
                      <a:pt x="51738" y="37643"/>
                      <a:pt x="51709" y="40841"/>
                      <a:pt x="54224" y="40841"/>
                    </a:cubicBezTo>
                    <a:cubicBezTo>
                      <a:pt x="54315" y="40841"/>
                      <a:pt x="54410" y="40836"/>
                      <a:pt x="54508" y="40828"/>
                    </a:cubicBezTo>
                    <a:cubicBezTo>
                      <a:pt x="55927" y="42620"/>
                      <a:pt x="57968" y="43134"/>
                      <a:pt x="59831" y="43365"/>
                    </a:cubicBezTo>
                    <a:lnTo>
                      <a:pt x="61091" y="47286"/>
                    </a:lnTo>
                    <a:lnTo>
                      <a:pt x="62244" y="46683"/>
                    </a:lnTo>
                    <a:lnTo>
                      <a:pt x="61215" y="57010"/>
                    </a:lnTo>
                    <a:cubicBezTo>
                      <a:pt x="61641" y="57382"/>
                      <a:pt x="62102" y="57613"/>
                      <a:pt x="62208" y="57950"/>
                    </a:cubicBezTo>
                    <a:cubicBezTo>
                      <a:pt x="62350" y="58411"/>
                      <a:pt x="62226" y="58944"/>
                      <a:pt x="62226" y="59547"/>
                    </a:cubicBezTo>
                    <a:cubicBezTo>
                      <a:pt x="64054" y="58323"/>
                      <a:pt x="61783" y="56531"/>
                      <a:pt x="63397" y="55164"/>
                    </a:cubicBezTo>
                    <a:cubicBezTo>
                      <a:pt x="64338" y="54348"/>
                      <a:pt x="63894" y="52503"/>
                      <a:pt x="65420" y="51421"/>
                    </a:cubicBezTo>
                    <a:cubicBezTo>
                      <a:pt x="66236" y="50835"/>
                      <a:pt x="66627" y="49575"/>
                      <a:pt x="67407" y="48670"/>
                    </a:cubicBezTo>
                    <a:cubicBezTo>
                      <a:pt x="71098" y="31370"/>
                      <a:pt x="63805" y="13556"/>
                      <a:pt x="49451" y="3265"/>
                    </a:cubicBezTo>
                    <a:lnTo>
                      <a:pt x="47836" y="4223"/>
                    </a:lnTo>
                    <a:lnTo>
                      <a:pt x="47286" y="3425"/>
                    </a:lnTo>
                    <a:lnTo>
                      <a:pt x="45068" y="5465"/>
                    </a:lnTo>
                    <a:lnTo>
                      <a:pt x="44802" y="2963"/>
                    </a:lnTo>
                    <a:cubicBezTo>
                      <a:pt x="44483" y="4383"/>
                      <a:pt x="44412" y="5554"/>
                      <a:pt x="43383" y="6193"/>
                    </a:cubicBezTo>
                    <a:lnTo>
                      <a:pt x="41094" y="4844"/>
                    </a:lnTo>
                    <a:lnTo>
                      <a:pt x="41253" y="4702"/>
                    </a:lnTo>
                    <a:lnTo>
                      <a:pt x="43436" y="4525"/>
                    </a:lnTo>
                    <a:cubicBezTo>
                      <a:pt x="43312" y="3975"/>
                      <a:pt x="43329" y="3673"/>
                      <a:pt x="43205" y="3567"/>
                    </a:cubicBezTo>
                    <a:cubicBezTo>
                      <a:pt x="41857" y="2502"/>
                      <a:pt x="40153" y="1934"/>
                      <a:pt x="38929" y="657"/>
                    </a:cubicBezTo>
                    <a:cubicBezTo>
                      <a:pt x="38787" y="497"/>
                      <a:pt x="38592" y="390"/>
                      <a:pt x="38379" y="319"/>
                    </a:cubicBezTo>
                    <a:cubicBezTo>
                      <a:pt x="37729" y="119"/>
                      <a:pt x="37080" y="1"/>
                      <a:pt x="3643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39" name="Google Shape;3639;p71"/>
              <p:cNvSpPr/>
              <p:nvPr/>
            </p:nvSpPr>
            <p:spPr>
              <a:xfrm>
                <a:off x="6031360" y="3319580"/>
                <a:ext cx="62149" cy="151155"/>
              </a:xfrm>
              <a:custGeom>
                <a:avLst/>
                <a:gdLst/>
                <a:ahLst/>
                <a:cxnLst/>
                <a:rect l="l" t="t" r="r" b="b"/>
                <a:pathLst>
                  <a:path w="10771" h="26208" extrusionOk="0">
                    <a:moveTo>
                      <a:pt x="266" y="1"/>
                    </a:moveTo>
                    <a:lnTo>
                      <a:pt x="266" y="1"/>
                    </a:lnTo>
                    <a:cubicBezTo>
                      <a:pt x="0" y="9316"/>
                      <a:pt x="2679" y="18489"/>
                      <a:pt x="7914" y="26208"/>
                    </a:cubicBezTo>
                    <a:lnTo>
                      <a:pt x="9014" y="25995"/>
                    </a:lnTo>
                    <a:cubicBezTo>
                      <a:pt x="9954" y="24078"/>
                      <a:pt x="9617" y="22073"/>
                      <a:pt x="9475" y="20068"/>
                    </a:cubicBezTo>
                    <a:cubicBezTo>
                      <a:pt x="9422" y="19412"/>
                      <a:pt x="9120" y="18347"/>
                      <a:pt x="9386" y="18188"/>
                    </a:cubicBezTo>
                    <a:cubicBezTo>
                      <a:pt x="10753" y="17336"/>
                      <a:pt x="10274" y="15881"/>
                      <a:pt x="10770" y="14834"/>
                    </a:cubicBezTo>
                    <a:cubicBezTo>
                      <a:pt x="9777" y="13415"/>
                      <a:pt x="8890" y="12137"/>
                      <a:pt x="7328" y="11161"/>
                    </a:cubicBezTo>
                    <a:cubicBezTo>
                      <a:pt x="5270" y="9901"/>
                      <a:pt x="3194" y="8216"/>
                      <a:pt x="3247" y="5235"/>
                    </a:cubicBezTo>
                    <a:cubicBezTo>
                      <a:pt x="3265" y="4649"/>
                      <a:pt x="2999" y="3709"/>
                      <a:pt x="2591" y="3514"/>
                    </a:cubicBezTo>
                    <a:cubicBezTo>
                      <a:pt x="1295" y="2893"/>
                      <a:pt x="479" y="1562"/>
                      <a:pt x="408" y="604"/>
                    </a:cubicBezTo>
                    <a:cubicBezTo>
                      <a:pt x="373" y="391"/>
                      <a:pt x="337" y="196"/>
                      <a:pt x="26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40" name="Google Shape;3640;p71"/>
              <p:cNvSpPr/>
              <p:nvPr/>
            </p:nvSpPr>
            <p:spPr>
              <a:xfrm>
                <a:off x="6189159" y="3076713"/>
                <a:ext cx="117131" cy="35868"/>
              </a:xfrm>
              <a:custGeom>
                <a:avLst/>
                <a:gdLst/>
                <a:ahLst/>
                <a:cxnLst/>
                <a:rect l="l" t="t" r="r" b="b"/>
                <a:pathLst>
                  <a:path w="20300" h="6219" extrusionOk="0">
                    <a:moveTo>
                      <a:pt x="17629" y="0"/>
                    </a:moveTo>
                    <a:cubicBezTo>
                      <a:pt x="12187" y="0"/>
                      <a:pt x="6775" y="976"/>
                      <a:pt x="1651" y="2882"/>
                    </a:cubicBezTo>
                    <a:cubicBezTo>
                      <a:pt x="1207" y="3344"/>
                      <a:pt x="764" y="3823"/>
                      <a:pt x="302" y="4266"/>
                    </a:cubicBezTo>
                    <a:cubicBezTo>
                      <a:pt x="1" y="4568"/>
                      <a:pt x="231" y="5402"/>
                      <a:pt x="214" y="6218"/>
                    </a:cubicBezTo>
                    <a:cubicBezTo>
                      <a:pt x="1402" y="5473"/>
                      <a:pt x="2201" y="4834"/>
                      <a:pt x="3141" y="4408"/>
                    </a:cubicBezTo>
                    <a:cubicBezTo>
                      <a:pt x="5525" y="3347"/>
                      <a:pt x="8003" y="2632"/>
                      <a:pt x="10607" y="2632"/>
                    </a:cubicBezTo>
                    <a:cubicBezTo>
                      <a:pt x="11182" y="2632"/>
                      <a:pt x="11763" y="2666"/>
                      <a:pt x="12350" y="2740"/>
                    </a:cubicBezTo>
                    <a:cubicBezTo>
                      <a:pt x="12586" y="2362"/>
                      <a:pt x="12876" y="2257"/>
                      <a:pt x="13186" y="2257"/>
                    </a:cubicBezTo>
                    <a:cubicBezTo>
                      <a:pt x="13571" y="2257"/>
                      <a:pt x="13986" y="2419"/>
                      <a:pt x="14364" y="2419"/>
                    </a:cubicBezTo>
                    <a:cubicBezTo>
                      <a:pt x="14550" y="2419"/>
                      <a:pt x="14727" y="2379"/>
                      <a:pt x="14887" y="2261"/>
                    </a:cubicBezTo>
                    <a:cubicBezTo>
                      <a:pt x="16502" y="1072"/>
                      <a:pt x="18472" y="718"/>
                      <a:pt x="20299" y="79"/>
                    </a:cubicBezTo>
                    <a:cubicBezTo>
                      <a:pt x="19409" y="26"/>
                      <a:pt x="18519" y="0"/>
                      <a:pt x="17629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41" name="Google Shape;3641;p71"/>
              <p:cNvSpPr/>
              <p:nvPr/>
            </p:nvSpPr>
            <p:spPr>
              <a:xfrm>
                <a:off x="6350006" y="3503923"/>
                <a:ext cx="45156" cy="42581"/>
              </a:xfrm>
              <a:custGeom>
                <a:avLst/>
                <a:gdLst/>
                <a:ahLst/>
                <a:cxnLst/>
                <a:rect l="l" t="t" r="r" b="b"/>
                <a:pathLst>
                  <a:path w="7826" h="7383" extrusionOk="0">
                    <a:moveTo>
                      <a:pt x="7648" y="1"/>
                    </a:moveTo>
                    <a:lnTo>
                      <a:pt x="7648" y="1"/>
                    </a:lnTo>
                    <a:cubicBezTo>
                      <a:pt x="6488" y="417"/>
                      <a:pt x="5728" y="1543"/>
                      <a:pt x="4541" y="1543"/>
                    </a:cubicBezTo>
                    <a:cubicBezTo>
                      <a:pt x="4311" y="1543"/>
                      <a:pt x="4065" y="1501"/>
                      <a:pt x="3797" y="1403"/>
                    </a:cubicBezTo>
                    <a:cubicBezTo>
                      <a:pt x="3766" y="1397"/>
                      <a:pt x="3735" y="1395"/>
                      <a:pt x="3704" y="1395"/>
                    </a:cubicBezTo>
                    <a:cubicBezTo>
                      <a:pt x="3523" y="1395"/>
                      <a:pt x="3348" y="1482"/>
                      <a:pt x="3212" y="1633"/>
                    </a:cubicBezTo>
                    <a:cubicBezTo>
                      <a:pt x="2520" y="3567"/>
                      <a:pt x="142" y="4490"/>
                      <a:pt x="0" y="7045"/>
                    </a:cubicBezTo>
                    <a:lnTo>
                      <a:pt x="1633" y="7382"/>
                    </a:lnTo>
                    <a:cubicBezTo>
                      <a:pt x="2662" y="6353"/>
                      <a:pt x="3655" y="5306"/>
                      <a:pt x="4844" y="4419"/>
                    </a:cubicBezTo>
                    <a:cubicBezTo>
                      <a:pt x="6211" y="3390"/>
                      <a:pt x="7825" y="2219"/>
                      <a:pt x="764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42" name="Google Shape;3642;p71"/>
              <p:cNvSpPr/>
              <p:nvPr/>
            </p:nvSpPr>
            <p:spPr>
              <a:xfrm>
                <a:off x="6262180" y="3141947"/>
                <a:ext cx="28469" cy="38688"/>
              </a:xfrm>
              <a:custGeom>
                <a:avLst/>
                <a:gdLst/>
                <a:ahLst/>
                <a:cxnLst/>
                <a:rect l="l" t="t" r="r" b="b"/>
                <a:pathLst>
                  <a:path w="4934" h="6708" extrusionOk="0">
                    <a:moveTo>
                      <a:pt x="2094" y="0"/>
                    </a:moveTo>
                    <a:lnTo>
                      <a:pt x="2094" y="0"/>
                    </a:lnTo>
                    <a:cubicBezTo>
                      <a:pt x="0" y="1420"/>
                      <a:pt x="3052" y="2467"/>
                      <a:pt x="1988" y="4454"/>
                    </a:cubicBezTo>
                    <a:lnTo>
                      <a:pt x="817" y="4756"/>
                    </a:lnTo>
                    <a:cubicBezTo>
                      <a:pt x="1243" y="6707"/>
                      <a:pt x="2822" y="6228"/>
                      <a:pt x="3851" y="6619"/>
                    </a:cubicBezTo>
                    <a:lnTo>
                      <a:pt x="4933" y="5430"/>
                    </a:lnTo>
                    <a:cubicBezTo>
                      <a:pt x="4685" y="3993"/>
                      <a:pt x="2768" y="2875"/>
                      <a:pt x="4206" y="1207"/>
                    </a:cubicBezTo>
                    <a:cubicBezTo>
                      <a:pt x="3883" y="979"/>
                      <a:pt x="3846" y="221"/>
                      <a:pt x="3400" y="221"/>
                    </a:cubicBezTo>
                    <a:cubicBezTo>
                      <a:pt x="3257" y="221"/>
                      <a:pt x="3072" y="299"/>
                      <a:pt x="2822" y="497"/>
                    </a:cubicBezTo>
                    <a:cubicBezTo>
                      <a:pt x="2815" y="502"/>
                      <a:pt x="2807" y="505"/>
                      <a:pt x="2796" y="505"/>
                    </a:cubicBezTo>
                    <a:cubicBezTo>
                      <a:pt x="2667" y="505"/>
                      <a:pt x="2259" y="115"/>
                      <a:pt x="2094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43" name="Google Shape;3643;p71"/>
              <p:cNvSpPr/>
              <p:nvPr/>
            </p:nvSpPr>
            <p:spPr>
              <a:xfrm>
                <a:off x="6251907" y="3101042"/>
                <a:ext cx="26011" cy="13686"/>
              </a:xfrm>
              <a:custGeom>
                <a:avLst/>
                <a:gdLst/>
                <a:ahLst/>
                <a:cxnLst/>
                <a:rect l="l" t="t" r="r" b="b"/>
                <a:pathLst>
                  <a:path w="4508" h="2373" extrusionOk="0">
                    <a:moveTo>
                      <a:pt x="1606" y="0"/>
                    </a:moveTo>
                    <a:cubicBezTo>
                      <a:pt x="1091" y="0"/>
                      <a:pt x="558" y="171"/>
                      <a:pt x="0" y="723"/>
                    </a:cubicBezTo>
                    <a:cubicBezTo>
                      <a:pt x="430" y="1555"/>
                      <a:pt x="972" y="2195"/>
                      <a:pt x="1679" y="2195"/>
                    </a:cubicBezTo>
                    <a:cubicBezTo>
                      <a:pt x="1906" y="2195"/>
                      <a:pt x="2151" y="2129"/>
                      <a:pt x="2414" y="1982"/>
                    </a:cubicBezTo>
                    <a:cubicBezTo>
                      <a:pt x="2981" y="1663"/>
                      <a:pt x="4507" y="2373"/>
                      <a:pt x="4064" y="456"/>
                    </a:cubicBezTo>
                    <a:lnTo>
                      <a:pt x="4064" y="456"/>
                    </a:lnTo>
                    <a:cubicBezTo>
                      <a:pt x="4046" y="457"/>
                      <a:pt x="4028" y="457"/>
                      <a:pt x="4010" y="457"/>
                    </a:cubicBezTo>
                    <a:cubicBezTo>
                      <a:pt x="3239" y="457"/>
                      <a:pt x="2447" y="0"/>
                      <a:pt x="1606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44" name="Google Shape;3644;p71"/>
              <p:cNvSpPr/>
              <p:nvPr/>
            </p:nvSpPr>
            <p:spPr>
              <a:xfrm>
                <a:off x="6250613" y="3155645"/>
                <a:ext cx="21609" cy="17008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2949" extrusionOk="0">
                    <a:moveTo>
                      <a:pt x="1345" y="1"/>
                    </a:moveTo>
                    <a:cubicBezTo>
                      <a:pt x="985" y="1"/>
                      <a:pt x="770" y="142"/>
                      <a:pt x="568" y="429"/>
                    </a:cubicBezTo>
                    <a:cubicBezTo>
                      <a:pt x="213" y="943"/>
                      <a:pt x="249" y="1706"/>
                      <a:pt x="0" y="2948"/>
                    </a:cubicBezTo>
                    <a:lnTo>
                      <a:pt x="3744" y="695"/>
                    </a:lnTo>
                    <a:cubicBezTo>
                      <a:pt x="2515" y="235"/>
                      <a:pt x="1810" y="1"/>
                      <a:pt x="1345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cxnSp>
        <p:nvCxnSpPr>
          <p:cNvPr id="9" name="直线连接符 135"/>
          <p:cNvCxnSpPr/>
          <p:nvPr>
            <p:custDataLst>
              <p:tags r:id="rId7"/>
            </p:custDataLst>
          </p:nvPr>
        </p:nvCxnSpPr>
        <p:spPr>
          <a:xfrm flipV="1">
            <a:off x="6652498" y="2503433"/>
            <a:ext cx="5440045" cy="1333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线连接符 10"/>
          <p:cNvCxnSpPr/>
          <p:nvPr/>
        </p:nvCxnSpPr>
        <p:spPr>
          <a:xfrm>
            <a:off x="336069" y="1268760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279650" y="548640"/>
            <a:ext cx="9285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Reproducibility and GitHub Management</a:t>
            </a:r>
          </a:p>
        </p:txBody>
      </p:sp>
      <p:cxnSp>
        <p:nvCxnSpPr>
          <p:cNvPr id="9" name="直线连接符 135"/>
          <p:cNvCxnSpPr/>
          <p:nvPr>
            <p:custDataLst>
              <p:tags r:id="rId1"/>
            </p:custDataLst>
          </p:nvPr>
        </p:nvCxnSpPr>
        <p:spPr>
          <a:xfrm rot="16200000" flipV="1">
            <a:off x="3823570" y="3854117"/>
            <a:ext cx="4752000" cy="1333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3"/>
          <p:cNvSpPr/>
          <p:nvPr/>
        </p:nvSpPr>
        <p:spPr>
          <a:xfrm>
            <a:off x="7037691" y="1912868"/>
            <a:ext cx="4255566" cy="42586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r>
              <a:rPr kumimoji="1" lang="en-GB" sz="105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eds_project2/</a:t>
            </a:r>
          </a:p>
          <a:p>
            <a:r>
              <a:rPr kumimoji="1" lang="en-GB" sz="1050" dirty="0">
                <a:latin typeface="Arial"/>
                <a:ea typeface="等线"/>
                <a:cs typeface="Arial"/>
              </a:rPr>
              <a:t>|___ </a:t>
            </a:r>
            <a:r>
              <a:rPr kumimoji="1" lang="en-GB" sz="1050" dirty="0" err="1">
                <a:latin typeface="Arial"/>
                <a:ea typeface="等线"/>
                <a:cs typeface="Arial"/>
              </a:rPr>
              <a:t>README.md</a:t>
            </a:r>
            <a:endParaRPr kumimoji="1" lang="en-GB" sz="1050" dirty="0">
              <a:latin typeface="Arial"/>
              <a:ea typeface="等线"/>
              <a:cs typeface="Arial"/>
            </a:endParaRPr>
          </a:p>
          <a:p>
            <a:r>
              <a:rPr kumimoji="1" lang="en-GB" sz="1050" dirty="0">
                <a:latin typeface="Arial"/>
                <a:ea typeface="等线"/>
                <a:cs typeface="Arial"/>
              </a:rPr>
              <a:t>|___ </a:t>
            </a:r>
            <a:r>
              <a:rPr kumimoji="1" lang="en-GB" sz="1050" dirty="0" err="1">
                <a:latin typeface="Arial"/>
                <a:ea typeface="等线"/>
                <a:cs typeface="Arial"/>
              </a:rPr>
              <a:t>environment.yml</a:t>
            </a:r>
            <a:endParaRPr kumimoji="1" lang="en-GB" sz="1050" dirty="0">
              <a:latin typeface="Arial"/>
              <a:ea typeface="等线"/>
              <a:cs typeface="Arial"/>
            </a:endParaRPr>
          </a:p>
          <a:p>
            <a:r>
              <a:rPr kumimoji="1" lang="en-GB" sz="105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|___ LICENSE</a:t>
            </a:r>
          </a:p>
          <a:p>
            <a:r>
              <a:rPr lang="en-GB" sz="1050" dirty="0">
                <a:latin typeface="Arial"/>
                <a:ea typeface="等线"/>
                <a:cs typeface="Arial"/>
              </a:rPr>
              <a:t>|___ tests</a:t>
            </a:r>
            <a:endParaRPr kumimoji="1" lang="en-GB" sz="1050" dirty="0">
              <a:latin typeface="Arial"/>
              <a:ea typeface="等线"/>
              <a:cs typeface="Arial"/>
            </a:endParaRPr>
          </a:p>
          <a:p>
            <a:r>
              <a:rPr lang="en-GB" sz="1050" dirty="0">
                <a:latin typeface="Arial"/>
                <a:ea typeface="等线"/>
                <a:cs typeface="Arial"/>
              </a:rPr>
              <a:t>|         |___ </a:t>
            </a:r>
            <a:r>
              <a:rPr lang="en-GB" sz="1050" dirty="0" err="1">
                <a:latin typeface="Arial"/>
                <a:ea typeface="等线"/>
                <a:cs typeface="Arial"/>
              </a:rPr>
              <a:t>test_eval</a:t>
            </a:r>
            <a:r>
              <a:rPr kumimoji="1" lang="en-GB" sz="1050" dirty="0" err="1">
                <a:latin typeface="Arial"/>
                <a:ea typeface="等线"/>
                <a:cs typeface="Arial"/>
              </a:rPr>
              <a:t>uation.py</a:t>
            </a:r>
            <a:endParaRPr kumimoji="1" lang="en-GB" sz="1050" dirty="0">
              <a:latin typeface="Arial"/>
              <a:ea typeface="等线"/>
              <a:cs typeface="Arial"/>
            </a:endParaRPr>
          </a:p>
          <a:p>
            <a:r>
              <a:rPr lang="en-GB" sz="1050" dirty="0">
                <a:latin typeface="Arial"/>
                <a:ea typeface="等线"/>
                <a:cs typeface="Arial"/>
              </a:rPr>
              <a:t>|         |___ </a:t>
            </a:r>
            <a:r>
              <a:rPr lang="en-GB" sz="1050" dirty="0" err="1">
                <a:latin typeface="Arial"/>
                <a:ea typeface="等线"/>
                <a:cs typeface="Arial"/>
              </a:rPr>
              <a:t>test_holdout.py</a:t>
            </a:r>
            <a:endParaRPr lang="en-GB" sz="1050" dirty="0">
              <a:latin typeface="Arial"/>
              <a:ea typeface="等线"/>
              <a:cs typeface="Arial"/>
            </a:endParaRPr>
          </a:p>
          <a:p>
            <a:r>
              <a:rPr kumimoji="1" lang="en-GB" sz="105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|___ data/</a:t>
            </a:r>
          </a:p>
          <a:p>
            <a:r>
              <a:rPr kumimoji="1" lang="en-GB" sz="105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|         |___ raw/</a:t>
            </a:r>
          </a:p>
          <a:p>
            <a:r>
              <a:rPr kumimoji="1" lang="en-GB" sz="105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|         |___ processed/</a:t>
            </a:r>
          </a:p>
          <a:p>
            <a:r>
              <a:rPr lang="en-GB" sz="1050" dirty="0">
                <a:latin typeface="Arial"/>
                <a:ea typeface="等线"/>
                <a:cs typeface="Arial"/>
              </a:rPr>
              <a:t>|         |___ interim/</a:t>
            </a:r>
            <a:endParaRPr kumimoji="1" lang="en-GB" sz="1050" dirty="0">
              <a:latin typeface="Arial"/>
              <a:ea typeface="等线"/>
              <a:cs typeface="Arial"/>
            </a:endParaRPr>
          </a:p>
          <a:p>
            <a:r>
              <a:rPr kumimoji="1" lang="en-GB" sz="105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|___ notebooks/</a:t>
            </a:r>
          </a:p>
          <a:p>
            <a:r>
              <a:rPr kumimoji="1" lang="en-GB" sz="105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|         |___ 03_modelling_xgboost.ipynb</a:t>
            </a:r>
          </a:p>
          <a:p>
            <a:r>
              <a:rPr kumimoji="1" lang="en-GB" sz="105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|         |___ 04_post2050_predictions.ipynb</a:t>
            </a:r>
          </a:p>
          <a:p>
            <a:r>
              <a:rPr kumimoji="1" lang="en-GB" sz="105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|___ scripts/</a:t>
            </a:r>
          </a:p>
          <a:p>
            <a:r>
              <a:rPr kumimoji="1" lang="en-GB" sz="1050" dirty="0">
                <a:latin typeface="Arial"/>
                <a:ea typeface="等线"/>
                <a:cs typeface="Arial"/>
              </a:rPr>
              <a:t>|         |___ </a:t>
            </a:r>
            <a:r>
              <a:rPr kumimoji="1" lang="en-GB" sz="1050" dirty="0" err="1">
                <a:latin typeface="Arial"/>
                <a:ea typeface="等线"/>
                <a:cs typeface="Arial"/>
              </a:rPr>
              <a:t>make_monthly_dataset.py</a:t>
            </a:r>
            <a:endParaRPr kumimoji="1" lang="en-GB" sz="1050" dirty="0">
              <a:latin typeface="Arial"/>
              <a:ea typeface="等线"/>
              <a:cs typeface="Arial"/>
            </a:endParaRPr>
          </a:p>
          <a:p>
            <a:r>
              <a:rPr kumimoji="1" lang="en-GB" sz="1050" dirty="0">
                <a:latin typeface="Arial"/>
                <a:ea typeface="等线"/>
                <a:cs typeface="Arial"/>
              </a:rPr>
              <a:t>|___ </a:t>
            </a:r>
            <a:r>
              <a:rPr kumimoji="1" lang="en-GB" sz="1050" dirty="0" err="1">
                <a:latin typeface="Arial"/>
                <a:ea typeface="等线"/>
                <a:cs typeface="Arial"/>
              </a:rPr>
              <a:t>src</a:t>
            </a:r>
            <a:r>
              <a:rPr kumimoji="1" lang="en-GB" sz="1050" dirty="0">
                <a:latin typeface="Arial"/>
                <a:ea typeface="等线"/>
                <a:cs typeface="Arial"/>
              </a:rPr>
              <a:t>/</a:t>
            </a:r>
            <a:endParaRPr lang="en-GB" sz="1050" dirty="0">
              <a:latin typeface="Arial"/>
              <a:ea typeface="等线"/>
              <a:cs typeface="Arial"/>
            </a:endParaRPr>
          </a:p>
          <a:p>
            <a:r>
              <a:rPr kumimoji="1" lang="en-GB" sz="1050" dirty="0">
                <a:latin typeface="Arial"/>
                <a:ea typeface="等线"/>
                <a:cs typeface="Arial"/>
              </a:rPr>
              <a:t>|         |___ </a:t>
            </a:r>
            <a:r>
              <a:rPr kumimoji="1" lang="en-GB" sz="1050" dirty="0" err="1">
                <a:latin typeface="Arial"/>
                <a:ea typeface="等线"/>
                <a:cs typeface="Arial"/>
              </a:rPr>
              <a:t>config.py</a:t>
            </a:r>
            <a:endParaRPr kumimoji="1" lang="en-GB" sz="1050" dirty="0">
              <a:latin typeface="Arial"/>
              <a:ea typeface="等线"/>
              <a:cs typeface="Arial"/>
            </a:endParaRPr>
          </a:p>
          <a:p>
            <a:r>
              <a:rPr kumimoji="1" lang="en-GB" sz="1050" dirty="0">
                <a:latin typeface="Arial"/>
                <a:ea typeface="等线"/>
                <a:cs typeface="Arial"/>
              </a:rPr>
              <a:t>|         |___ </a:t>
            </a:r>
            <a:r>
              <a:rPr kumimoji="1" lang="en-GB" sz="1050" dirty="0" err="1">
                <a:latin typeface="Arial"/>
                <a:ea typeface="等线"/>
                <a:cs typeface="Arial"/>
              </a:rPr>
              <a:t>data_loading.py</a:t>
            </a:r>
            <a:endParaRPr kumimoji="1" lang="en-GB" sz="1050" dirty="0">
              <a:latin typeface="Arial"/>
              <a:ea typeface="等线"/>
              <a:cs typeface="Arial"/>
            </a:endParaRPr>
          </a:p>
          <a:p>
            <a:r>
              <a:rPr kumimoji="1" lang="en-GB" sz="1050" dirty="0">
                <a:latin typeface="Arial"/>
                <a:ea typeface="等线"/>
                <a:cs typeface="Arial"/>
              </a:rPr>
              <a:t>|         |___ </a:t>
            </a:r>
            <a:r>
              <a:rPr kumimoji="1" lang="en-GB" sz="1050" dirty="0" err="1">
                <a:latin typeface="Arial"/>
                <a:ea typeface="等线"/>
                <a:cs typeface="Arial"/>
              </a:rPr>
              <a:t>preprocessing.py</a:t>
            </a:r>
            <a:endParaRPr kumimoji="1" lang="en-GB" sz="1050" dirty="0">
              <a:latin typeface="Arial"/>
              <a:ea typeface="等线"/>
              <a:cs typeface="Arial"/>
            </a:endParaRPr>
          </a:p>
          <a:p>
            <a:r>
              <a:rPr kumimoji="1" lang="en-GB" sz="1050" dirty="0">
                <a:latin typeface="Arial"/>
                <a:ea typeface="等线"/>
                <a:cs typeface="Arial"/>
              </a:rPr>
              <a:t>|         |___ </a:t>
            </a:r>
            <a:r>
              <a:rPr kumimoji="1" lang="en-GB" sz="1050" dirty="0" err="1">
                <a:latin typeface="Arial"/>
                <a:ea typeface="等线"/>
                <a:cs typeface="Arial"/>
              </a:rPr>
              <a:t>features.py</a:t>
            </a:r>
            <a:endParaRPr kumimoji="1" lang="en-GB" sz="1050" dirty="0">
              <a:latin typeface="Arial"/>
              <a:ea typeface="等线"/>
              <a:cs typeface="Arial"/>
            </a:endParaRPr>
          </a:p>
          <a:p>
            <a:r>
              <a:rPr lang="en-GB" sz="1050" dirty="0">
                <a:latin typeface="Arial"/>
                <a:ea typeface="等线"/>
                <a:cs typeface="Arial"/>
              </a:rPr>
              <a:t>|         |___ </a:t>
            </a:r>
            <a:r>
              <a:rPr lang="en-GB" sz="1050" dirty="0" err="1">
                <a:latin typeface="Arial"/>
                <a:ea typeface="等线"/>
                <a:cs typeface="Arial"/>
              </a:rPr>
              <a:t>holdout.py</a:t>
            </a:r>
            <a:endParaRPr kumimoji="1" lang="en-GB" sz="1050" dirty="0">
              <a:latin typeface="Arial"/>
              <a:ea typeface="等线"/>
              <a:cs typeface="Arial"/>
            </a:endParaRPr>
          </a:p>
          <a:p>
            <a:r>
              <a:rPr kumimoji="1" lang="en-GB" sz="1050" dirty="0">
                <a:latin typeface="Arial"/>
                <a:ea typeface="等线"/>
                <a:cs typeface="Arial"/>
              </a:rPr>
              <a:t>|         |___ </a:t>
            </a:r>
            <a:r>
              <a:rPr kumimoji="1" lang="en-GB" sz="1050" dirty="0" err="1">
                <a:latin typeface="Arial"/>
                <a:ea typeface="等线"/>
                <a:cs typeface="Arial"/>
              </a:rPr>
              <a:t>evaluation.py</a:t>
            </a:r>
            <a:endParaRPr kumimoji="1" lang="en-GB" sz="1050" dirty="0">
              <a:latin typeface="Arial"/>
              <a:ea typeface="等线"/>
              <a:cs typeface="Arial"/>
            </a:endParaRPr>
          </a:p>
          <a:p>
            <a:r>
              <a:rPr kumimoji="1" lang="en-GB" sz="105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|___ outputs/</a:t>
            </a:r>
          </a:p>
          <a:p>
            <a:r>
              <a:rPr kumimoji="1" lang="en-GB" sz="1050" dirty="0">
                <a:latin typeface="Arial"/>
                <a:ea typeface="等线"/>
                <a:cs typeface="Arial"/>
              </a:rPr>
              <a:t>|          |___ figures/</a:t>
            </a:r>
            <a:endParaRPr lang="en-GB" sz="1050" dirty="0">
              <a:latin typeface="Arial"/>
              <a:ea typeface="等线"/>
              <a:cs typeface="Arial"/>
            </a:endParaRPr>
          </a:p>
          <a:p>
            <a:r>
              <a:rPr kumimoji="1" lang="en-GB" sz="1050" dirty="0">
                <a:latin typeface="Arial"/>
                <a:ea typeface="等线"/>
                <a:cs typeface="Arial"/>
              </a:rPr>
              <a:t>|          |___ tables/</a:t>
            </a:r>
          </a:p>
          <a:p>
            <a:r>
              <a:rPr lang="en-GB" sz="1050" dirty="0">
                <a:latin typeface="Arial"/>
                <a:ea typeface="等线"/>
                <a:cs typeface="Arial"/>
              </a:rPr>
              <a:t>|___ presentation/</a:t>
            </a:r>
          </a:p>
          <a:p>
            <a:r>
              <a:rPr lang="en-GB" sz="1050" dirty="0">
                <a:latin typeface="Arial"/>
                <a:ea typeface="等线"/>
                <a:cs typeface="Arial"/>
              </a:rPr>
              <a:t>           |___ trefmxavu_post2050_presentation.pptx</a:t>
            </a:r>
          </a:p>
        </p:txBody>
      </p:sp>
      <p:graphicFrame>
        <p:nvGraphicFramePr>
          <p:cNvPr id="41" name="Diagram 40"/>
          <p:cNvGraphicFramePr/>
          <p:nvPr/>
        </p:nvGraphicFramePr>
        <p:xfrm>
          <a:off x="702495" y="2144067"/>
          <a:ext cx="4563688" cy="3663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4" name="直线连接符 4"/>
          <p:cNvCxnSpPr/>
          <p:nvPr/>
        </p:nvCxnSpPr>
        <p:spPr>
          <a:xfrm flipV="1">
            <a:off x="335854" y="1749951"/>
            <a:ext cx="5568315" cy="20320"/>
          </a:xfrm>
          <a:prstGeom prst="line">
            <a:avLst/>
          </a:prstGeom>
          <a:noFill/>
          <a:ln w="28575" cap="flat" cmpd="sng" algn="ctr">
            <a:solidFill>
              <a:srgbClr val="B92F23"/>
            </a:solidFill>
            <a:prstDash val="solid"/>
            <a:miter lim="800000"/>
          </a:ln>
          <a:effectLst/>
        </p:spPr>
      </p:cxnSp>
      <p:cxnSp>
        <p:nvCxnSpPr>
          <p:cNvPr id="6" name="直线连接符 46"/>
          <p:cNvCxnSpPr/>
          <p:nvPr/>
        </p:nvCxnSpPr>
        <p:spPr>
          <a:xfrm>
            <a:off x="336117" y="6416814"/>
            <a:ext cx="11683999" cy="0"/>
          </a:xfrm>
          <a:prstGeom prst="line">
            <a:avLst/>
          </a:prstGeom>
          <a:noFill/>
          <a:ln w="28575" cap="flat" cmpd="sng" algn="ctr">
            <a:solidFill>
              <a:srgbClr val="B92F23"/>
            </a:solidFill>
            <a:prstDash val="solid"/>
            <a:miter lim="800000"/>
          </a:ln>
          <a:effectLst/>
        </p:spPr>
      </p:cxnSp>
      <p:cxnSp>
        <p:nvCxnSpPr>
          <p:cNvPr id="7" name="直线连接符 93"/>
          <p:cNvCxnSpPr/>
          <p:nvPr/>
        </p:nvCxnSpPr>
        <p:spPr>
          <a:xfrm flipV="1">
            <a:off x="6495440" y="1722011"/>
            <a:ext cx="5324475" cy="20320"/>
          </a:xfrm>
          <a:prstGeom prst="line">
            <a:avLst/>
          </a:prstGeom>
          <a:noFill/>
          <a:ln w="28575" cap="flat" cmpd="sng" algn="ctr">
            <a:solidFill>
              <a:srgbClr val="B92F23"/>
            </a:solidFill>
            <a:prstDash val="solid"/>
            <a:miter lim="800000"/>
          </a:ln>
          <a:effectLst/>
        </p:spPr>
      </p:cxnSp>
      <p:sp>
        <p:nvSpPr>
          <p:cNvPr id="8" name="三角形 11"/>
          <p:cNvSpPr/>
          <p:nvPr/>
        </p:nvSpPr>
        <p:spPr>
          <a:xfrm rot="5400000">
            <a:off x="315937" y="1427506"/>
            <a:ext cx="204229" cy="164020"/>
          </a:xfrm>
          <a:prstGeom prst="triangle">
            <a:avLst/>
          </a:prstGeom>
          <a:solidFill>
            <a:srgbClr val="B92F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11" name="三角形 11"/>
          <p:cNvSpPr/>
          <p:nvPr/>
        </p:nvSpPr>
        <p:spPr>
          <a:xfrm rot="5400000">
            <a:off x="6476072" y="1430046"/>
            <a:ext cx="204229" cy="164020"/>
          </a:xfrm>
          <a:prstGeom prst="triangle">
            <a:avLst/>
          </a:prstGeom>
          <a:solidFill>
            <a:srgbClr val="B92F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465070" y="1325245"/>
            <a:ext cx="1310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b="1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+mn-ea"/>
              </a:rPr>
              <a:t>Workflow</a:t>
            </a:r>
            <a:endParaRPr kumimoji="1" lang="en-GB" altLang="en-US" b="1">
              <a:solidFill>
                <a:schemeClr val="tx1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094345" y="1345565"/>
            <a:ext cx="2651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+mn-ea"/>
              </a:rPr>
              <a:t>Repository structure</a:t>
            </a:r>
            <a:endParaRPr kumimoji="1" lang="en-GB" altLang="en-US" b="1">
              <a:solidFill>
                <a:schemeClr val="tx1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线连接符 10"/>
          <p:cNvCxnSpPr/>
          <p:nvPr/>
        </p:nvCxnSpPr>
        <p:spPr>
          <a:xfrm>
            <a:off x="336069" y="1268760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279650" y="548640"/>
            <a:ext cx="9285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Reproducibility and GitHub Management</a:t>
            </a:r>
          </a:p>
        </p:txBody>
      </p:sp>
      <p:cxnSp>
        <p:nvCxnSpPr>
          <p:cNvPr id="9" name="直线连接符 135"/>
          <p:cNvCxnSpPr/>
          <p:nvPr>
            <p:custDataLst>
              <p:tags r:id="rId1"/>
            </p:custDataLst>
          </p:nvPr>
        </p:nvCxnSpPr>
        <p:spPr>
          <a:xfrm flipH="1" flipV="1">
            <a:off x="6123231" y="1485080"/>
            <a:ext cx="10160" cy="4982210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4"/>
          <p:cNvCxnSpPr/>
          <p:nvPr/>
        </p:nvCxnSpPr>
        <p:spPr>
          <a:xfrm flipV="1">
            <a:off x="6457999" y="1688988"/>
            <a:ext cx="5568315" cy="2032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cxnSp>
        <p:nvCxnSpPr>
          <p:cNvPr id="7" name="直线连接符 93"/>
          <p:cNvCxnSpPr/>
          <p:nvPr/>
        </p:nvCxnSpPr>
        <p:spPr>
          <a:xfrm flipV="1">
            <a:off x="513270" y="1722011"/>
            <a:ext cx="5324475" cy="2032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sp>
        <p:nvSpPr>
          <p:cNvPr id="8" name="三角形 11"/>
          <p:cNvSpPr/>
          <p:nvPr/>
        </p:nvSpPr>
        <p:spPr>
          <a:xfrm rot="5400000">
            <a:off x="6438082" y="1436215"/>
            <a:ext cx="204229" cy="164020"/>
          </a:xfrm>
          <a:prstGeom prst="triangle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11" name="三角形 11"/>
          <p:cNvSpPr/>
          <p:nvPr/>
        </p:nvSpPr>
        <p:spPr>
          <a:xfrm rot="5400000">
            <a:off x="493267" y="1430046"/>
            <a:ext cx="204229" cy="164020"/>
          </a:xfrm>
          <a:prstGeom prst="triangle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577017" y="1325245"/>
            <a:ext cx="3132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+mn-ea"/>
              </a:rPr>
              <a:t>Version control example</a:t>
            </a:r>
            <a:endParaRPr kumimoji="1" lang="en-GB" altLang="en-US" b="1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11540" y="1345565"/>
            <a:ext cx="3152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+mn-ea"/>
              </a:rPr>
              <a:t>Reproducibility features</a:t>
            </a:r>
          </a:p>
        </p:txBody>
      </p:sp>
      <p:sp>
        <p:nvSpPr>
          <p:cNvPr id="10" name="矩形 13"/>
          <p:cNvSpPr/>
          <p:nvPr>
            <p:custDataLst>
              <p:tags r:id="rId2"/>
            </p:custDataLst>
          </p:nvPr>
        </p:nvSpPr>
        <p:spPr>
          <a:xfrm>
            <a:off x="6343125" y="1851749"/>
            <a:ext cx="5682615" cy="458851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100000">
                <a:srgbClr val="B92F23">
                  <a:alpha val="18057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kumimoji="1" lang="en-GB" dirty="0">
                <a:ea typeface="等线" panose="02010600030101010101" pitchFamily="2" charset="-122"/>
              </a:rPr>
              <a:t>The small extract of the Git flow graph below demonstrates the use of branches and merges back into main to ensure a clean project history.</a:t>
            </a:r>
          </a:p>
          <a:p>
            <a:endParaRPr kumimoji="1" lang="en-GB" sz="1200" dirty="0">
              <a:solidFill>
                <a:schemeClr val="bg1">
                  <a:lumMod val="50000"/>
                </a:schemeClr>
              </a:solidFill>
              <a:ea typeface="等线" panose="02010600030101010101" pitchFamily="2" charset="-122"/>
            </a:endParaRPr>
          </a:p>
          <a:p>
            <a:endParaRPr kumimoji="1" lang="en-GB" sz="1200" dirty="0">
              <a:solidFill>
                <a:schemeClr val="bg1">
                  <a:lumMod val="50000"/>
                </a:schemeClr>
              </a:solidFill>
              <a:ea typeface="等线" panose="02010600030101010101" pitchFamily="2" charset="-122"/>
            </a:endParaRPr>
          </a:p>
          <a:p>
            <a:r>
              <a:rPr kumimoji="1" lang="en-GB" sz="1200" dirty="0">
                <a:solidFill>
                  <a:schemeClr val="bg1">
                    <a:lumMod val="50000"/>
                  </a:schemeClr>
                </a:solidFill>
                <a:ea typeface="等线" panose="02010600030101010101" pitchFamily="2" charset="-122"/>
              </a:rPr>
              <a:t>* e9755c0 </a:t>
            </a:r>
            <a:r>
              <a:rPr kumimoji="1" lang="en-GB" sz="1200" dirty="0">
                <a:ea typeface="等线" panose="02010600030101010101" pitchFamily="2" charset="-122"/>
              </a:rPr>
              <a:t>(</a:t>
            </a:r>
            <a:r>
              <a:rPr kumimoji="1" lang="en-GB" sz="1200" dirty="0">
                <a:solidFill>
                  <a:srgbClr val="00B050"/>
                </a:solidFill>
                <a:ea typeface="等线" panose="02010600030101010101" pitchFamily="2" charset="-122"/>
              </a:rPr>
              <a:t>main</a:t>
            </a:r>
            <a:r>
              <a:rPr kumimoji="1" lang="en-GB" sz="1200" dirty="0">
                <a:ea typeface="等线" panose="02010600030101010101" pitchFamily="2" charset="-122"/>
              </a:rPr>
              <a:t>) Final presentation updates</a:t>
            </a:r>
          </a:p>
          <a:p>
            <a:r>
              <a:rPr kumimoji="1" lang="en-GB" sz="1200" dirty="0">
                <a:solidFill>
                  <a:schemeClr val="bg1">
                    <a:lumMod val="50000"/>
                  </a:schemeClr>
                </a:solidFill>
                <a:ea typeface="等线" panose="02010600030101010101" pitchFamily="2" charset="-122"/>
              </a:rPr>
              <a:t>*   30753c1 </a:t>
            </a:r>
            <a:r>
              <a:rPr kumimoji="1" lang="en-GB" sz="1200" dirty="0">
                <a:ea typeface="等线" panose="02010600030101010101" pitchFamily="2" charset="-122"/>
              </a:rPr>
              <a:t>Merge branch '</a:t>
            </a:r>
            <a:r>
              <a:rPr kumimoji="1" lang="en-GB" sz="1200" dirty="0">
                <a:solidFill>
                  <a:srgbClr val="FF0000"/>
                </a:solidFill>
                <a:ea typeface="等线" panose="02010600030101010101" pitchFamily="2" charset="-122"/>
              </a:rPr>
              <a:t>analysis/spatial-prediction-maps</a:t>
            </a:r>
            <a:r>
              <a:rPr kumimoji="1" lang="en-GB" sz="1200" dirty="0">
                <a:ea typeface="等线" panose="02010600030101010101" pitchFamily="2" charset="-122"/>
              </a:rPr>
              <a:t>'</a:t>
            </a:r>
          </a:p>
          <a:p>
            <a:r>
              <a:rPr kumimoji="1" lang="en-GB" sz="1200" dirty="0">
                <a:solidFill>
                  <a:schemeClr val="bg1">
                    <a:lumMod val="50000"/>
                  </a:schemeClr>
                </a:solidFill>
                <a:ea typeface="等线" panose="02010600030101010101" pitchFamily="2" charset="-122"/>
              </a:rPr>
              <a:t>|\</a:t>
            </a:r>
          </a:p>
          <a:p>
            <a:r>
              <a:rPr kumimoji="1" lang="en-GB" sz="1200" dirty="0">
                <a:solidFill>
                  <a:schemeClr val="bg1">
                    <a:lumMod val="50000"/>
                  </a:schemeClr>
                </a:solidFill>
                <a:ea typeface="等线" panose="02010600030101010101" pitchFamily="2" charset="-122"/>
              </a:rPr>
              <a:t>|</a:t>
            </a:r>
            <a:r>
              <a:rPr kumimoji="1" lang="en-GB" sz="1200" dirty="0">
                <a:ea typeface="等线" panose="02010600030101010101" pitchFamily="2" charset="-122"/>
              </a:rPr>
              <a:t> </a:t>
            </a:r>
            <a:r>
              <a:rPr kumimoji="1" lang="en-GB" sz="1200" dirty="0">
                <a:solidFill>
                  <a:schemeClr val="bg1">
                    <a:lumMod val="50000"/>
                  </a:schemeClr>
                </a:solidFill>
                <a:ea typeface="等线" panose="02010600030101010101" pitchFamily="2" charset="-122"/>
              </a:rPr>
              <a:t>* 7dc739e </a:t>
            </a:r>
            <a:r>
              <a:rPr kumimoji="1" lang="en-GB" sz="1200" dirty="0">
                <a:ea typeface="等线" panose="02010600030101010101" pitchFamily="2" charset="-122"/>
              </a:rPr>
              <a:t>(</a:t>
            </a:r>
            <a:r>
              <a:rPr kumimoji="1" lang="en-GB" sz="1200" dirty="0">
                <a:solidFill>
                  <a:srgbClr val="FF0000"/>
                </a:solidFill>
                <a:ea typeface="等线" panose="02010600030101010101" pitchFamily="2" charset="-122"/>
              </a:rPr>
              <a:t>analysis/spatial-prediction-maps</a:t>
            </a:r>
            <a:r>
              <a:rPr kumimoji="1" lang="en-GB" sz="1200" dirty="0">
                <a:ea typeface="等线" panose="02010600030101010101" pitchFamily="2" charset="-122"/>
              </a:rPr>
              <a:t>) Spatial mapping edits</a:t>
            </a:r>
          </a:p>
          <a:p>
            <a:r>
              <a:rPr kumimoji="1" lang="en-GB" sz="1200" dirty="0">
                <a:solidFill>
                  <a:schemeClr val="bg1">
                    <a:lumMod val="50000"/>
                  </a:schemeClr>
                </a:solidFill>
                <a:ea typeface="等线" panose="02010600030101010101" pitchFamily="2" charset="-122"/>
              </a:rPr>
              <a:t>* |</a:t>
            </a:r>
            <a:r>
              <a:rPr kumimoji="1" lang="en-GB" sz="1200" dirty="0">
                <a:ea typeface="等线" panose="02010600030101010101" pitchFamily="2" charset="-122"/>
              </a:rPr>
              <a:t> </a:t>
            </a:r>
            <a:r>
              <a:rPr kumimoji="1" lang="en-GB" sz="1200" dirty="0">
                <a:solidFill>
                  <a:schemeClr val="bg1">
                    <a:lumMod val="50000"/>
                  </a:schemeClr>
                </a:solidFill>
                <a:ea typeface="等线" panose="02010600030101010101" pitchFamily="2" charset="-122"/>
              </a:rPr>
              <a:t>22ec4ad</a:t>
            </a:r>
            <a:r>
              <a:rPr kumimoji="1" lang="en-GB" sz="1200" dirty="0">
                <a:ea typeface="等线" panose="02010600030101010101" pitchFamily="2" charset="-122"/>
              </a:rPr>
              <a:t> (</a:t>
            </a:r>
            <a:r>
              <a:rPr kumimoji="1" lang="en-GB" sz="1200" dirty="0">
                <a:solidFill>
                  <a:srgbClr val="002060"/>
                </a:solidFill>
                <a:ea typeface="等线" panose="02010600030101010101" pitchFamily="2" charset="-122"/>
              </a:rPr>
              <a:t>analysis/feature-importance-finalise</a:t>
            </a:r>
            <a:r>
              <a:rPr kumimoji="1" lang="en-GB" sz="1200" dirty="0">
                <a:ea typeface="等线" panose="02010600030101010101" pitchFamily="2" charset="-122"/>
              </a:rPr>
              <a:t>) Feature importance analysis</a:t>
            </a:r>
          </a:p>
          <a:p>
            <a:r>
              <a:rPr kumimoji="1" lang="en-GB" sz="1200" dirty="0">
                <a:solidFill>
                  <a:schemeClr val="bg1">
                    <a:lumMod val="50000"/>
                  </a:schemeClr>
                </a:solidFill>
                <a:ea typeface="等线" panose="02010600030101010101" pitchFamily="2" charset="-122"/>
              </a:rPr>
              <a:t>|/</a:t>
            </a:r>
          </a:p>
          <a:p>
            <a:r>
              <a:rPr kumimoji="1" lang="en-GB" sz="1200" dirty="0">
                <a:solidFill>
                  <a:schemeClr val="bg1">
                    <a:lumMod val="50000"/>
                  </a:schemeClr>
                </a:solidFill>
                <a:ea typeface="等线" panose="02010600030101010101" pitchFamily="2" charset="-122"/>
              </a:rPr>
              <a:t>* 6bfd8a2 </a:t>
            </a:r>
            <a:r>
              <a:rPr kumimoji="1" lang="en-GB" sz="1200" dirty="0">
                <a:ea typeface="等线" panose="02010600030101010101" pitchFamily="2" charset="-122"/>
              </a:rPr>
              <a:t>Start post-2050 analysis</a:t>
            </a:r>
          </a:p>
        </p:txBody>
      </p:sp>
      <p:sp>
        <p:nvSpPr>
          <p:cNvPr id="54" name="矩形 53"/>
          <p:cNvSpPr/>
          <p:nvPr>
            <p:custDataLst>
              <p:tags r:id="rId3"/>
            </p:custDataLst>
          </p:nvPr>
        </p:nvSpPr>
        <p:spPr>
          <a:xfrm>
            <a:off x="513245" y="1927225"/>
            <a:ext cx="5347335" cy="92773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E324D"/>
                </a:solidFill>
              </a14:hiddenFill>
            </a:ext>
          </a:extLst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56" name="流程图: 接点 55"/>
          <p:cNvSpPr/>
          <p:nvPr>
            <p:custDataLst>
              <p:tags r:id="rId4"/>
            </p:custDataLst>
          </p:nvPr>
        </p:nvSpPr>
        <p:spPr>
          <a:xfrm>
            <a:off x="449317" y="1856189"/>
            <a:ext cx="298853" cy="272088"/>
          </a:xfrm>
          <a:prstGeom prst="flowChartConnector">
            <a:avLst/>
          </a:prstGeom>
          <a:solidFill>
            <a:schemeClr val="accent2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</a:t>
            </a:r>
            <a:endParaRPr kumimoji="1" lang="zh-CN" altLang="en-US" b="1" dirty="0">
              <a:solidFill>
                <a:srgbClr val="FFFFFF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677075" y="1927225"/>
            <a:ext cx="51606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+mn-ea"/>
              </a:rPr>
              <a:t>Structured GitHub repository with separate folders for data, notebooks, scripts, outputs, and source code.</a:t>
            </a:r>
            <a:endParaRPr kumimoji="1" lang="en-GB" altLang="en-US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513245" y="3058795"/>
            <a:ext cx="5347335" cy="92773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ln w="19050">
                <a:solidFill>
                  <a:schemeClr val="tx1"/>
                </a:solidFill>
              </a:ln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14" name="流程图: 接点 55"/>
          <p:cNvSpPr/>
          <p:nvPr>
            <p:custDataLst>
              <p:tags r:id="rId7"/>
            </p:custDataLst>
          </p:nvPr>
        </p:nvSpPr>
        <p:spPr>
          <a:xfrm>
            <a:off x="449317" y="2987759"/>
            <a:ext cx="298853" cy="272088"/>
          </a:xfrm>
          <a:prstGeom prst="flowChartConnector">
            <a:avLst/>
          </a:prstGeom>
          <a:solidFill>
            <a:schemeClr val="accent2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kumimoji="1" lang="zh-CN" altLang="en-US" b="1" dirty="0">
              <a:solidFill>
                <a:srgbClr val="FFFFFF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677075" y="3185160"/>
            <a:ext cx="5160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+mn-ea"/>
              </a:rPr>
              <a:t>Environment captured in environment.yml to support reproducible setup.</a:t>
            </a:r>
          </a:p>
        </p:txBody>
      </p:sp>
      <p:sp>
        <p:nvSpPr>
          <p:cNvPr id="26" name="矩形 25"/>
          <p:cNvSpPr/>
          <p:nvPr>
            <p:custDataLst>
              <p:tags r:id="rId9"/>
            </p:custDataLst>
          </p:nvPr>
        </p:nvSpPr>
        <p:spPr>
          <a:xfrm>
            <a:off x="513245" y="4126865"/>
            <a:ext cx="5347335" cy="110998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28" name="流程图: 接点 55"/>
          <p:cNvSpPr/>
          <p:nvPr>
            <p:custDataLst>
              <p:tags r:id="rId10"/>
            </p:custDataLst>
          </p:nvPr>
        </p:nvSpPr>
        <p:spPr>
          <a:xfrm>
            <a:off x="449317" y="4055829"/>
            <a:ext cx="298853" cy="272088"/>
          </a:xfrm>
          <a:prstGeom prst="flowChartConnector">
            <a:avLst/>
          </a:prstGeom>
          <a:solidFill>
            <a:schemeClr val="accent2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</a:t>
            </a:r>
            <a:endParaRPr kumimoji="1" lang="zh-CN" altLang="en-US" b="1" dirty="0">
              <a:solidFill>
                <a:srgbClr val="FFFFFF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677075" y="4252595"/>
            <a:ext cx="5339080" cy="9588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+mn-ea"/>
              </a:rPr>
              <a:t>Version control with multiple branches for ablation analysis, spatial mapping, feature-importance analysis, and final research-question analysis.</a:t>
            </a:r>
          </a:p>
          <a:p>
            <a:endParaRPr kumimoji="1" lang="en-US" altLang="zh-CN">
              <a:solidFill>
                <a:schemeClr val="tx1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12"/>
            </p:custDataLst>
          </p:nvPr>
        </p:nvSpPr>
        <p:spPr>
          <a:xfrm>
            <a:off x="513245" y="5350510"/>
            <a:ext cx="5347335" cy="108775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E324D"/>
                </a:solidFill>
              </a14:hiddenFill>
            </a:ext>
          </a:extLst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31" name="流程图: 接点 55"/>
          <p:cNvSpPr/>
          <p:nvPr>
            <p:custDataLst>
              <p:tags r:id="rId13"/>
            </p:custDataLst>
          </p:nvPr>
        </p:nvSpPr>
        <p:spPr>
          <a:xfrm>
            <a:off x="449317" y="5279474"/>
            <a:ext cx="298853" cy="272088"/>
          </a:xfrm>
          <a:prstGeom prst="flowChartConnector">
            <a:avLst/>
          </a:prstGeom>
          <a:solidFill>
            <a:schemeClr val="accent2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4</a:t>
            </a:r>
            <a:endParaRPr kumimoji="1" lang="zh-CN" altLang="en-US" b="1" dirty="0">
              <a:solidFill>
                <a:srgbClr val="FFFFFF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14"/>
            </p:custDataLst>
          </p:nvPr>
        </p:nvSpPr>
        <p:spPr>
          <a:xfrm>
            <a:off x="677075" y="5476875"/>
            <a:ext cx="5160645" cy="956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kumimoji="1" lang="en-US" altLang="zh-CN" dirty="0">
                <a:latin typeface="Arial"/>
                <a:ea typeface="等线"/>
                <a:cs typeface="Arial"/>
                <a:sym typeface="+mn-ea"/>
              </a:rPr>
              <a:t>Notebooks and scripts </a:t>
            </a:r>
            <a:r>
              <a:rPr kumimoji="1" lang="en-US" altLang="zh-CN" dirty="0" err="1">
                <a:latin typeface="Arial"/>
                <a:ea typeface="等线"/>
                <a:cs typeface="Arial"/>
                <a:sym typeface="+mn-ea"/>
              </a:rPr>
              <a:t>organised</a:t>
            </a:r>
            <a:r>
              <a:rPr kumimoji="1" lang="en-US" altLang="zh-CN" dirty="0">
                <a:latin typeface="Arial"/>
                <a:ea typeface="等线"/>
                <a:cs typeface="Arial"/>
                <a:sym typeface="+mn-ea"/>
              </a:rPr>
              <a:t> by workflow stage to separate model development from post-2050 evaluation and analysis.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7" grpId="0"/>
      <p:bldP spid="18" grpId="0"/>
      <p:bldP spid="10" grpId="0" animBg="1"/>
      <p:bldP spid="54" grpId="0" animBg="1"/>
      <p:bldP spid="56" grpId="0" animBg="1"/>
      <p:bldP spid="12" grpId="0"/>
      <p:bldP spid="13" grpId="0" animBg="1"/>
      <p:bldP spid="14" grpId="0" animBg="1"/>
      <p:bldP spid="15" grpId="0"/>
      <p:bldP spid="26" grpId="0" animBg="1"/>
      <p:bldP spid="28" grpId="0" animBg="1"/>
      <p:bldP spid="29" grpId="0"/>
      <p:bldP spid="30" grpId="0" animBg="1"/>
      <p:bldP spid="31" grpId="0" animBg="1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39725" y="5000625"/>
            <a:ext cx="4736465" cy="14954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cxnSp>
        <p:nvCxnSpPr>
          <p:cNvPr id="21" name="直线连接符 10"/>
          <p:cNvCxnSpPr/>
          <p:nvPr/>
        </p:nvCxnSpPr>
        <p:spPr>
          <a:xfrm>
            <a:off x="336069" y="1268760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279650" y="548640"/>
            <a:ext cx="9285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Modelling Approach</a:t>
            </a:r>
          </a:p>
        </p:txBody>
      </p:sp>
      <p:cxnSp>
        <p:nvCxnSpPr>
          <p:cNvPr id="136" name="直线连接符 135"/>
          <p:cNvCxnSpPr/>
          <p:nvPr>
            <p:custDataLst>
              <p:tags r:id="rId1"/>
            </p:custDataLst>
          </p:nvPr>
        </p:nvCxnSpPr>
        <p:spPr>
          <a:xfrm flipV="1">
            <a:off x="369015" y="3991729"/>
            <a:ext cx="4716000" cy="1333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35"/>
          <p:cNvCxnSpPr/>
          <p:nvPr>
            <p:custDataLst>
              <p:tags r:id="rId2"/>
            </p:custDataLst>
          </p:nvPr>
        </p:nvCxnSpPr>
        <p:spPr>
          <a:xfrm flipV="1">
            <a:off x="360760" y="1501254"/>
            <a:ext cx="4716000" cy="1333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6289" y="1628800"/>
            <a:ext cx="4728732" cy="338554"/>
          </a:xfrm>
          <a:prstGeom prst="rect">
            <a:avLst/>
          </a:prstGeom>
          <a:noFill/>
          <a:ln>
            <a:solidFill>
              <a:srgbClr val="C0504D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>
                <a:solidFill>
                  <a:srgbClr val="C0504D"/>
                </a:solidFill>
              </a:rPr>
              <a:t>Selected model: </a:t>
            </a:r>
            <a:r>
              <a:rPr lang="en-GB" sz="1600" err="1"/>
              <a:t>XGBoost</a:t>
            </a:r>
            <a:r>
              <a:rPr lang="en-GB" sz="160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431" y="2650501"/>
            <a:ext cx="4728732" cy="584775"/>
          </a:xfrm>
          <a:prstGeom prst="rect">
            <a:avLst/>
          </a:prstGeom>
          <a:noFill/>
          <a:ln>
            <a:solidFill>
              <a:srgbClr val="C0504D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>
                <a:solidFill>
                  <a:srgbClr val="C0504D"/>
                </a:solidFill>
              </a:rPr>
              <a:t>Compared against:</a:t>
            </a:r>
            <a:r>
              <a:rPr lang="en-GB" sz="1600"/>
              <a:t> linear regression and ridge regression benchmarks.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374" y="3284462"/>
            <a:ext cx="4728731" cy="584775"/>
          </a:xfrm>
          <a:prstGeom prst="rect">
            <a:avLst/>
          </a:prstGeom>
          <a:noFill/>
          <a:ln>
            <a:solidFill>
              <a:srgbClr val="C0504D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>
                <a:solidFill>
                  <a:srgbClr val="C0504D"/>
                </a:solidFill>
              </a:rPr>
              <a:t>Supporting analyses: </a:t>
            </a:r>
            <a:r>
              <a:rPr lang="en-GB" sz="1600"/>
              <a:t>feature importance and TREFHT ablation.</a:t>
            </a:r>
          </a:p>
        </p:txBody>
      </p:sp>
      <p:sp>
        <p:nvSpPr>
          <p:cNvPr id="13" name="矩形 1"/>
          <p:cNvSpPr/>
          <p:nvPr/>
        </p:nvSpPr>
        <p:spPr>
          <a:xfrm>
            <a:off x="5663953" y="1603231"/>
            <a:ext cx="6048035" cy="398780"/>
          </a:xfrm>
          <a:prstGeom prst="rect">
            <a:avLst/>
          </a:prstGeom>
          <a:solidFill>
            <a:srgbClr val="B92F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GB" sz="140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Model comparison: </a:t>
            </a:r>
            <a:r>
              <a:rPr kumimoji="1" lang="en-GB" sz="1400" err="1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XGBoost</a:t>
            </a:r>
            <a:r>
              <a:rPr kumimoji="1" lang="en-GB" sz="140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vs linear regression vs ridge regression</a:t>
            </a:r>
          </a:p>
        </p:txBody>
      </p:sp>
      <p:sp>
        <p:nvSpPr>
          <p:cNvPr id="14" name="矩形 4"/>
          <p:cNvSpPr/>
          <p:nvPr/>
        </p:nvSpPr>
        <p:spPr>
          <a:xfrm flipV="1">
            <a:off x="5664200" y="2015490"/>
            <a:ext cx="6038215" cy="4479925"/>
          </a:xfrm>
          <a:prstGeom prst="rect">
            <a:avLst/>
          </a:prstGeom>
          <a:noFill/>
          <a:ln w="22225" cap="flat" cmpd="sng" algn="ctr">
            <a:solidFill>
              <a:srgbClr val="1E324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en-GB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文本框 6"/>
          <p:cNvSpPr txBox="1"/>
          <p:nvPr/>
        </p:nvSpPr>
        <p:spPr>
          <a:xfrm>
            <a:off x="5663952" y="1580371"/>
            <a:ext cx="403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GB" sz="2400">
                <a:solidFill>
                  <a:srgbClr val="FFFFFF"/>
                </a:solidFill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6" name="矩形 13"/>
          <p:cNvSpPr/>
          <p:nvPr/>
        </p:nvSpPr>
        <p:spPr>
          <a:xfrm>
            <a:off x="5664200" y="5512435"/>
            <a:ext cx="6038215" cy="98933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100000">
                <a:srgbClr val="B92F23">
                  <a:alpha val="18057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GB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XGBoost</a:t>
            </a:r>
            <a:r>
              <a:rPr kumimoji="1" lang="en-GB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strongly outperformed linear baselines.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GB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Justifying the use of a modelling approach that can handle non-linear relationships.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431" y="2016540"/>
            <a:ext cx="4728732" cy="584775"/>
          </a:xfrm>
          <a:prstGeom prst="rect">
            <a:avLst/>
          </a:prstGeom>
          <a:noFill/>
          <a:ln>
            <a:solidFill>
              <a:srgbClr val="C0504D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>
                <a:solidFill>
                  <a:srgbClr val="C0504D"/>
                </a:solidFill>
              </a:rPr>
              <a:t>Cross-validation strategy: </a:t>
            </a:r>
            <a:r>
              <a:rPr lang="en-GB" sz="1600"/>
              <a:t>expanding windows with pre-2050 validation periods.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047" y="2092030"/>
            <a:ext cx="5743020" cy="3420000"/>
          </a:xfrm>
          <a:prstGeom prst="rect">
            <a:avLst/>
          </a:prstGeom>
        </p:spPr>
      </p:pic>
      <p:sp>
        <p:nvSpPr>
          <p:cNvPr id="20" name="矩形 242"/>
          <p:cNvSpPr/>
          <p:nvPr/>
        </p:nvSpPr>
        <p:spPr>
          <a:xfrm>
            <a:off x="338934" y="4176243"/>
            <a:ext cx="4748953" cy="389890"/>
          </a:xfrm>
          <a:prstGeom prst="rect">
            <a:avLst/>
          </a:prstGeom>
          <a:solidFill>
            <a:srgbClr val="1E32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GB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Cross-validation folds</a:t>
            </a:r>
          </a:p>
        </p:txBody>
      </p:sp>
      <p:sp>
        <p:nvSpPr>
          <p:cNvPr id="22" name="文本框 5"/>
          <p:cNvSpPr txBox="1"/>
          <p:nvPr/>
        </p:nvSpPr>
        <p:spPr>
          <a:xfrm>
            <a:off x="446885" y="4133063"/>
            <a:ext cx="403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GB" sz="2400">
                <a:solidFill>
                  <a:srgbClr val="FFFFFF"/>
                </a:solidFill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1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36069" y="4653136"/>
          <a:ext cx="4748952" cy="1830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9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137">
                <a:tc>
                  <a:txBody>
                    <a:bodyPr/>
                    <a:lstStyle/>
                    <a:p>
                      <a:r>
                        <a:rPr lang="en-GB" sz="1400"/>
                        <a:t>Fold number</a:t>
                      </a:r>
                    </a:p>
                  </a:txBody>
                  <a:tcPr>
                    <a:solidFill>
                      <a:srgbClr val="1D31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Training period</a:t>
                      </a:r>
                    </a:p>
                  </a:txBody>
                  <a:tcPr>
                    <a:solidFill>
                      <a:srgbClr val="1D31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Validation period</a:t>
                      </a:r>
                    </a:p>
                  </a:txBody>
                  <a:tcPr>
                    <a:solidFill>
                      <a:srgbClr val="1D3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137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2006 - 2029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2030 - 2034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137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2006 - 2034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2035 - 2039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137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2006 - 2039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2040 - 2044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137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2006 - 2044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2045 - 2049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 animBg="1"/>
      <p:bldP spid="17" grpId="0" animBg="1"/>
      <p:bldP spid="20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圆角矩形 57"/>
          <p:cNvSpPr/>
          <p:nvPr/>
        </p:nvSpPr>
        <p:spPr>
          <a:xfrm>
            <a:off x="6331585" y="5092065"/>
            <a:ext cx="5201285" cy="708025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6363970" y="3968115"/>
            <a:ext cx="5201285" cy="708025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6374765" y="2856230"/>
            <a:ext cx="5201285" cy="708025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92" name="圆角矩形 91"/>
          <p:cNvSpPr/>
          <p:nvPr/>
        </p:nvSpPr>
        <p:spPr>
          <a:xfrm>
            <a:off x="6351905" y="1811655"/>
            <a:ext cx="5201285" cy="708025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cxnSp>
        <p:nvCxnSpPr>
          <p:cNvPr id="21" name="直线连接符 10"/>
          <p:cNvCxnSpPr/>
          <p:nvPr/>
        </p:nvCxnSpPr>
        <p:spPr>
          <a:xfrm>
            <a:off x="336069" y="1268760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279650" y="548640"/>
            <a:ext cx="9285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  <a:endParaRPr lang="en-GB" sz="3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矩形 82"/>
          <p:cNvSpPr/>
          <p:nvPr>
            <p:custDataLst>
              <p:tags r:id="rId1"/>
            </p:custDataLst>
          </p:nvPr>
        </p:nvSpPr>
        <p:spPr>
          <a:xfrm>
            <a:off x="530860" y="1713230"/>
            <a:ext cx="1748790" cy="241935"/>
          </a:xfrm>
          <a:prstGeom prst="rect">
            <a:avLst/>
          </a:prstGeom>
          <a:solidFill>
            <a:srgbClr val="B92F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Climate predictors</a:t>
            </a:r>
          </a:p>
        </p:txBody>
      </p:sp>
      <p:sp>
        <p:nvSpPr>
          <p:cNvPr id="4" name="矩形 3"/>
          <p:cNvSpPr/>
          <p:nvPr/>
        </p:nvSpPr>
        <p:spPr>
          <a:xfrm>
            <a:off x="375920" y="1353185"/>
            <a:ext cx="311150" cy="296545"/>
          </a:xfrm>
          <a:prstGeom prst="rect">
            <a:avLst/>
          </a:prstGeom>
          <a:solidFill>
            <a:srgbClr val="B92F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000">
                <a:solidFill>
                  <a:srgbClr val="FFFFFF"/>
                </a:solidFill>
                <a:latin typeface="Calibri" panose="020F0502020204030204" charset="0"/>
                <a:ea typeface="等线" panose="02010600030101010101" pitchFamily="2" charset="-122"/>
              </a:rPr>
              <a:t>1</a:t>
            </a:r>
            <a:endParaRPr kumimoji="1" lang="zh-CN" altLang="en-US" sz="2000">
              <a:solidFill>
                <a:srgbClr val="FFFFFF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cxnSp>
        <p:nvCxnSpPr>
          <p:cNvPr id="9" name="直线连接符 8"/>
          <p:cNvCxnSpPr/>
          <p:nvPr/>
        </p:nvCxnSpPr>
        <p:spPr>
          <a:xfrm>
            <a:off x="592177" y="1637567"/>
            <a:ext cx="5093970" cy="7620"/>
          </a:xfrm>
          <a:prstGeom prst="line">
            <a:avLst/>
          </a:prstGeom>
          <a:noFill/>
          <a:ln w="28575" cap="flat" cmpd="sng" algn="ctr">
            <a:solidFill>
              <a:srgbClr val="B92F23"/>
            </a:solidFill>
            <a:prstDash val="solid"/>
            <a:miter lim="800000"/>
          </a:ln>
          <a:effectLst/>
        </p:spPr>
      </p:cxnSp>
      <p:sp>
        <p:nvSpPr>
          <p:cNvPr id="72" name="文本框 71"/>
          <p:cNvSpPr txBox="1"/>
          <p:nvPr/>
        </p:nvSpPr>
        <p:spPr>
          <a:xfrm>
            <a:off x="1419225" y="1317625"/>
            <a:ext cx="3359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What went into the model</a:t>
            </a:r>
          </a:p>
        </p:txBody>
      </p:sp>
      <p:sp>
        <p:nvSpPr>
          <p:cNvPr id="73" name="矩形 72"/>
          <p:cNvSpPr/>
          <p:nvPr>
            <p:custDataLst>
              <p:tags r:id="rId2"/>
            </p:custDataLst>
          </p:nvPr>
        </p:nvSpPr>
        <p:spPr>
          <a:xfrm>
            <a:off x="531495" y="1713230"/>
            <a:ext cx="5134610" cy="905510"/>
          </a:xfrm>
          <a:prstGeom prst="rect">
            <a:avLst/>
          </a:prstGeom>
          <a:noFill/>
          <a:ln w="25400" cap="flat" cmpd="sng" algn="ctr">
            <a:solidFill>
              <a:srgbClr val="1E324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grpSp>
        <p:nvGrpSpPr>
          <p:cNvPr id="402" name="Google Shape;8762;p85"/>
          <p:cNvGrpSpPr/>
          <p:nvPr>
            <p:custDataLst>
              <p:tags r:id="rId3"/>
            </p:custDataLst>
          </p:nvPr>
        </p:nvGrpSpPr>
        <p:grpSpPr>
          <a:xfrm>
            <a:off x="788545" y="2084951"/>
            <a:ext cx="485703" cy="467088"/>
            <a:chOff x="3944825" y="4076050"/>
            <a:chExt cx="280450" cy="268750"/>
          </a:xfrm>
          <a:solidFill>
            <a:srgbClr val="1E324D"/>
          </a:solidFill>
        </p:grpSpPr>
        <p:sp>
          <p:nvSpPr>
            <p:cNvPr id="403" name="Google Shape;8763;p85"/>
            <p:cNvSpPr/>
            <p:nvPr>
              <p:custDataLst>
                <p:tags r:id="rId18"/>
              </p:custDataLst>
            </p:nvPr>
          </p:nvSpPr>
          <p:spPr>
            <a:xfrm>
              <a:off x="4047825" y="4076050"/>
              <a:ext cx="177450" cy="180100"/>
            </a:xfrm>
            <a:custGeom>
              <a:avLst/>
              <a:gdLst/>
              <a:ahLst/>
              <a:cxnLst/>
              <a:rect l="l" t="t" r="r" b="b"/>
              <a:pathLst>
                <a:path w="7098" h="7204" extrusionOk="0">
                  <a:moveTo>
                    <a:pt x="4323" y="0"/>
                  </a:moveTo>
                  <a:cubicBezTo>
                    <a:pt x="3680" y="0"/>
                    <a:pt x="3037" y="244"/>
                    <a:pt x="2549" y="732"/>
                  </a:cubicBezTo>
                  <a:lnTo>
                    <a:pt x="2549" y="756"/>
                  </a:lnTo>
                  <a:lnTo>
                    <a:pt x="382" y="2923"/>
                  </a:lnTo>
                  <a:lnTo>
                    <a:pt x="382" y="2947"/>
                  </a:lnTo>
                  <a:cubicBezTo>
                    <a:pt x="538" y="2919"/>
                    <a:pt x="697" y="2905"/>
                    <a:pt x="856" y="2905"/>
                  </a:cubicBezTo>
                  <a:cubicBezTo>
                    <a:pt x="1231" y="2905"/>
                    <a:pt x="1610" y="2980"/>
                    <a:pt x="1977" y="3114"/>
                  </a:cubicBezTo>
                  <a:lnTo>
                    <a:pt x="3454" y="1637"/>
                  </a:lnTo>
                  <a:cubicBezTo>
                    <a:pt x="3731" y="1361"/>
                    <a:pt x="4040" y="1245"/>
                    <a:pt x="4336" y="1245"/>
                  </a:cubicBezTo>
                  <a:cubicBezTo>
                    <a:pt x="5314" y="1245"/>
                    <a:pt x="6154" y="2509"/>
                    <a:pt x="5240" y="3423"/>
                  </a:cubicBezTo>
                  <a:cubicBezTo>
                    <a:pt x="5171" y="3493"/>
                    <a:pt x="3066" y="5597"/>
                    <a:pt x="3045" y="5597"/>
                  </a:cubicBezTo>
                  <a:cubicBezTo>
                    <a:pt x="3044" y="5597"/>
                    <a:pt x="3045" y="5595"/>
                    <a:pt x="3049" y="5590"/>
                  </a:cubicBezTo>
                  <a:lnTo>
                    <a:pt x="3049" y="5590"/>
                  </a:lnTo>
                  <a:cubicBezTo>
                    <a:pt x="2811" y="5841"/>
                    <a:pt x="2490" y="5966"/>
                    <a:pt x="2165" y="5966"/>
                  </a:cubicBezTo>
                  <a:cubicBezTo>
                    <a:pt x="1841" y="5966"/>
                    <a:pt x="1513" y="5841"/>
                    <a:pt x="1263" y="5590"/>
                  </a:cubicBezTo>
                  <a:cubicBezTo>
                    <a:pt x="1144" y="5471"/>
                    <a:pt x="983" y="5412"/>
                    <a:pt x="822" y="5412"/>
                  </a:cubicBezTo>
                  <a:cubicBezTo>
                    <a:pt x="662" y="5412"/>
                    <a:pt x="501" y="5471"/>
                    <a:pt x="382" y="5590"/>
                  </a:cubicBezTo>
                  <a:lnTo>
                    <a:pt x="1" y="5971"/>
                  </a:lnTo>
                  <a:cubicBezTo>
                    <a:pt x="96" y="6162"/>
                    <a:pt x="215" y="6329"/>
                    <a:pt x="382" y="6472"/>
                  </a:cubicBezTo>
                  <a:cubicBezTo>
                    <a:pt x="870" y="6960"/>
                    <a:pt x="1507" y="7204"/>
                    <a:pt x="2144" y="7204"/>
                  </a:cubicBezTo>
                  <a:cubicBezTo>
                    <a:pt x="2781" y="7204"/>
                    <a:pt x="3418" y="6960"/>
                    <a:pt x="3906" y="6472"/>
                  </a:cubicBezTo>
                  <a:lnTo>
                    <a:pt x="3930" y="6472"/>
                  </a:lnTo>
                  <a:lnTo>
                    <a:pt x="6097" y="4304"/>
                  </a:lnTo>
                  <a:cubicBezTo>
                    <a:pt x="7098" y="3304"/>
                    <a:pt x="7098" y="1733"/>
                    <a:pt x="6097" y="732"/>
                  </a:cubicBezTo>
                  <a:cubicBezTo>
                    <a:pt x="5609" y="244"/>
                    <a:pt x="4966" y="0"/>
                    <a:pt x="43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等线" panose="02010600030101010101" pitchFamily="2" charset="-122"/>
                <a:ea typeface="+mn-ea"/>
                <a:cs typeface="+mn-ea"/>
              </a:endParaRPr>
            </a:p>
          </p:txBody>
        </p:sp>
        <p:sp>
          <p:nvSpPr>
            <p:cNvPr id="404" name="Google Shape;8764;p85"/>
            <p:cNvSpPr/>
            <p:nvPr>
              <p:custDataLst>
                <p:tags r:id="rId19"/>
              </p:custDataLst>
            </p:nvPr>
          </p:nvSpPr>
          <p:spPr>
            <a:xfrm>
              <a:off x="3944825" y="4164600"/>
              <a:ext cx="177450" cy="180200"/>
            </a:xfrm>
            <a:custGeom>
              <a:avLst/>
              <a:gdLst/>
              <a:ahLst/>
              <a:cxnLst/>
              <a:rect l="l" t="t" r="r" b="b"/>
              <a:pathLst>
                <a:path w="7098" h="7208" extrusionOk="0">
                  <a:moveTo>
                    <a:pt x="4942" y="0"/>
                  </a:moveTo>
                  <a:cubicBezTo>
                    <a:pt x="4300" y="0"/>
                    <a:pt x="3657" y="239"/>
                    <a:pt x="3168" y="715"/>
                  </a:cubicBezTo>
                  <a:lnTo>
                    <a:pt x="977" y="2906"/>
                  </a:lnTo>
                  <a:cubicBezTo>
                    <a:pt x="1" y="3882"/>
                    <a:pt x="1" y="5478"/>
                    <a:pt x="977" y="6454"/>
                  </a:cubicBezTo>
                  <a:cubicBezTo>
                    <a:pt x="1469" y="6957"/>
                    <a:pt x="2116" y="7207"/>
                    <a:pt x="2766" y="7207"/>
                  </a:cubicBezTo>
                  <a:cubicBezTo>
                    <a:pt x="3408" y="7207"/>
                    <a:pt x="4052" y="6963"/>
                    <a:pt x="4550" y="6478"/>
                  </a:cubicBezTo>
                  <a:lnTo>
                    <a:pt x="6717" y="4287"/>
                  </a:lnTo>
                  <a:lnTo>
                    <a:pt x="6717" y="4263"/>
                  </a:lnTo>
                  <a:cubicBezTo>
                    <a:pt x="6560" y="4292"/>
                    <a:pt x="6402" y="4305"/>
                    <a:pt x="6243" y="4305"/>
                  </a:cubicBezTo>
                  <a:cubicBezTo>
                    <a:pt x="5868" y="4305"/>
                    <a:pt x="5489" y="4230"/>
                    <a:pt x="5121" y="4097"/>
                  </a:cubicBezTo>
                  <a:lnTo>
                    <a:pt x="3645" y="5573"/>
                  </a:lnTo>
                  <a:cubicBezTo>
                    <a:pt x="3368" y="5850"/>
                    <a:pt x="3059" y="5966"/>
                    <a:pt x="2763" y="5966"/>
                  </a:cubicBezTo>
                  <a:cubicBezTo>
                    <a:pt x="1784" y="5966"/>
                    <a:pt x="945" y="4701"/>
                    <a:pt x="1859" y="3787"/>
                  </a:cubicBezTo>
                  <a:lnTo>
                    <a:pt x="4026" y="1596"/>
                  </a:lnTo>
                  <a:cubicBezTo>
                    <a:pt x="4276" y="1358"/>
                    <a:pt x="4603" y="1239"/>
                    <a:pt x="4928" y="1239"/>
                  </a:cubicBezTo>
                  <a:cubicBezTo>
                    <a:pt x="5252" y="1239"/>
                    <a:pt x="5574" y="1358"/>
                    <a:pt x="5812" y="1596"/>
                  </a:cubicBezTo>
                  <a:cubicBezTo>
                    <a:pt x="5943" y="1727"/>
                    <a:pt x="6109" y="1792"/>
                    <a:pt x="6273" y="1792"/>
                  </a:cubicBezTo>
                  <a:cubicBezTo>
                    <a:pt x="6437" y="1792"/>
                    <a:pt x="6598" y="1727"/>
                    <a:pt x="6717" y="1596"/>
                  </a:cubicBezTo>
                  <a:lnTo>
                    <a:pt x="7098" y="1215"/>
                  </a:lnTo>
                  <a:cubicBezTo>
                    <a:pt x="7002" y="1048"/>
                    <a:pt x="6860" y="858"/>
                    <a:pt x="6717" y="715"/>
                  </a:cubicBezTo>
                  <a:cubicBezTo>
                    <a:pt x="6228" y="239"/>
                    <a:pt x="5585" y="0"/>
                    <a:pt x="49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等线" panose="02010600030101010101" pitchFamily="2" charset="-122"/>
                <a:ea typeface="+mn-ea"/>
                <a:cs typeface="+mn-ea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325245" y="1964690"/>
            <a:ext cx="43408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+mn-ea"/>
              </a:rPr>
              <a:t>TREFHT, FLNS, FSNS, PRECT, PRSN, QBOT, UBOT, VBOT.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530860" y="2856230"/>
            <a:ext cx="1748790" cy="241935"/>
          </a:xfrm>
          <a:prstGeom prst="rect">
            <a:avLst/>
          </a:prstGeom>
          <a:solidFill>
            <a:srgbClr val="B92F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Derived predictor</a:t>
            </a: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531495" y="2860040"/>
            <a:ext cx="5134610" cy="905510"/>
          </a:xfrm>
          <a:prstGeom prst="rect">
            <a:avLst/>
          </a:prstGeom>
          <a:noFill/>
          <a:ln w="25400" cap="flat" cmpd="sng" algn="ctr">
            <a:solidFill>
              <a:srgbClr val="1E324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1325245" y="3195955"/>
            <a:ext cx="4340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Wind speed from UBOT and VBOT.</a:t>
            </a:r>
          </a:p>
        </p:txBody>
      </p:sp>
      <p:sp>
        <p:nvSpPr>
          <p:cNvPr id="23" name="矩形 22"/>
          <p:cNvSpPr/>
          <p:nvPr>
            <p:custDataLst>
              <p:tags r:id="rId8"/>
            </p:custDataLst>
          </p:nvPr>
        </p:nvSpPr>
        <p:spPr>
          <a:xfrm>
            <a:off x="531495" y="3982720"/>
            <a:ext cx="1748790" cy="241935"/>
          </a:xfrm>
          <a:prstGeom prst="rect">
            <a:avLst/>
          </a:prstGeom>
          <a:solidFill>
            <a:srgbClr val="B92F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Time features</a:t>
            </a:r>
          </a:p>
        </p:txBody>
      </p:sp>
      <p:sp>
        <p:nvSpPr>
          <p:cNvPr id="24" name="矩形 23"/>
          <p:cNvSpPr/>
          <p:nvPr>
            <p:custDataLst>
              <p:tags r:id="rId9"/>
            </p:custDataLst>
          </p:nvPr>
        </p:nvSpPr>
        <p:spPr>
          <a:xfrm>
            <a:off x="531495" y="3969385"/>
            <a:ext cx="5134610" cy="905510"/>
          </a:xfrm>
          <a:prstGeom prst="rect">
            <a:avLst/>
          </a:prstGeom>
          <a:noFill/>
          <a:ln w="25400" cap="flat" cmpd="sng" algn="ctr">
            <a:solidFill>
              <a:srgbClr val="1E324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0"/>
            </p:custDataLst>
          </p:nvPr>
        </p:nvSpPr>
        <p:spPr>
          <a:xfrm>
            <a:off x="1325245" y="4220845"/>
            <a:ext cx="43408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Year, cyclical month encoding (month_sin, month_cos).</a:t>
            </a:r>
          </a:p>
        </p:txBody>
      </p:sp>
      <p:sp>
        <p:nvSpPr>
          <p:cNvPr id="29" name="矩形 28"/>
          <p:cNvSpPr/>
          <p:nvPr>
            <p:custDataLst>
              <p:tags r:id="rId11"/>
            </p:custDataLst>
          </p:nvPr>
        </p:nvSpPr>
        <p:spPr>
          <a:xfrm>
            <a:off x="531495" y="5092065"/>
            <a:ext cx="1748790" cy="241935"/>
          </a:xfrm>
          <a:prstGeom prst="rect">
            <a:avLst/>
          </a:prstGeom>
          <a:solidFill>
            <a:srgbClr val="B92F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Context features</a:t>
            </a:r>
          </a:p>
        </p:txBody>
      </p:sp>
      <p:sp>
        <p:nvSpPr>
          <p:cNvPr id="30" name="矩形 29"/>
          <p:cNvSpPr/>
          <p:nvPr>
            <p:custDataLst>
              <p:tags r:id="rId12"/>
            </p:custDataLst>
          </p:nvPr>
        </p:nvSpPr>
        <p:spPr>
          <a:xfrm>
            <a:off x="531495" y="5092065"/>
            <a:ext cx="5134610" cy="905510"/>
          </a:xfrm>
          <a:prstGeom prst="rect">
            <a:avLst/>
          </a:prstGeom>
          <a:noFill/>
          <a:ln w="25400" cap="flat" cmpd="sng" algn="ctr">
            <a:solidFill>
              <a:srgbClr val="1E324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3"/>
            </p:custDataLst>
          </p:nvPr>
        </p:nvSpPr>
        <p:spPr>
          <a:xfrm>
            <a:off x="1325245" y="5480685"/>
            <a:ext cx="4340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Scenario, latitude/longitude.</a:t>
            </a:r>
          </a:p>
        </p:txBody>
      </p:sp>
      <p:grpSp>
        <p:nvGrpSpPr>
          <p:cNvPr id="35" name="Google Shape;5263;p76"/>
          <p:cNvGrpSpPr/>
          <p:nvPr/>
        </p:nvGrpSpPr>
        <p:grpSpPr>
          <a:xfrm>
            <a:off x="788622" y="5424522"/>
            <a:ext cx="397559" cy="452337"/>
            <a:chOff x="1529350" y="258825"/>
            <a:chExt cx="423475" cy="481825"/>
          </a:xfrm>
          <a:solidFill>
            <a:srgbClr val="1E324D"/>
          </a:solidFill>
        </p:grpSpPr>
        <p:sp>
          <p:nvSpPr>
            <p:cNvPr id="36" name="Google Shape;5264;p76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7" name="Google Shape;5265;p76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5700" name="Google Shape;5700;p77"/>
          <p:cNvGrpSpPr/>
          <p:nvPr/>
        </p:nvGrpSpPr>
        <p:grpSpPr>
          <a:xfrm>
            <a:off x="700716" y="4320903"/>
            <a:ext cx="572672" cy="494505"/>
            <a:chOff x="-42651700" y="3217825"/>
            <a:chExt cx="367600" cy="317425"/>
          </a:xfrm>
          <a:solidFill>
            <a:srgbClr val="1E324D"/>
          </a:solidFill>
        </p:grpSpPr>
        <p:sp>
          <p:nvSpPr>
            <p:cNvPr id="5701" name="Google Shape;5701;p77"/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02" name="Google Shape;5702;p77"/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03" name="Google Shape;5703;p77"/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04" name="Google Shape;5704;p77"/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446" name="Google Shape;5446;p76"/>
          <p:cNvGrpSpPr/>
          <p:nvPr/>
        </p:nvGrpSpPr>
        <p:grpSpPr>
          <a:xfrm>
            <a:off x="744087" y="3186950"/>
            <a:ext cx="452337" cy="452337"/>
            <a:chOff x="1492675" y="2027925"/>
            <a:chExt cx="481825" cy="481825"/>
          </a:xfrm>
          <a:solidFill>
            <a:srgbClr val="1E324D"/>
          </a:solidFill>
        </p:grpSpPr>
        <p:sp>
          <p:nvSpPr>
            <p:cNvPr id="5447" name="Google Shape;5447;p76"/>
            <p:cNvSpPr/>
            <p:nvPr/>
          </p:nvSpPr>
          <p:spPr>
            <a:xfrm>
              <a:off x="1719425" y="21700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5448" name="Google Shape;5448;p76"/>
            <p:cNvSpPr/>
            <p:nvPr/>
          </p:nvSpPr>
          <p:spPr>
            <a:xfrm>
              <a:off x="183235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5449" name="Google Shape;5449;p76"/>
            <p:cNvSpPr/>
            <p:nvPr/>
          </p:nvSpPr>
          <p:spPr>
            <a:xfrm>
              <a:off x="160650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5450" name="Google Shape;5450;p76"/>
            <p:cNvSpPr/>
            <p:nvPr/>
          </p:nvSpPr>
          <p:spPr>
            <a:xfrm>
              <a:off x="1492675" y="2425025"/>
              <a:ext cx="481825" cy="84725"/>
            </a:xfrm>
            <a:custGeom>
              <a:avLst/>
              <a:gdLst/>
              <a:ahLst/>
              <a:cxnLst/>
              <a:rect l="l" t="t" r="r" b="b"/>
              <a:pathLst>
                <a:path w="19273" h="3389" extrusionOk="0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5451" name="Google Shape;5451;p76"/>
            <p:cNvSpPr/>
            <p:nvPr/>
          </p:nvSpPr>
          <p:spPr>
            <a:xfrm>
              <a:off x="1492675" y="2027925"/>
              <a:ext cx="481825" cy="368000"/>
            </a:xfrm>
            <a:custGeom>
              <a:avLst/>
              <a:gdLst/>
              <a:ahLst/>
              <a:cxnLst/>
              <a:rect l="l" t="t" r="r" b="b"/>
              <a:pathLst>
                <a:path w="19273" h="14720" extrusionOk="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6158230" y="1335405"/>
            <a:ext cx="311150" cy="29654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000">
                <a:solidFill>
                  <a:srgbClr val="FFFFFF"/>
                </a:solidFill>
                <a:latin typeface="Calibri" panose="020F0502020204030204" charset="0"/>
                <a:ea typeface="等线" panose="02010600030101010101" pitchFamily="2" charset="-122"/>
              </a:rPr>
              <a:t>2</a:t>
            </a:r>
            <a:endParaRPr kumimoji="1" lang="zh-CN" altLang="en-US" sz="2000">
              <a:solidFill>
                <a:srgbClr val="FFFFFF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cxnSp>
        <p:nvCxnSpPr>
          <p:cNvPr id="40" name="直线连接符 8"/>
          <p:cNvCxnSpPr/>
          <p:nvPr/>
        </p:nvCxnSpPr>
        <p:spPr>
          <a:xfrm>
            <a:off x="6374487" y="1619787"/>
            <a:ext cx="5093970" cy="7620"/>
          </a:xfrm>
          <a:prstGeom prst="line">
            <a:avLst/>
          </a:prstGeom>
          <a:noFill/>
          <a:ln w="28575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41" name="文本框 40"/>
          <p:cNvSpPr txBox="1"/>
          <p:nvPr/>
        </p:nvSpPr>
        <p:spPr>
          <a:xfrm>
            <a:off x="7201535" y="1299845"/>
            <a:ext cx="3359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How features were engineered</a:t>
            </a:r>
          </a:p>
        </p:txBody>
      </p:sp>
      <p:cxnSp>
        <p:nvCxnSpPr>
          <p:cNvPr id="42" name="直线连接符 135"/>
          <p:cNvCxnSpPr/>
          <p:nvPr>
            <p:custDataLst>
              <p:tags r:id="rId14"/>
            </p:custDataLst>
          </p:nvPr>
        </p:nvCxnSpPr>
        <p:spPr>
          <a:xfrm flipV="1">
            <a:off x="6351985" y="2630289"/>
            <a:ext cx="5221605" cy="190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135"/>
          <p:cNvCxnSpPr/>
          <p:nvPr>
            <p:custDataLst>
              <p:tags r:id="rId15"/>
            </p:custDataLst>
          </p:nvPr>
        </p:nvCxnSpPr>
        <p:spPr>
          <a:xfrm flipV="1">
            <a:off x="6331665" y="3759954"/>
            <a:ext cx="5221605" cy="190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135"/>
          <p:cNvCxnSpPr/>
          <p:nvPr>
            <p:custDataLst>
              <p:tags r:id="rId16"/>
            </p:custDataLst>
          </p:nvPr>
        </p:nvCxnSpPr>
        <p:spPr>
          <a:xfrm flipV="1">
            <a:off x="6331665" y="4867394"/>
            <a:ext cx="5221605" cy="190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135"/>
          <p:cNvCxnSpPr/>
          <p:nvPr>
            <p:custDataLst>
              <p:tags r:id="rId17"/>
            </p:custDataLst>
          </p:nvPr>
        </p:nvCxnSpPr>
        <p:spPr>
          <a:xfrm flipV="1">
            <a:off x="6331665" y="5974834"/>
            <a:ext cx="5221605" cy="190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6352540" y="1812925"/>
            <a:ext cx="52127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sz="200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+mn-ea"/>
              </a:rPr>
              <a:t>Daily climate variables aggregated to monthly scale.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直线连接符 473"/>
          <p:cNvCxnSpPr/>
          <p:nvPr/>
        </p:nvCxnSpPr>
        <p:spPr>
          <a:xfrm flipH="1">
            <a:off x="5989456" y="1726565"/>
            <a:ext cx="2540" cy="4311015"/>
          </a:xfrm>
          <a:prstGeom prst="line">
            <a:avLst/>
          </a:prstGeom>
          <a:noFill/>
          <a:ln w="38100" cap="flat" cmpd="sng" algn="ctr">
            <a:solidFill>
              <a:srgbClr val="1E324D"/>
            </a:solidFill>
            <a:prstDash val="solid"/>
            <a:miter lim="800000"/>
          </a:ln>
          <a:effectLst/>
        </p:spPr>
      </p:cxnSp>
      <p:sp>
        <p:nvSpPr>
          <p:cNvPr id="484" name="椭圆 483"/>
          <p:cNvSpPr/>
          <p:nvPr/>
        </p:nvSpPr>
        <p:spPr>
          <a:xfrm>
            <a:off x="5870589" y="2062291"/>
            <a:ext cx="239843" cy="239843"/>
          </a:xfrm>
          <a:prstGeom prst="ellipse">
            <a:avLst/>
          </a:prstGeom>
          <a:solidFill>
            <a:srgbClr val="1E32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488" name="椭圆 487"/>
          <p:cNvSpPr/>
          <p:nvPr/>
        </p:nvSpPr>
        <p:spPr>
          <a:xfrm>
            <a:off x="5870589" y="3159757"/>
            <a:ext cx="239843" cy="239843"/>
          </a:xfrm>
          <a:prstGeom prst="ellipse">
            <a:avLst/>
          </a:prstGeom>
          <a:solidFill>
            <a:srgbClr val="1E32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490" name="椭圆 489"/>
          <p:cNvSpPr/>
          <p:nvPr/>
        </p:nvSpPr>
        <p:spPr>
          <a:xfrm>
            <a:off x="5870589" y="4247818"/>
            <a:ext cx="239843" cy="239843"/>
          </a:xfrm>
          <a:prstGeom prst="ellipse">
            <a:avLst/>
          </a:prstGeom>
          <a:solidFill>
            <a:srgbClr val="1E32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493" name="椭圆 492"/>
          <p:cNvSpPr/>
          <p:nvPr/>
        </p:nvSpPr>
        <p:spPr>
          <a:xfrm>
            <a:off x="5870589" y="5424909"/>
            <a:ext cx="239843" cy="239843"/>
          </a:xfrm>
          <a:prstGeom prst="ellipse">
            <a:avLst/>
          </a:prstGeom>
          <a:solidFill>
            <a:srgbClr val="1E32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360795" y="2873375"/>
            <a:ext cx="52127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Temperature and radiation variables represented by monthly means.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6360795" y="3969385"/>
            <a:ext cx="52127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Precipitation and snowfall represented by monthly totals.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6360795" y="5121910"/>
            <a:ext cx="52127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Lagged predictors added to capture short-term temporal memory.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531495" y="6060958"/>
            <a:ext cx="108661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sz="2000" b="1" dirty="0">
                <a:solidFill>
                  <a:schemeClr val="accent2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+mn-ea"/>
              </a:rPr>
              <a:t>Goal:</a:t>
            </a:r>
            <a:r>
              <a:rPr kumimoji="1" lang="en-GB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+mn-ea"/>
              </a:rPr>
              <a:t> represent seasonal structure, spatial variation, scenario differences, and short-term persistence in TREFMXAV_U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7" grpId="0" animBg="1"/>
      <p:bldP spid="56" grpId="0" animBg="1"/>
      <p:bldP spid="92" grpId="0" animBg="1"/>
      <p:bldP spid="83" grpId="0" animBg="1"/>
      <p:bldP spid="4" grpId="0" animBg="1"/>
      <p:bldP spid="72" grpId="0"/>
      <p:bldP spid="73" grpId="0" animBg="1"/>
      <p:bldP spid="5" grpId="0"/>
      <p:bldP spid="6" grpId="0" animBg="1"/>
      <p:bldP spid="10" grpId="0" animBg="1"/>
      <p:bldP spid="19" grpId="0"/>
      <p:bldP spid="23" grpId="0" animBg="1"/>
      <p:bldP spid="24" grpId="0" animBg="1"/>
      <p:bldP spid="28" grpId="0"/>
      <p:bldP spid="29" grpId="0" animBg="1"/>
      <p:bldP spid="30" grpId="0" animBg="1"/>
      <p:bldP spid="34" grpId="0"/>
      <p:bldP spid="39" grpId="0" animBg="1"/>
      <p:bldP spid="41" grpId="0"/>
      <p:bldP spid="46" grpId="0"/>
      <p:bldP spid="48" grpId="0"/>
      <p:bldP spid="49" grpId="0"/>
      <p:bldP spid="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647" y="1598582"/>
            <a:ext cx="5271608" cy="31392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23" y="1603844"/>
            <a:ext cx="4930972" cy="2936421"/>
          </a:xfrm>
          <a:prstGeom prst="rect">
            <a:avLst/>
          </a:prstGeom>
        </p:spPr>
      </p:pic>
      <p:cxnSp>
        <p:nvCxnSpPr>
          <p:cNvPr id="21" name="直线连接符 10"/>
          <p:cNvCxnSpPr/>
          <p:nvPr/>
        </p:nvCxnSpPr>
        <p:spPr>
          <a:xfrm>
            <a:off x="336069" y="1249828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279650" y="548640"/>
            <a:ext cx="9285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latin typeface="Arial" panose="020B0604020202020204" pitchFamily="34" charset="0"/>
                <a:cs typeface="Arial" panose="020B0604020202020204" pitchFamily="34" charset="0"/>
              </a:rPr>
              <a:t>Model Performance</a:t>
            </a:r>
            <a:endParaRPr lang="en-GB" sz="3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6" name="直线连接符 135"/>
          <p:cNvCxnSpPr/>
          <p:nvPr>
            <p:custDataLst>
              <p:tags r:id="rId1"/>
            </p:custDataLst>
          </p:nvPr>
        </p:nvCxnSpPr>
        <p:spPr>
          <a:xfrm>
            <a:off x="5735961" y="1225891"/>
            <a:ext cx="14605" cy="4753429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"/>
          <p:cNvSpPr/>
          <p:nvPr/>
        </p:nvSpPr>
        <p:spPr>
          <a:xfrm>
            <a:off x="5962672" y="1289727"/>
            <a:ext cx="5977991" cy="313589"/>
          </a:xfrm>
          <a:prstGeom prst="rect">
            <a:avLst/>
          </a:prstGeom>
          <a:solidFill>
            <a:srgbClr val="B92F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/>
            <a:r>
              <a:rPr kumimoji="1" lang="en-GB" sz="160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Model performance across months</a:t>
            </a:r>
          </a:p>
        </p:txBody>
      </p:sp>
      <p:sp>
        <p:nvSpPr>
          <p:cNvPr id="15" name="文本框 6"/>
          <p:cNvSpPr txBox="1"/>
          <p:nvPr/>
        </p:nvSpPr>
        <p:spPr>
          <a:xfrm>
            <a:off x="6023992" y="1262135"/>
            <a:ext cx="403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GB" sz="2000" dirty="0">
                <a:solidFill>
                  <a:srgbClr val="FFFFFF"/>
                </a:solidFill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0" name="矩形 242"/>
          <p:cNvSpPr/>
          <p:nvPr/>
        </p:nvSpPr>
        <p:spPr>
          <a:xfrm>
            <a:off x="340789" y="1293022"/>
            <a:ext cx="5195131" cy="309430"/>
          </a:xfrm>
          <a:prstGeom prst="rect">
            <a:avLst/>
          </a:prstGeom>
          <a:solidFill>
            <a:srgbClr val="1E32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GB" sz="160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Model performance across scenarios</a:t>
            </a:r>
          </a:p>
        </p:txBody>
      </p:sp>
      <p:sp>
        <p:nvSpPr>
          <p:cNvPr id="22" name="文本框 5"/>
          <p:cNvSpPr txBox="1"/>
          <p:nvPr/>
        </p:nvSpPr>
        <p:spPr>
          <a:xfrm>
            <a:off x="479376" y="1254574"/>
            <a:ext cx="403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GB" sz="2000" dirty="0">
                <a:solidFill>
                  <a:srgbClr val="FFFFFF"/>
                </a:solidFill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矩形 4"/>
          <p:cNvSpPr/>
          <p:nvPr/>
        </p:nvSpPr>
        <p:spPr>
          <a:xfrm flipV="1">
            <a:off x="340708" y="1611305"/>
            <a:ext cx="5195222" cy="4338940"/>
          </a:xfrm>
          <a:prstGeom prst="rect">
            <a:avLst/>
          </a:prstGeom>
          <a:noFill/>
          <a:ln w="22225" cap="flat" cmpd="sng" algn="ctr">
            <a:solidFill>
              <a:srgbClr val="1E324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en-GB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矩形 13" descr="7b0a202020202262756c6c6574223a20227b5c2263617465676f727949645c223a5c225c222c5c2274656d706c61746549645c223a32303233313731337d220a7d0a"/>
          <p:cNvSpPr/>
          <p:nvPr/>
        </p:nvSpPr>
        <p:spPr>
          <a:xfrm>
            <a:off x="333387" y="4518169"/>
            <a:ext cx="5202533" cy="1430804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100000">
                <a:srgbClr val="B92F23">
                  <a:alpha val="18057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GB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Model performance is broadly </a:t>
            </a:r>
            <a:r>
              <a:rPr kumimoji="1" lang="en-GB" sz="1400" dirty="0">
                <a:solidFill>
                  <a:schemeClr val="accent2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consistent</a:t>
            </a:r>
            <a:r>
              <a:rPr kumimoji="1" lang="en-GB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across scenarios.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GB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Scenario 008 appears easiest to predict, while 004 and 005 are slightly harder.</a:t>
            </a:r>
            <a:endParaRPr lang="en-GB" sz="14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GB" sz="1400" dirty="0">
                <a:solidFill>
                  <a:schemeClr val="accent2"/>
                </a:solidFill>
                <a:latin typeface="Arial"/>
                <a:ea typeface="等线"/>
                <a:cs typeface="Arial"/>
              </a:rPr>
              <a:t>RMSE is consistently higher than MAE</a:t>
            </a:r>
            <a:r>
              <a:rPr kumimoji="1" lang="en-GB" sz="1400" dirty="0">
                <a:latin typeface="Arial"/>
                <a:ea typeface="等线"/>
                <a:cs typeface="Arial"/>
              </a:rPr>
              <a:t>.</a:t>
            </a:r>
            <a:endParaRPr lang="en-GB" sz="1400" dirty="0">
              <a:latin typeface="Arial"/>
              <a:ea typeface="等线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GB" sz="1400" dirty="0">
                <a:latin typeface="Arial"/>
                <a:ea typeface="等线"/>
                <a:cs typeface="Arial"/>
              </a:rPr>
              <a:t>The </a:t>
            </a:r>
            <a:r>
              <a:rPr kumimoji="1" lang="en-GB" sz="1400" dirty="0">
                <a:solidFill>
                  <a:schemeClr val="accent2"/>
                </a:solidFill>
                <a:latin typeface="Arial"/>
                <a:ea typeface="等线"/>
                <a:cs typeface="Arial"/>
              </a:rPr>
              <a:t>gap</a:t>
            </a:r>
            <a:r>
              <a:rPr kumimoji="1" lang="en-GB" sz="1400" dirty="0">
                <a:latin typeface="Arial"/>
                <a:ea typeface="等线"/>
                <a:cs typeface="Arial"/>
              </a:rPr>
              <a:t> between RMSE and MAE remains </a:t>
            </a:r>
            <a:r>
              <a:rPr kumimoji="1" lang="en-GB" sz="1400" dirty="0">
                <a:solidFill>
                  <a:schemeClr val="accent2"/>
                </a:solidFill>
                <a:latin typeface="Arial"/>
                <a:ea typeface="等线"/>
                <a:cs typeface="Arial"/>
              </a:rPr>
              <a:t>similar</a:t>
            </a:r>
            <a:r>
              <a:rPr kumimoji="1" lang="en-GB" sz="1400" dirty="0">
                <a:latin typeface="Arial"/>
                <a:ea typeface="等线"/>
                <a:cs typeface="Arial"/>
              </a:rPr>
              <a:t> across scenarios.</a:t>
            </a:r>
            <a:endParaRPr lang="en-GB" sz="1400" dirty="0">
              <a:latin typeface="Arial"/>
              <a:ea typeface="等线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 flipV="1">
            <a:off x="5967382" y="1611824"/>
            <a:ext cx="5973506" cy="4313487"/>
          </a:xfrm>
          <a:prstGeom prst="rect">
            <a:avLst/>
          </a:prstGeom>
          <a:noFill/>
          <a:ln w="22225" cap="flat" cmpd="sng" algn="ctr">
            <a:solidFill>
              <a:srgbClr val="1E324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en-GB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矩形 13" descr="7b0a202020202262756c6c6574223a20227b5c2263617465676f727949645c223a5c225c222c5c2274656d706c61746549645c223a32303233313731347d220a7d0a"/>
          <p:cNvSpPr/>
          <p:nvPr/>
        </p:nvSpPr>
        <p:spPr>
          <a:xfrm>
            <a:off x="5971253" y="4737854"/>
            <a:ext cx="5975229" cy="1182725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100000">
                <a:srgbClr val="B92F23">
                  <a:alpha val="18057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GB" sz="1400" dirty="0">
                <a:latin typeface="Arial"/>
                <a:ea typeface="等线"/>
                <a:cs typeface="Arial"/>
              </a:rPr>
              <a:t>Model performs well overall, but </a:t>
            </a:r>
            <a:r>
              <a:rPr kumimoji="1" lang="en-GB" sz="1400" dirty="0">
                <a:solidFill>
                  <a:schemeClr val="accent2"/>
                </a:solidFill>
                <a:latin typeface="Arial"/>
                <a:ea typeface="等线"/>
                <a:cs typeface="Arial"/>
              </a:rPr>
              <a:t>accuracy</a:t>
            </a:r>
            <a:r>
              <a:rPr kumimoji="1" lang="en-GB" sz="1400" dirty="0">
                <a:latin typeface="Arial"/>
                <a:ea typeface="等线"/>
                <a:cs typeface="Arial"/>
              </a:rPr>
              <a:t> is </a:t>
            </a:r>
            <a:r>
              <a:rPr kumimoji="1" lang="en-GB" sz="1400" dirty="0">
                <a:solidFill>
                  <a:schemeClr val="accent2"/>
                </a:solidFill>
                <a:latin typeface="Arial"/>
                <a:ea typeface="等线"/>
                <a:cs typeface="Arial"/>
              </a:rPr>
              <a:t>not uniform</a:t>
            </a:r>
            <a:r>
              <a:rPr kumimoji="1" lang="en-GB" sz="1400" dirty="0">
                <a:latin typeface="Arial"/>
                <a:ea typeface="等线"/>
                <a:cs typeface="Arial"/>
              </a:rPr>
              <a:t> across the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GB" sz="1400" dirty="0">
                <a:latin typeface="Arial"/>
                <a:ea typeface="等线"/>
                <a:cs typeface="Arial"/>
              </a:rPr>
              <a:t>Errors are </a:t>
            </a:r>
            <a:r>
              <a:rPr kumimoji="1" lang="en-GB" sz="1400" dirty="0">
                <a:solidFill>
                  <a:schemeClr val="accent2"/>
                </a:solidFill>
                <a:latin typeface="Arial"/>
                <a:ea typeface="等线"/>
                <a:cs typeface="Arial"/>
              </a:rPr>
              <a:t>lowest in winter</a:t>
            </a:r>
            <a:r>
              <a:rPr kumimoji="1" lang="en-GB" sz="1400" dirty="0">
                <a:latin typeface="Arial"/>
                <a:ea typeface="等线"/>
                <a:cs typeface="Arial"/>
              </a:rPr>
              <a:t> and rise and </a:t>
            </a:r>
            <a:r>
              <a:rPr kumimoji="1" lang="en-GB" sz="1400" dirty="0">
                <a:solidFill>
                  <a:schemeClr val="accent2"/>
                </a:solidFill>
                <a:latin typeface="Arial"/>
                <a:ea typeface="等线"/>
                <a:cs typeface="Arial"/>
              </a:rPr>
              <a:t>peak in spring</a:t>
            </a:r>
            <a:r>
              <a:rPr kumimoji="1" lang="en-GB" sz="1400" dirty="0">
                <a:latin typeface="Arial"/>
                <a:ea typeface="等线"/>
                <a:cs typeface="Arial"/>
              </a:rPr>
              <a:t>.</a:t>
            </a:r>
            <a:endParaRPr lang="en-GB" sz="1400" dirty="0">
              <a:latin typeface="Arial"/>
              <a:ea typeface="等线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GB" sz="1400" dirty="0">
                <a:latin typeface="Arial"/>
                <a:ea typeface="等线"/>
                <a:cs typeface="Arial"/>
              </a:rPr>
              <a:t>Second weaker performance peak in summer.</a:t>
            </a:r>
            <a:endParaRPr lang="en-GB" sz="1400" dirty="0">
              <a:latin typeface="Arial"/>
              <a:ea typeface="等线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GB" sz="1400" dirty="0">
                <a:solidFill>
                  <a:schemeClr val="accent2"/>
                </a:solidFill>
                <a:latin typeface="Arial"/>
                <a:ea typeface="等线"/>
                <a:cs typeface="Arial"/>
              </a:rPr>
              <a:t>RMSE rises more sharply than MAE in the harder months</a:t>
            </a:r>
            <a:r>
              <a:rPr kumimoji="1" lang="en-GB" sz="1400" dirty="0">
                <a:latin typeface="Arial"/>
                <a:ea typeface="等线"/>
                <a:cs typeface="Arial"/>
              </a:rPr>
              <a:t>.</a:t>
            </a:r>
            <a:endParaRPr lang="en-GB" sz="1400" dirty="0">
              <a:latin typeface="Arial"/>
              <a:ea typeface="等线"/>
              <a:cs typeface="Arial"/>
            </a:endParaRPr>
          </a:p>
        </p:txBody>
      </p:sp>
      <p:sp>
        <p:nvSpPr>
          <p:cNvPr id="9" name="文本框 52">
            <a:extLst>
              <a:ext uri="{FF2B5EF4-FFF2-40B4-BE49-F238E27FC236}">
                <a16:creationId xmlns:a16="http://schemas.microsoft.com/office/drawing/2014/main" id="{67D71D06-F6AF-EA44-A100-612ADA2E4421}"/>
              </a:ext>
            </a:extLst>
          </p:cNvPr>
          <p:cNvSpPr txBox="1"/>
          <p:nvPr/>
        </p:nvSpPr>
        <p:spPr>
          <a:xfrm>
            <a:off x="529612" y="6175843"/>
            <a:ext cx="1086612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en-GB" sz="1600" b="1" dirty="0">
                <a:solidFill>
                  <a:schemeClr val="accent2"/>
                </a:solidFill>
                <a:latin typeface="Arial"/>
                <a:ea typeface="等线"/>
                <a:cs typeface="Arial"/>
                <a:sym typeface="+mn-ea"/>
              </a:rPr>
              <a:t>Pre-2050 CV shows strong model skill; final model was then checked on true post-2050 holdout data.</a:t>
            </a:r>
            <a:endParaRPr lang="en-US" altLang="zh-CN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20" grpId="0" animBg="1"/>
      <p:bldP spid="22" grpId="0"/>
      <p:bldP spid="7" grpId="0" animBg="1"/>
      <p:bldP spid="8" grpId="0" build="p" animBg="1"/>
      <p:bldP spid="5" grpId="0" animBg="1"/>
      <p:bldP spid="6" grpId="0" build="p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 flipV="1">
            <a:off x="7775575" y="4902200"/>
            <a:ext cx="4196715" cy="11766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等线" panose="02010600030101010101" pitchFamily="2" charset="-122"/>
            </a:endParaRPr>
          </a:p>
        </p:txBody>
      </p:sp>
      <p:sp>
        <p:nvSpPr>
          <p:cNvPr id="55" name="矩形 54"/>
          <p:cNvSpPr/>
          <p:nvPr/>
        </p:nvSpPr>
        <p:spPr>
          <a:xfrm flipV="1">
            <a:off x="7762240" y="2075815"/>
            <a:ext cx="4216400" cy="711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等线" panose="02010600030101010101" pitchFamily="2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165" y="1615429"/>
            <a:ext cx="7241491" cy="4320000"/>
          </a:xfrm>
          <a:prstGeom prst="rect">
            <a:avLst/>
          </a:prstGeom>
        </p:spPr>
      </p:pic>
      <p:cxnSp>
        <p:nvCxnSpPr>
          <p:cNvPr id="21" name="直线连接符 10"/>
          <p:cNvCxnSpPr/>
          <p:nvPr/>
        </p:nvCxnSpPr>
        <p:spPr>
          <a:xfrm>
            <a:off x="336069" y="1268760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279650" y="548640"/>
            <a:ext cx="9285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3200" b="1">
                <a:latin typeface="Arial" panose="020B0604020202020204" pitchFamily="34" charset="0"/>
                <a:cs typeface="Arial" panose="020B0604020202020204" pitchFamily="34" charset="0"/>
              </a:rPr>
              <a:t>Feature Importance</a:t>
            </a:r>
            <a:endParaRPr lang="en-GB" sz="3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39190" y="1278255"/>
            <a:ext cx="5656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Ranked feature importances for the full XGBoost model</a:t>
            </a:r>
          </a:p>
        </p:txBody>
      </p:sp>
      <p:cxnSp>
        <p:nvCxnSpPr>
          <p:cNvPr id="11" name="直线连接符 4"/>
          <p:cNvCxnSpPr/>
          <p:nvPr/>
        </p:nvCxnSpPr>
        <p:spPr>
          <a:xfrm flipV="1">
            <a:off x="295388" y="1614379"/>
            <a:ext cx="6963410" cy="10160"/>
          </a:xfrm>
          <a:prstGeom prst="line">
            <a:avLst/>
          </a:prstGeom>
          <a:noFill/>
          <a:ln w="28575" cap="flat" cmpd="sng" algn="ctr">
            <a:solidFill>
              <a:srgbClr val="1E324D"/>
            </a:solidFill>
            <a:prstDash val="solid"/>
            <a:miter lim="800000"/>
          </a:ln>
          <a:effectLst/>
        </p:spPr>
      </p:cxnSp>
      <p:cxnSp>
        <p:nvCxnSpPr>
          <p:cNvPr id="14" name="直线连接符 8"/>
          <p:cNvCxnSpPr/>
          <p:nvPr/>
        </p:nvCxnSpPr>
        <p:spPr>
          <a:xfrm flipV="1">
            <a:off x="7623030" y="1615649"/>
            <a:ext cx="4408805" cy="11430"/>
          </a:xfrm>
          <a:prstGeom prst="line">
            <a:avLst/>
          </a:prstGeom>
          <a:noFill/>
          <a:ln w="28575" cap="flat" cmpd="sng" algn="ctr">
            <a:solidFill>
              <a:srgbClr val="1E324D"/>
            </a:solidFill>
            <a:prstDash val="solid"/>
            <a:miter lim="800000"/>
          </a:ln>
          <a:effectLst/>
        </p:spPr>
      </p:cxnSp>
      <p:cxnSp>
        <p:nvCxnSpPr>
          <p:cNvPr id="47" name="直线连接符 46"/>
          <p:cNvCxnSpPr/>
          <p:nvPr/>
        </p:nvCxnSpPr>
        <p:spPr>
          <a:xfrm>
            <a:off x="405332" y="6656209"/>
            <a:ext cx="11683999" cy="0"/>
          </a:xfrm>
          <a:prstGeom prst="line">
            <a:avLst/>
          </a:prstGeom>
          <a:noFill/>
          <a:ln w="28575" cap="flat" cmpd="sng" algn="ctr">
            <a:solidFill>
              <a:srgbClr val="B92F23"/>
            </a:solidFill>
            <a:prstDash val="solid"/>
            <a:miter lim="800000"/>
          </a:ln>
          <a:effectLst/>
        </p:spPr>
      </p:cxnSp>
      <p:sp>
        <p:nvSpPr>
          <p:cNvPr id="67" name="Google Shape;9889;p89"/>
          <p:cNvSpPr/>
          <p:nvPr/>
        </p:nvSpPr>
        <p:spPr>
          <a:xfrm>
            <a:off x="7756525" y="1318260"/>
            <a:ext cx="258445" cy="225425"/>
          </a:xfrm>
          <a:custGeom>
            <a:avLst/>
            <a:gdLst/>
            <a:ahLst/>
            <a:cxnLst/>
            <a:rect l="l" t="t" r="r" b="b"/>
            <a:pathLst>
              <a:path w="11504" h="11504" extrusionOk="0">
                <a:moveTo>
                  <a:pt x="1" y="1"/>
                </a:moveTo>
                <a:lnTo>
                  <a:pt x="1" y="11503"/>
                </a:lnTo>
                <a:lnTo>
                  <a:pt x="11503" y="11503"/>
                </a:lnTo>
                <a:lnTo>
                  <a:pt x="11503" y="10241"/>
                </a:lnTo>
                <a:lnTo>
                  <a:pt x="10908" y="10241"/>
                </a:lnTo>
                <a:lnTo>
                  <a:pt x="10908" y="10789"/>
                </a:lnTo>
                <a:lnTo>
                  <a:pt x="10146" y="10789"/>
                </a:lnTo>
                <a:lnTo>
                  <a:pt x="10146" y="5026"/>
                </a:lnTo>
                <a:lnTo>
                  <a:pt x="8288" y="6383"/>
                </a:lnTo>
                <a:lnTo>
                  <a:pt x="7312" y="5931"/>
                </a:lnTo>
                <a:lnTo>
                  <a:pt x="5883" y="7574"/>
                </a:lnTo>
                <a:lnTo>
                  <a:pt x="4740" y="7002"/>
                </a:lnTo>
                <a:lnTo>
                  <a:pt x="3192" y="8907"/>
                </a:lnTo>
                <a:lnTo>
                  <a:pt x="2168" y="8526"/>
                </a:lnTo>
                <a:lnTo>
                  <a:pt x="763" y="10003"/>
                </a:lnTo>
                <a:lnTo>
                  <a:pt x="763" y="9027"/>
                </a:lnTo>
                <a:lnTo>
                  <a:pt x="1977" y="7717"/>
                </a:lnTo>
                <a:lnTo>
                  <a:pt x="3001" y="8098"/>
                </a:lnTo>
                <a:lnTo>
                  <a:pt x="4573" y="6169"/>
                </a:lnTo>
                <a:lnTo>
                  <a:pt x="5692" y="6740"/>
                </a:lnTo>
                <a:lnTo>
                  <a:pt x="7097" y="5097"/>
                </a:lnTo>
                <a:lnTo>
                  <a:pt x="8169" y="5597"/>
                </a:lnTo>
                <a:lnTo>
                  <a:pt x="10098" y="4240"/>
                </a:lnTo>
                <a:lnTo>
                  <a:pt x="10098" y="2192"/>
                </a:lnTo>
                <a:lnTo>
                  <a:pt x="8884" y="2954"/>
                </a:lnTo>
                <a:lnTo>
                  <a:pt x="7669" y="2716"/>
                </a:lnTo>
                <a:lnTo>
                  <a:pt x="5526" y="4811"/>
                </a:lnTo>
                <a:lnTo>
                  <a:pt x="4549" y="4478"/>
                </a:lnTo>
                <a:lnTo>
                  <a:pt x="2668" y="6502"/>
                </a:lnTo>
                <a:lnTo>
                  <a:pt x="1811" y="5954"/>
                </a:lnTo>
                <a:lnTo>
                  <a:pt x="739" y="7193"/>
                </a:lnTo>
                <a:lnTo>
                  <a:pt x="739" y="692"/>
                </a:lnTo>
                <a:lnTo>
                  <a:pt x="1263" y="692"/>
                </a:lnTo>
                <a:lnTo>
                  <a:pt x="1263" y="1"/>
                </a:lnTo>
                <a:close/>
              </a:path>
            </a:pathLst>
          </a:custGeom>
          <a:solidFill>
            <a:srgbClr val="B92F2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等线" panose="02010600030101010101" pitchFamily="2" charset="-122"/>
              <a:ea typeface="+mn-ea"/>
              <a:cs typeface="+mn-ea"/>
            </a:endParaRPr>
          </a:p>
        </p:txBody>
      </p:sp>
      <p:sp>
        <p:nvSpPr>
          <p:cNvPr id="69" name="矩形 68"/>
          <p:cNvSpPr/>
          <p:nvPr>
            <p:custDataLst>
              <p:tags r:id="rId1"/>
            </p:custDataLst>
          </p:nvPr>
        </p:nvSpPr>
        <p:spPr>
          <a:xfrm>
            <a:off x="7712710" y="1804035"/>
            <a:ext cx="4317365" cy="4460240"/>
          </a:xfrm>
          <a:prstGeom prst="rect">
            <a:avLst/>
          </a:prstGeom>
          <a:noFill/>
          <a:ln w="19050" cap="flat" cmpd="sng" algn="ctr">
            <a:solidFill>
              <a:srgbClr val="FFFFFF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553759" y="5958935"/>
            <a:ext cx="6925310" cy="58928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49237" y="5991901"/>
            <a:ext cx="6225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This motivated </a:t>
            </a:r>
            <a:r>
              <a:rPr kumimoji="1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an ablation test </a:t>
            </a:r>
            <a:r>
              <a:rPr kumimoji="1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to assess how strongly model skill depended on TREFHT.</a:t>
            </a:r>
            <a:endParaRPr lang="en-US" altLang="zh-CN" sz="1400" b="1" dirty="0"/>
          </a:p>
        </p:txBody>
      </p:sp>
      <p:sp>
        <p:nvSpPr>
          <p:cNvPr id="24" name="文本框 23"/>
          <p:cNvSpPr txBox="1"/>
          <p:nvPr/>
        </p:nvSpPr>
        <p:spPr>
          <a:xfrm>
            <a:off x="9055735" y="1275080"/>
            <a:ext cx="17119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sz="1600" b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+mn-ea"/>
              </a:rPr>
              <a:t>Interpretation</a:t>
            </a:r>
            <a:endParaRPr kumimoji="1" lang="en-US" altLang="en-GB" sz="1600" b="1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2"/>
            </p:custDataLst>
          </p:nvPr>
        </p:nvSpPr>
        <p:spPr>
          <a:xfrm>
            <a:off x="7756525" y="2122170"/>
            <a:ext cx="4222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dirty="0">
                <a:solidFill>
                  <a:schemeClr val="accent2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+mn-ea"/>
              </a:rPr>
              <a:t>TREFHT</a:t>
            </a:r>
            <a:r>
              <a:rPr kumimoji="1" lang="en-GB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+mn-ea"/>
              </a:rPr>
              <a:t> is the dominant predictor by a large margin (importance ~0.64).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3"/>
            </p:custDataLst>
          </p:nvPr>
        </p:nvSpPr>
        <p:spPr>
          <a:xfrm>
            <a:off x="7756525" y="2970530"/>
            <a:ext cx="4222750" cy="1728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FSNS_lag1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is the second most important feature, suggesting that shortwave energy input from the previous month also contributes meaningfully to prediction (importance ~0.23).</a:t>
            </a:r>
          </a:p>
        </p:txBody>
      </p:sp>
      <p:sp>
        <p:nvSpPr>
          <p:cNvPr id="32" name="文本框 31"/>
          <p:cNvSpPr txBox="1"/>
          <p:nvPr>
            <p:custDataLst>
              <p:tags r:id="rId4"/>
            </p:custDataLst>
          </p:nvPr>
        </p:nvSpPr>
        <p:spPr>
          <a:xfrm>
            <a:off x="7762240" y="4902835"/>
            <a:ext cx="42227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Most remaining variables have much smaller importances, implying the model’s predictive skill is concentrated in a small set of key predictors.</a:t>
            </a:r>
          </a:p>
        </p:txBody>
      </p:sp>
      <p:grpSp>
        <p:nvGrpSpPr>
          <p:cNvPr id="3" name="Google Shape;6238;p78"/>
          <p:cNvGrpSpPr/>
          <p:nvPr/>
        </p:nvGrpSpPr>
        <p:grpSpPr>
          <a:xfrm>
            <a:off x="656227" y="6029944"/>
            <a:ext cx="471738" cy="468661"/>
            <a:chOff x="580725" y="3617925"/>
            <a:chExt cx="299325" cy="297375"/>
          </a:xfrm>
          <a:solidFill>
            <a:schemeClr val="accent2"/>
          </a:solidFill>
        </p:grpSpPr>
        <p:sp>
          <p:nvSpPr>
            <p:cNvPr id="4" name="Google Shape;6239;p78"/>
            <p:cNvSpPr/>
            <p:nvPr/>
          </p:nvSpPr>
          <p:spPr>
            <a:xfrm>
              <a:off x="6090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07"/>
                    <a:pt x="473" y="2048"/>
                    <a:pt x="1041" y="2048"/>
                  </a:cubicBezTo>
                  <a:cubicBezTo>
                    <a:pt x="1608" y="2048"/>
                    <a:pt x="2049" y="1607"/>
                    <a:pt x="2049" y="1040"/>
                  </a:cubicBezTo>
                  <a:cubicBezTo>
                    <a:pt x="2049" y="473"/>
                    <a:pt x="1608" y="0"/>
                    <a:pt x="10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/>
            </a:p>
          </p:txBody>
        </p:sp>
        <p:sp>
          <p:nvSpPr>
            <p:cNvPr id="5" name="Google Shape;6240;p78"/>
            <p:cNvSpPr/>
            <p:nvPr/>
          </p:nvSpPr>
          <p:spPr>
            <a:xfrm>
              <a:off x="668950" y="3617925"/>
              <a:ext cx="122875" cy="104475"/>
            </a:xfrm>
            <a:custGeom>
              <a:avLst/>
              <a:gdLst/>
              <a:ahLst/>
              <a:cxnLst/>
              <a:rect l="l" t="t" r="r" b="b"/>
              <a:pathLst>
                <a:path w="4915" h="4179" extrusionOk="0"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lnTo>
                    <a:pt x="0" y="1797"/>
                  </a:lnTo>
                  <a:cubicBezTo>
                    <a:pt x="0" y="2364"/>
                    <a:pt x="473" y="2805"/>
                    <a:pt x="1040" y="2805"/>
                  </a:cubicBezTo>
                  <a:lnTo>
                    <a:pt x="2300" y="2805"/>
                  </a:lnTo>
                  <a:lnTo>
                    <a:pt x="3592" y="4097"/>
                  </a:lnTo>
                  <a:cubicBezTo>
                    <a:pt x="3672" y="4156"/>
                    <a:pt x="3764" y="4178"/>
                    <a:pt x="3853" y="4178"/>
                  </a:cubicBezTo>
                  <a:cubicBezTo>
                    <a:pt x="3905" y="4178"/>
                    <a:pt x="3955" y="4171"/>
                    <a:pt x="4001" y="4160"/>
                  </a:cubicBezTo>
                  <a:cubicBezTo>
                    <a:pt x="4127" y="4097"/>
                    <a:pt x="4190" y="3939"/>
                    <a:pt x="4190" y="3844"/>
                  </a:cubicBezTo>
                  <a:lnTo>
                    <a:pt x="4190" y="2742"/>
                  </a:lnTo>
                  <a:cubicBezTo>
                    <a:pt x="4600" y="2584"/>
                    <a:pt x="4915" y="2206"/>
                    <a:pt x="4915" y="1734"/>
                  </a:cubicBezTo>
                  <a:lnTo>
                    <a:pt x="4915" y="1072"/>
                  </a:lnTo>
                  <a:cubicBezTo>
                    <a:pt x="4915" y="473"/>
                    <a:pt x="4411" y="1"/>
                    <a:pt x="38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/>
            </a:p>
          </p:txBody>
        </p:sp>
        <p:sp>
          <p:nvSpPr>
            <p:cNvPr id="6" name="Google Shape;6241;p78"/>
            <p:cNvSpPr/>
            <p:nvPr/>
          </p:nvSpPr>
          <p:spPr>
            <a:xfrm>
              <a:off x="580725" y="3721900"/>
              <a:ext cx="141800" cy="192025"/>
            </a:xfrm>
            <a:custGeom>
              <a:avLst/>
              <a:gdLst/>
              <a:ahLst/>
              <a:cxnLst/>
              <a:rect l="l" t="t" r="r" b="b"/>
              <a:pathLst>
                <a:path w="5672" h="7681" extrusionOk="0">
                  <a:moveTo>
                    <a:pt x="3340" y="4506"/>
                  </a:moveTo>
                  <a:lnTo>
                    <a:pt x="3718" y="5577"/>
                  </a:lnTo>
                  <a:lnTo>
                    <a:pt x="1229" y="5577"/>
                  </a:lnTo>
                  <a:lnTo>
                    <a:pt x="1450" y="4600"/>
                  </a:lnTo>
                  <a:lnTo>
                    <a:pt x="1450" y="4506"/>
                  </a:lnTo>
                  <a:close/>
                  <a:moveTo>
                    <a:pt x="1450" y="1"/>
                  </a:moveTo>
                  <a:cubicBezTo>
                    <a:pt x="1135" y="1"/>
                    <a:pt x="883" y="221"/>
                    <a:pt x="788" y="505"/>
                  </a:cubicBezTo>
                  <a:lnTo>
                    <a:pt x="95" y="3624"/>
                  </a:lnTo>
                  <a:cubicBezTo>
                    <a:pt x="1" y="4096"/>
                    <a:pt x="316" y="4506"/>
                    <a:pt x="757" y="4506"/>
                  </a:cubicBezTo>
                  <a:lnTo>
                    <a:pt x="95" y="7247"/>
                  </a:lnTo>
                  <a:cubicBezTo>
                    <a:pt x="32" y="7436"/>
                    <a:pt x="158" y="7593"/>
                    <a:pt x="316" y="7656"/>
                  </a:cubicBezTo>
                  <a:cubicBezTo>
                    <a:pt x="350" y="7668"/>
                    <a:pt x="383" y="7673"/>
                    <a:pt x="415" y="7673"/>
                  </a:cubicBezTo>
                  <a:cubicBezTo>
                    <a:pt x="559" y="7673"/>
                    <a:pt x="679" y="7565"/>
                    <a:pt x="757" y="7436"/>
                  </a:cubicBezTo>
                  <a:lnTo>
                    <a:pt x="1040" y="6301"/>
                  </a:lnTo>
                  <a:lnTo>
                    <a:pt x="3939" y="6301"/>
                  </a:lnTo>
                  <a:lnTo>
                    <a:pt x="4254" y="7152"/>
                  </a:lnTo>
                  <a:cubicBezTo>
                    <a:pt x="4358" y="7492"/>
                    <a:pt x="4637" y="7680"/>
                    <a:pt x="4908" y="7680"/>
                  </a:cubicBezTo>
                  <a:cubicBezTo>
                    <a:pt x="4964" y="7680"/>
                    <a:pt x="5019" y="7672"/>
                    <a:pt x="5073" y="7656"/>
                  </a:cubicBezTo>
                  <a:cubicBezTo>
                    <a:pt x="5451" y="7593"/>
                    <a:pt x="5672" y="7184"/>
                    <a:pt x="5609" y="6837"/>
                  </a:cubicBezTo>
                  <a:lnTo>
                    <a:pt x="4569" y="3687"/>
                  </a:lnTo>
                  <a:cubicBezTo>
                    <a:pt x="4506" y="3372"/>
                    <a:pt x="4222" y="3183"/>
                    <a:pt x="3907" y="3183"/>
                  </a:cubicBezTo>
                  <a:lnTo>
                    <a:pt x="3183" y="3183"/>
                  </a:lnTo>
                  <a:cubicBezTo>
                    <a:pt x="2994" y="3183"/>
                    <a:pt x="2836" y="3025"/>
                    <a:pt x="2836" y="2836"/>
                  </a:cubicBezTo>
                  <a:cubicBezTo>
                    <a:pt x="2836" y="2615"/>
                    <a:pt x="2994" y="2458"/>
                    <a:pt x="3183" y="2458"/>
                  </a:cubicBezTo>
                  <a:lnTo>
                    <a:pt x="4222" y="2458"/>
                  </a:lnTo>
                  <a:cubicBezTo>
                    <a:pt x="4600" y="2458"/>
                    <a:pt x="4915" y="2143"/>
                    <a:pt x="4915" y="1765"/>
                  </a:cubicBezTo>
                  <a:cubicBezTo>
                    <a:pt x="4915" y="1355"/>
                    <a:pt x="4600" y="1040"/>
                    <a:pt x="4222" y="1040"/>
                  </a:cubicBezTo>
                  <a:lnTo>
                    <a:pt x="2332" y="1040"/>
                  </a:lnTo>
                  <a:lnTo>
                    <a:pt x="2080" y="379"/>
                  </a:lnTo>
                  <a:cubicBezTo>
                    <a:pt x="1985" y="158"/>
                    <a:pt x="1733" y="1"/>
                    <a:pt x="1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/>
            </a:p>
          </p:txBody>
        </p:sp>
        <p:sp>
          <p:nvSpPr>
            <p:cNvPr id="7" name="Google Shape;6242;p78"/>
            <p:cNvSpPr/>
            <p:nvPr/>
          </p:nvSpPr>
          <p:spPr>
            <a:xfrm>
              <a:off x="8004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09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07"/>
                    <a:pt x="442" y="2048"/>
                    <a:pt x="1009" y="2048"/>
                  </a:cubicBezTo>
                  <a:cubicBezTo>
                    <a:pt x="1576" y="2048"/>
                    <a:pt x="2048" y="1607"/>
                    <a:pt x="2048" y="1040"/>
                  </a:cubicBez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/>
            </a:p>
          </p:txBody>
        </p:sp>
        <p:sp>
          <p:nvSpPr>
            <p:cNvPr id="8" name="Google Shape;6243;p78"/>
            <p:cNvSpPr/>
            <p:nvPr/>
          </p:nvSpPr>
          <p:spPr>
            <a:xfrm>
              <a:off x="738250" y="3722700"/>
              <a:ext cx="141800" cy="192600"/>
            </a:xfrm>
            <a:custGeom>
              <a:avLst/>
              <a:gdLst/>
              <a:ahLst/>
              <a:cxnLst/>
              <a:rect l="l" t="t" r="r" b="b"/>
              <a:pathLst>
                <a:path w="5672" h="7704" extrusionOk="0">
                  <a:moveTo>
                    <a:pt x="4222" y="4474"/>
                  </a:moveTo>
                  <a:lnTo>
                    <a:pt x="4222" y="4568"/>
                  </a:lnTo>
                  <a:lnTo>
                    <a:pt x="4443" y="5545"/>
                  </a:lnTo>
                  <a:lnTo>
                    <a:pt x="1985" y="5545"/>
                  </a:lnTo>
                  <a:lnTo>
                    <a:pt x="2332" y="4474"/>
                  </a:lnTo>
                  <a:close/>
                  <a:moveTo>
                    <a:pt x="4222" y="0"/>
                  </a:moveTo>
                  <a:cubicBezTo>
                    <a:pt x="3939" y="0"/>
                    <a:pt x="3718" y="158"/>
                    <a:pt x="3592" y="378"/>
                  </a:cubicBezTo>
                  <a:lnTo>
                    <a:pt x="3340" y="1071"/>
                  </a:lnTo>
                  <a:lnTo>
                    <a:pt x="1450" y="1071"/>
                  </a:lnTo>
                  <a:cubicBezTo>
                    <a:pt x="1072" y="1071"/>
                    <a:pt x="757" y="1386"/>
                    <a:pt x="757" y="1764"/>
                  </a:cubicBezTo>
                  <a:cubicBezTo>
                    <a:pt x="757" y="2174"/>
                    <a:pt x="1072" y="2489"/>
                    <a:pt x="1450" y="2489"/>
                  </a:cubicBezTo>
                  <a:lnTo>
                    <a:pt x="2490" y="2489"/>
                  </a:lnTo>
                  <a:cubicBezTo>
                    <a:pt x="2679" y="2489"/>
                    <a:pt x="2836" y="2646"/>
                    <a:pt x="2836" y="2835"/>
                  </a:cubicBezTo>
                  <a:cubicBezTo>
                    <a:pt x="2836" y="3024"/>
                    <a:pt x="2679" y="3182"/>
                    <a:pt x="2490" y="3182"/>
                  </a:cubicBezTo>
                  <a:lnTo>
                    <a:pt x="1765" y="3182"/>
                  </a:lnTo>
                  <a:cubicBezTo>
                    <a:pt x="1450" y="3182"/>
                    <a:pt x="1198" y="3371"/>
                    <a:pt x="1103" y="3686"/>
                  </a:cubicBezTo>
                  <a:lnTo>
                    <a:pt x="95" y="6837"/>
                  </a:lnTo>
                  <a:cubicBezTo>
                    <a:pt x="1" y="7215"/>
                    <a:pt x="190" y="7593"/>
                    <a:pt x="599" y="7687"/>
                  </a:cubicBezTo>
                  <a:cubicBezTo>
                    <a:pt x="643" y="7696"/>
                    <a:pt x="690" y="7701"/>
                    <a:pt x="738" y="7701"/>
                  </a:cubicBezTo>
                  <a:cubicBezTo>
                    <a:pt x="1030" y="7701"/>
                    <a:pt x="1364" y="7531"/>
                    <a:pt x="1418" y="7152"/>
                  </a:cubicBezTo>
                  <a:lnTo>
                    <a:pt x="1733" y="6301"/>
                  </a:lnTo>
                  <a:lnTo>
                    <a:pt x="4632" y="6301"/>
                  </a:lnTo>
                  <a:lnTo>
                    <a:pt x="4915" y="7435"/>
                  </a:lnTo>
                  <a:cubicBezTo>
                    <a:pt x="4967" y="7591"/>
                    <a:pt x="5104" y="7704"/>
                    <a:pt x="5257" y="7704"/>
                  </a:cubicBezTo>
                  <a:cubicBezTo>
                    <a:pt x="5290" y="7704"/>
                    <a:pt x="5323" y="7698"/>
                    <a:pt x="5356" y="7687"/>
                  </a:cubicBezTo>
                  <a:cubicBezTo>
                    <a:pt x="5546" y="7624"/>
                    <a:pt x="5672" y="7435"/>
                    <a:pt x="5577" y="7246"/>
                  </a:cubicBezTo>
                  <a:lnTo>
                    <a:pt x="4915" y="4537"/>
                  </a:lnTo>
                  <a:cubicBezTo>
                    <a:pt x="5356" y="4474"/>
                    <a:pt x="5672" y="4064"/>
                    <a:pt x="5609" y="3623"/>
                  </a:cubicBezTo>
                  <a:lnTo>
                    <a:pt x="4884" y="504"/>
                  </a:lnTo>
                  <a:cubicBezTo>
                    <a:pt x="4821" y="189"/>
                    <a:pt x="4537" y="0"/>
                    <a:pt x="42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/>
            </a:p>
          </p:txBody>
        </p:sp>
      </p:grpSp>
      <p:grpSp>
        <p:nvGrpSpPr>
          <p:cNvPr id="10" name="Google Shape;6175;p78"/>
          <p:cNvGrpSpPr/>
          <p:nvPr/>
        </p:nvGrpSpPr>
        <p:grpSpPr>
          <a:xfrm>
            <a:off x="428149" y="1301907"/>
            <a:ext cx="323419" cy="272706"/>
            <a:chOff x="-62151950" y="4111775"/>
            <a:chExt cx="318225" cy="316650"/>
          </a:xfrm>
          <a:solidFill>
            <a:schemeClr val="accent2"/>
          </a:solidFill>
        </p:grpSpPr>
        <p:sp>
          <p:nvSpPr>
            <p:cNvPr id="12" name="Google Shape;6176;p78"/>
            <p:cNvSpPr/>
            <p:nvPr/>
          </p:nvSpPr>
          <p:spPr>
            <a:xfrm>
              <a:off x="-62151950" y="4407925"/>
              <a:ext cx="318225" cy="20500"/>
            </a:xfrm>
            <a:custGeom>
              <a:avLst/>
              <a:gdLst/>
              <a:ahLst/>
              <a:cxnLst/>
              <a:rect l="l" t="t" r="r" b="b"/>
              <a:pathLst>
                <a:path w="1272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/>
            </a:p>
          </p:txBody>
        </p:sp>
        <p:sp>
          <p:nvSpPr>
            <p:cNvPr id="13" name="Google Shape;6177;p78"/>
            <p:cNvSpPr/>
            <p:nvPr/>
          </p:nvSpPr>
          <p:spPr>
            <a:xfrm>
              <a:off x="-62151950" y="4283475"/>
              <a:ext cx="84300" cy="104000"/>
            </a:xfrm>
            <a:custGeom>
              <a:avLst/>
              <a:gdLst/>
              <a:ahLst/>
              <a:cxnLst/>
              <a:rect l="l" t="t" r="r" b="b"/>
              <a:pathLst>
                <a:path w="3372" h="4160" extrusionOk="0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/>
            </a:p>
          </p:txBody>
        </p:sp>
        <p:sp>
          <p:nvSpPr>
            <p:cNvPr id="15" name="Google Shape;6178;p78"/>
            <p:cNvSpPr/>
            <p:nvPr/>
          </p:nvSpPr>
          <p:spPr>
            <a:xfrm>
              <a:off x="-62033800" y="4111775"/>
              <a:ext cx="82725" cy="275700"/>
            </a:xfrm>
            <a:custGeom>
              <a:avLst/>
              <a:gdLst/>
              <a:ahLst/>
              <a:cxnLst/>
              <a:rect l="l" t="t" r="r" b="b"/>
              <a:pathLst>
                <a:path w="3309" h="11028" extrusionOk="0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/>
            </a:p>
          </p:txBody>
        </p:sp>
        <p:sp>
          <p:nvSpPr>
            <p:cNvPr id="16" name="Google Shape;6179;p78"/>
            <p:cNvSpPr/>
            <p:nvPr/>
          </p:nvSpPr>
          <p:spPr>
            <a:xfrm>
              <a:off x="-61916450" y="4200775"/>
              <a:ext cx="82725" cy="186700"/>
            </a:xfrm>
            <a:custGeom>
              <a:avLst/>
              <a:gdLst/>
              <a:ahLst/>
              <a:cxnLst/>
              <a:rect l="l" t="t" r="r" b="b"/>
              <a:pathLst>
                <a:path w="3309" h="7468" extrusionOk="0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55" grpId="0" animBg="1"/>
      <p:bldP spid="70" grpId="0" animBg="1"/>
      <p:bldP spid="23" grpId="0"/>
      <p:bldP spid="25" grpId="0"/>
      <p:bldP spid="27" grpId="0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线连接符 10"/>
          <p:cNvCxnSpPr/>
          <p:nvPr/>
        </p:nvCxnSpPr>
        <p:spPr>
          <a:xfrm>
            <a:off x="336069" y="1268760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279650" y="548640"/>
            <a:ext cx="9285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TREFHT Ablation</a:t>
            </a:r>
          </a:p>
        </p:txBody>
      </p:sp>
      <p:cxnSp>
        <p:nvCxnSpPr>
          <p:cNvPr id="136" name="直线连接符 135"/>
          <p:cNvCxnSpPr/>
          <p:nvPr>
            <p:custDataLst>
              <p:tags r:id="rId1"/>
            </p:custDataLst>
          </p:nvPr>
        </p:nvCxnSpPr>
        <p:spPr>
          <a:xfrm flipV="1">
            <a:off x="369015" y="1916832"/>
            <a:ext cx="5004000" cy="1333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35"/>
          <p:cNvCxnSpPr/>
          <p:nvPr>
            <p:custDataLst>
              <p:tags r:id="rId2"/>
            </p:custDataLst>
          </p:nvPr>
        </p:nvCxnSpPr>
        <p:spPr>
          <a:xfrm flipV="1">
            <a:off x="360760" y="1429246"/>
            <a:ext cx="5004000" cy="1333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4615" y="1526639"/>
            <a:ext cx="5018400" cy="307777"/>
          </a:xfrm>
          <a:prstGeom prst="rect">
            <a:avLst/>
          </a:prstGeom>
          <a:noFill/>
          <a:ln>
            <a:solidFill>
              <a:srgbClr val="C0504D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Removed features: 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TREFHT and TREFHT_lag1.</a:t>
            </a:r>
          </a:p>
        </p:txBody>
      </p:sp>
      <p:sp>
        <p:nvSpPr>
          <p:cNvPr id="13" name="矩形 1"/>
          <p:cNvSpPr/>
          <p:nvPr/>
        </p:nvSpPr>
        <p:spPr>
          <a:xfrm>
            <a:off x="5807969" y="1435636"/>
            <a:ext cx="6120680" cy="398780"/>
          </a:xfrm>
          <a:prstGeom prst="rect">
            <a:avLst/>
          </a:prstGeom>
          <a:solidFill>
            <a:srgbClr val="B92F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GB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Seasonal impact of removing TREFHT</a:t>
            </a:r>
          </a:p>
        </p:txBody>
      </p:sp>
      <p:sp>
        <p:nvSpPr>
          <p:cNvPr id="14" name="矩形 4"/>
          <p:cNvSpPr/>
          <p:nvPr/>
        </p:nvSpPr>
        <p:spPr>
          <a:xfrm flipV="1">
            <a:off x="5807968" y="1847749"/>
            <a:ext cx="6120680" cy="3440123"/>
          </a:xfrm>
          <a:prstGeom prst="rect">
            <a:avLst/>
          </a:prstGeom>
          <a:noFill/>
          <a:ln w="22225" cap="flat" cmpd="sng" algn="ctr">
            <a:solidFill>
              <a:srgbClr val="1E324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6"/>
          <p:cNvSpPr txBox="1"/>
          <p:nvPr/>
        </p:nvSpPr>
        <p:spPr>
          <a:xfrm>
            <a:off x="5879976" y="1412776"/>
            <a:ext cx="403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GB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6" name="矩形 13"/>
          <p:cNvSpPr/>
          <p:nvPr/>
        </p:nvSpPr>
        <p:spPr>
          <a:xfrm>
            <a:off x="5807968" y="5422364"/>
            <a:ext cx="6120680" cy="11029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100000">
                <a:srgbClr val="B92F23">
                  <a:alpha val="18057"/>
                </a:srgbClr>
              </a:gs>
            </a:gsLst>
            <a:lin ang="2700000" scaled="1"/>
            <a:tileRect/>
          </a:gradFill>
          <a:ln w="12700" cap="flat" cmpd="sng" algn="ctr">
            <a:solidFill>
              <a:srgbClr val="C0504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Removing TREFHT substantially worsens model performance overall.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The largest deterioration occurs in spring and summer.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TREFHT carries a major share of predictive signal, particularly in the months that are already hardest to model.</a:t>
            </a:r>
          </a:p>
        </p:txBody>
      </p:sp>
      <p:sp>
        <p:nvSpPr>
          <p:cNvPr id="20" name="矩形 242"/>
          <p:cNvSpPr/>
          <p:nvPr/>
        </p:nvSpPr>
        <p:spPr>
          <a:xfrm>
            <a:off x="338934" y="2104028"/>
            <a:ext cx="5043053" cy="389890"/>
          </a:xfrm>
          <a:prstGeom prst="rect">
            <a:avLst/>
          </a:prstGeom>
          <a:solidFill>
            <a:srgbClr val="1E32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GB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Overall impact of removing TREFHT</a:t>
            </a:r>
          </a:p>
        </p:txBody>
      </p:sp>
      <p:sp>
        <p:nvSpPr>
          <p:cNvPr id="22" name="文本框 5"/>
          <p:cNvSpPr txBox="1"/>
          <p:nvPr/>
        </p:nvSpPr>
        <p:spPr>
          <a:xfrm>
            <a:off x="335360" y="2060848"/>
            <a:ext cx="403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GB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" name="矩形 4"/>
          <p:cNvSpPr/>
          <p:nvPr/>
        </p:nvSpPr>
        <p:spPr>
          <a:xfrm flipV="1">
            <a:off x="341427" y="2492206"/>
            <a:ext cx="5034493" cy="4033127"/>
          </a:xfrm>
          <a:prstGeom prst="rect">
            <a:avLst/>
          </a:prstGeom>
          <a:noFill/>
          <a:ln w="22225" cap="flat" cmpd="sng" algn="ctr">
            <a:solidFill>
              <a:srgbClr val="1E324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06" y="2564402"/>
            <a:ext cx="4660789" cy="34791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008" y="1945964"/>
            <a:ext cx="5544616" cy="3301850"/>
          </a:xfrm>
          <a:prstGeom prst="rect">
            <a:avLst/>
          </a:prstGeom>
        </p:spPr>
      </p:pic>
      <p:sp>
        <p:nvSpPr>
          <p:cNvPr id="8" name="矩形 13"/>
          <p:cNvSpPr/>
          <p:nvPr/>
        </p:nvSpPr>
        <p:spPr>
          <a:xfrm>
            <a:off x="335360" y="5949281"/>
            <a:ext cx="5043594" cy="576064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100000">
                <a:srgbClr val="B92F23">
                  <a:alpha val="18057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numCol="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Without TREFHT: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GB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RMSE rises from ~0.31 to ~0.46.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en-GB" sz="12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GB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MAE rises from ~0.23 to ~0.32.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7756" y="1962325"/>
            <a:ext cx="1597154" cy="276999"/>
          </a:xfrm>
          <a:prstGeom prst="rect">
            <a:avLst/>
          </a:prstGeom>
          <a:solidFill>
            <a:schemeClr val="bg1"/>
          </a:solidFill>
          <a:ln>
            <a:solidFill>
              <a:srgbClr val="C0504D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Largest deterioration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5" name="Straight Arrow Connector 24"/>
          <p:cNvCxnSpPr>
            <a:stCxn id="18" idx="3"/>
          </p:cNvCxnSpPr>
          <p:nvPr/>
        </p:nvCxnSpPr>
        <p:spPr>
          <a:xfrm>
            <a:off x="7574910" y="2100825"/>
            <a:ext cx="190252" cy="312579"/>
          </a:xfrm>
          <a:prstGeom prst="straightConnector1">
            <a:avLst/>
          </a:prstGeom>
          <a:ln>
            <a:solidFill>
              <a:srgbClr val="C050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824192" y="2204864"/>
            <a:ext cx="1224136" cy="2898000"/>
          </a:xfrm>
          <a:prstGeom prst="rect">
            <a:avLst/>
          </a:prstGeom>
          <a:noFill/>
          <a:ln>
            <a:solidFill>
              <a:srgbClr val="C05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 build="p" animBg="1"/>
      <p:bldP spid="20" grpId="0" animBg="1"/>
      <p:bldP spid="22" grpId="0"/>
      <p:bldP spid="3" grpId="0" animBg="1"/>
      <p:bldP spid="8" grpId="0" animBg="1"/>
      <p:bldP spid="18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91E31-368D-5AC1-FE7D-82BDF85E0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线连接符 10">
            <a:extLst>
              <a:ext uri="{FF2B5EF4-FFF2-40B4-BE49-F238E27FC236}">
                <a16:creationId xmlns:a16="http://schemas.microsoft.com/office/drawing/2014/main" id="{6ACD74C7-3E92-0738-7566-890C559F3F11}"/>
              </a:ext>
            </a:extLst>
          </p:cNvPr>
          <p:cNvCxnSpPr/>
          <p:nvPr/>
        </p:nvCxnSpPr>
        <p:spPr>
          <a:xfrm>
            <a:off x="336069" y="1249828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F19F6B2-5275-BDD0-2E98-6C293E053E82}"/>
              </a:ext>
            </a:extLst>
          </p:cNvPr>
          <p:cNvSpPr txBox="1"/>
          <p:nvPr/>
        </p:nvSpPr>
        <p:spPr>
          <a:xfrm>
            <a:off x="2279650" y="548640"/>
            <a:ext cx="928560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3200" b="1">
                <a:latin typeface="Arial"/>
                <a:cs typeface="Arial"/>
              </a:rPr>
              <a:t>Post-2050 Holdout Evaluation</a:t>
            </a:r>
            <a:endParaRPr lang="en-US"/>
          </a:p>
        </p:txBody>
      </p:sp>
      <p:sp>
        <p:nvSpPr>
          <p:cNvPr id="20" name="矩形 242">
            <a:extLst>
              <a:ext uri="{FF2B5EF4-FFF2-40B4-BE49-F238E27FC236}">
                <a16:creationId xmlns:a16="http://schemas.microsoft.com/office/drawing/2014/main" id="{7C106097-ADE8-D17A-38A7-A6BFA7D7511C}"/>
              </a:ext>
            </a:extLst>
          </p:cNvPr>
          <p:cNvSpPr/>
          <p:nvPr/>
        </p:nvSpPr>
        <p:spPr>
          <a:xfrm>
            <a:off x="332276" y="1365396"/>
            <a:ext cx="5569744" cy="347736"/>
          </a:xfrm>
          <a:prstGeom prst="rect">
            <a:avLst/>
          </a:prstGeom>
          <a:solidFill>
            <a:srgbClr val="1E32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/>
            <a:r>
              <a:rPr kumimoji="1" lang="en-GB" sz="1600" dirty="0">
                <a:solidFill>
                  <a:srgbClr val="FFFFFF"/>
                </a:solidFill>
                <a:latin typeface="Arial"/>
                <a:ea typeface="等线"/>
                <a:cs typeface="Arial"/>
              </a:rPr>
              <a:t>Predi</a:t>
            </a:r>
            <a:r>
              <a:rPr lang="en-GB" sz="1600">
                <a:solidFill>
                  <a:srgbClr val="FFFFFF"/>
                </a:solidFill>
                <a:ea typeface="等线"/>
                <a:cs typeface="Arial"/>
              </a:rPr>
              <a:t>cted</a:t>
            </a:r>
            <a:r>
              <a:rPr kumimoji="1" lang="en-GB" sz="1600" dirty="0">
                <a:solidFill>
                  <a:srgbClr val="FFFFFF"/>
                </a:solidFill>
                <a:latin typeface="Arial"/>
                <a:ea typeface="等线"/>
                <a:cs typeface="Arial"/>
              </a:rPr>
              <a:t> </a:t>
            </a:r>
            <a:r>
              <a:rPr lang="en-GB" sz="1600">
                <a:solidFill>
                  <a:srgbClr val="FFFFFF"/>
                </a:solidFill>
                <a:ea typeface="等线"/>
                <a:cs typeface="Arial"/>
              </a:rPr>
              <a:t>vs actual values</a:t>
            </a:r>
            <a:endParaRPr lang="en-US"/>
          </a:p>
        </p:txBody>
      </p:sp>
      <p:sp>
        <p:nvSpPr>
          <p:cNvPr id="22" name="文本框 5">
            <a:extLst>
              <a:ext uri="{FF2B5EF4-FFF2-40B4-BE49-F238E27FC236}">
                <a16:creationId xmlns:a16="http://schemas.microsoft.com/office/drawing/2014/main" id="{558C6116-11F8-114D-CFFA-FF854985AB78}"/>
              </a:ext>
            </a:extLst>
          </p:cNvPr>
          <p:cNvSpPr txBox="1"/>
          <p:nvPr/>
        </p:nvSpPr>
        <p:spPr>
          <a:xfrm>
            <a:off x="479376" y="1321906"/>
            <a:ext cx="403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GB" sz="2400" dirty="0">
                <a:solidFill>
                  <a:srgbClr val="FFFFFF"/>
                </a:solidFill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矩形 4">
            <a:extLst>
              <a:ext uri="{FF2B5EF4-FFF2-40B4-BE49-F238E27FC236}">
                <a16:creationId xmlns:a16="http://schemas.microsoft.com/office/drawing/2014/main" id="{8244A2C6-489E-5B71-658D-762D71BA4CEE}"/>
              </a:ext>
            </a:extLst>
          </p:cNvPr>
          <p:cNvSpPr/>
          <p:nvPr/>
        </p:nvSpPr>
        <p:spPr>
          <a:xfrm flipV="1">
            <a:off x="340708" y="1713473"/>
            <a:ext cx="5557064" cy="4764638"/>
          </a:xfrm>
          <a:prstGeom prst="rect">
            <a:avLst/>
          </a:prstGeom>
          <a:noFill/>
          <a:ln w="22225" cap="flat" cmpd="sng" algn="ctr">
            <a:solidFill>
              <a:srgbClr val="1E324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en-GB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3" name="Picture 2" descr="A graph of a blue line&#10;&#10;AI-generated content may be incorrect.">
            <a:extLst>
              <a:ext uri="{FF2B5EF4-FFF2-40B4-BE49-F238E27FC236}">
                <a16:creationId xmlns:a16="http://schemas.microsoft.com/office/drawing/2014/main" id="{934EC1B7-B7AF-27A2-56E5-4D5EB45B7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32" y="1800704"/>
            <a:ext cx="4551849" cy="4576257"/>
          </a:xfrm>
          <a:prstGeom prst="rect">
            <a:avLst/>
          </a:prstGeom>
        </p:spPr>
      </p:pic>
      <p:sp>
        <p:nvSpPr>
          <p:cNvPr id="11" name="文本框 5">
            <a:extLst>
              <a:ext uri="{FF2B5EF4-FFF2-40B4-BE49-F238E27FC236}">
                <a16:creationId xmlns:a16="http://schemas.microsoft.com/office/drawing/2014/main" id="{37360718-CB79-F026-1A60-F307091DFF6C}"/>
              </a:ext>
            </a:extLst>
          </p:cNvPr>
          <p:cNvSpPr txBox="1"/>
          <p:nvPr/>
        </p:nvSpPr>
        <p:spPr>
          <a:xfrm>
            <a:off x="6179476" y="1365256"/>
            <a:ext cx="317118" cy="338554"/>
          </a:xfrm>
          <a:prstGeom prst="rect">
            <a:avLst/>
          </a:prstGeom>
          <a:solidFill>
            <a:srgbClr val="C0000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GB" sz="1600" dirty="0">
                <a:solidFill>
                  <a:srgbClr val="FFFFFF"/>
                </a:solidFill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2</a:t>
            </a:r>
          </a:p>
        </p:txBody>
      </p:sp>
      <p:pic>
        <p:nvPicPr>
          <p:cNvPr id="12" name="Picture 11" descr="A graph of a blue column&#10;&#10;AI-generated content may be incorrect.">
            <a:extLst>
              <a:ext uri="{FF2B5EF4-FFF2-40B4-BE49-F238E27FC236}">
                <a16:creationId xmlns:a16="http://schemas.microsoft.com/office/drawing/2014/main" id="{522B4A2D-D83A-E705-929D-CFA68D0ACC3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30160" y="1296493"/>
            <a:ext cx="5159276" cy="2567076"/>
          </a:xfrm>
          <a:prstGeom prst="rect">
            <a:avLst/>
          </a:prstGeom>
        </p:spPr>
      </p:pic>
      <p:sp>
        <p:nvSpPr>
          <p:cNvPr id="5" name="文本框 5">
            <a:extLst>
              <a:ext uri="{FF2B5EF4-FFF2-40B4-BE49-F238E27FC236}">
                <a16:creationId xmlns:a16="http://schemas.microsoft.com/office/drawing/2014/main" id="{FC2816EB-9C7E-C66F-DF7C-ACE8AE366734}"/>
              </a:ext>
            </a:extLst>
          </p:cNvPr>
          <p:cNvSpPr txBox="1"/>
          <p:nvPr/>
        </p:nvSpPr>
        <p:spPr>
          <a:xfrm>
            <a:off x="6179476" y="4431613"/>
            <a:ext cx="317118" cy="338554"/>
          </a:xfrm>
          <a:prstGeom prst="rect">
            <a:avLst/>
          </a:prstGeom>
          <a:solidFill>
            <a:srgbClr val="C0000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GB" sz="1600" dirty="0">
                <a:solidFill>
                  <a:srgbClr val="FFFFFF"/>
                </a:solidFill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EFAA9A-A4B4-2CC9-B5E3-14F8A607A96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134" y="3935450"/>
            <a:ext cx="2906289" cy="25670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5938D5-9DF2-4C31-76D5-EB1C6CBF311A}"/>
              </a:ext>
            </a:extLst>
          </p:cNvPr>
          <p:cNvSpPr txBox="1"/>
          <p:nvPr/>
        </p:nvSpPr>
        <p:spPr>
          <a:xfrm>
            <a:off x="9200786" y="4139225"/>
            <a:ext cx="2819282" cy="2462213"/>
          </a:xfrm>
          <a:prstGeom prst="rect">
            <a:avLst/>
          </a:prstGeom>
          <a:noFill/>
          <a:ln>
            <a:solidFill>
              <a:srgbClr val="C0504D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Overall holdout skill remained strong: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RMSE = 0.413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MAE = 0.291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R</a:t>
            </a:r>
            <a:r>
              <a:rPr lang="en-GB" sz="1400" baseline="30000" dirty="0"/>
              <a:t>2</a:t>
            </a:r>
            <a:r>
              <a:rPr lang="en-GB" sz="1400" dirty="0"/>
              <a:t> = 0.992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bias = -0.113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Scenario performance remained stable (0.380 ≤ RMSE ≤ 0.448)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Seasonal difficulty remained uneven</a:t>
            </a:r>
          </a:p>
        </p:txBody>
      </p:sp>
    </p:spTree>
    <p:extLst>
      <p:ext uri="{BB962C8B-B14F-4D97-AF65-F5344CB8AC3E}">
        <p14:creationId xmlns:p14="http://schemas.microsoft.com/office/powerpoint/2010/main" val="308379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/>
      <p:bldP spid="7" grpId="0" animBg="1"/>
      <p:bldP spid="11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线连接符 10"/>
          <p:cNvCxnSpPr/>
          <p:nvPr/>
        </p:nvCxnSpPr>
        <p:spPr>
          <a:xfrm>
            <a:off x="336069" y="1268914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70" y="1773208"/>
            <a:ext cx="5732848" cy="34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502" y="1780540"/>
            <a:ext cx="5732847" cy="3420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07340" y="1291590"/>
            <a:ext cx="6004560" cy="398780"/>
          </a:xfrm>
          <a:prstGeom prst="rect">
            <a:avLst/>
          </a:prstGeom>
          <a:solidFill>
            <a:srgbClr val="B92F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1180" y="1340485"/>
            <a:ext cx="5925185" cy="335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6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Post-2050 predicted annual mean TREFMXAV_U by scenario</a:t>
            </a:r>
          </a:p>
        </p:txBody>
      </p:sp>
      <p:sp>
        <p:nvSpPr>
          <p:cNvPr id="5" name="矩形 4"/>
          <p:cNvSpPr/>
          <p:nvPr/>
        </p:nvSpPr>
        <p:spPr>
          <a:xfrm flipV="1">
            <a:off x="326390" y="1703705"/>
            <a:ext cx="5975985" cy="5057775"/>
          </a:xfrm>
          <a:prstGeom prst="rect">
            <a:avLst/>
          </a:prstGeom>
          <a:noFill/>
          <a:ln w="22225" cap="flat" cmpd="sng" algn="ctr">
            <a:solidFill>
              <a:srgbClr val="1E324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43" name="矩形 242"/>
          <p:cNvSpPr/>
          <p:nvPr/>
        </p:nvSpPr>
        <p:spPr>
          <a:xfrm>
            <a:off x="6408420" y="1300480"/>
            <a:ext cx="533400" cy="389890"/>
          </a:xfrm>
          <a:prstGeom prst="rect">
            <a:avLst/>
          </a:prstGeom>
          <a:solidFill>
            <a:srgbClr val="1E32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16370" y="1257300"/>
            <a:ext cx="403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>
                <a:solidFill>
                  <a:srgbClr val="FFFFFF"/>
                </a:solidFill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2</a:t>
            </a:r>
            <a:endParaRPr kumimoji="1" lang="zh-CN" altLang="en-US" sz="2400">
              <a:solidFill>
                <a:srgbClr val="FFFFFF"/>
              </a:solidFill>
              <a:latin typeface="Arial" panose="020B0604020202020204" pitchFamily="34" charset="0"/>
              <a:ea typeface="Alibaba PuHuiTi Medium" pitchFamily="18" charset="-122"/>
              <a:cs typeface="Arial" panose="020B0604020202020204" pitchFamily="34" charset="0"/>
            </a:endParaRPr>
          </a:p>
        </p:txBody>
      </p:sp>
      <p:sp>
        <p:nvSpPr>
          <p:cNvPr id="245" name="文本框 244"/>
          <p:cNvSpPr txBox="1"/>
          <p:nvPr/>
        </p:nvSpPr>
        <p:spPr>
          <a:xfrm>
            <a:off x="6959600" y="1245235"/>
            <a:ext cx="490029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Post-2050 predicted annual mean TREFMXAV_U by scenario (5-year rolling mean)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35915" y="1268730"/>
            <a:ext cx="403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>
                <a:solidFill>
                  <a:srgbClr val="FFFFFF"/>
                </a:solidFill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279650" y="548640"/>
            <a:ext cx="9731375" cy="535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Annual Prediction </a:t>
            </a:r>
            <a:r>
              <a:rPr lang="en-US" altLang="zh-CN" sz="3000" b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rajectories by Scenario</a:t>
            </a:r>
            <a:endParaRPr lang="en-US" altLang="zh-CN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五边形 8"/>
          <p:cNvSpPr/>
          <p:nvPr/>
        </p:nvSpPr>
        <p:spPr>
          <a:xfrm>
            <a:off x="6405413" y="5187165"/>
            <a:ext cx="3084843" cy="401934"/>
          </a:xfrm>
          <a:prstGeom prst="homePlate">
            <a:avLst>
              <a:gd name="adj" fmla="val 60345"/>
            </a:avLst>
          </a:prstGeom>
          <a:solidFill>
            <a:srgbClr val="B92F23"/>
          </a:solidFill>
          <a:ln w="34925" cap="flat" cmpd="sng" algn="ctr">
            <a:noFill/>
            <a:prstDash val="lgDash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任意形状 209"/>
          <p:cNvSpPr/>
          <p:nvPr/>
        </p:nvSpPr>
        <p:spPr>
          <a:xfrm>
            <a:off x="9480207" y="5209774"/>
            <a:ext cx="2636989" cy="386860"/>
          </a:xfrm>
          <a:custGeom>
            <a:avLst/>
            <a:gdLst>
              <a:gd name="connsiteX0" fmla="*/ 0 w 2280976"/>
              <a:gd name="connsiteY0" fmla="*/ 0 h 386860"/>
              <a:gd name="connsiteX1" fmla="*/ 2280976 w 2280976"/>
              <a:gd name="connsiteY1" fmla="*/ 0 h 386860"/>
              <a:gd name="connsiteX2" fmla="*/ 2280976 w 2280976"/>
              <a:gd name="connsiteY2" fmla="*/ 386860 h 386860"/>
              <a:gd name="connsiteX3" fmla="*/ 0 w 2280976"/>
              <a:gd name="connsiteY3" fmla="*/ 386860 h 386860"/>
              <a:gd name="connsiteX4" fmla="*/ 175225 w 2280976"/>
              <a:gd name="connsiteY4" fmla="*/ 193430 h 38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0976" h="386860">
                <a:moveTo>
                  <a:pt x="0" y="0"/>
                </a:moveTo>
                <a:lnTo>
                  <a:pt x="2280976" y="0"/>
                </a:lnTo>
                <a:lnTo>
                  <a:pt x="2280976" y="386860"/>
                </a:lnTo>
                <a:lnTo>
                  <a:pt x="0" y="386860"/>
                </a:lnTo>
                <a:lnTo>
                  <a:pt x="175225" y="193430"/>
                </a:lnTo>
                <a:close/>
              </a:path>
            </a:pathLst>
          </a:custGeom>
          <a:solidFill>
            <a:srgbClr val="1E324D"/>
          </a:solidFill>
          <a:ln w="34925" cap="flat" cmpd="sng" algn="ctr">
            <a:noFill/>
            <a:prstDash val="lgDash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26730" y="5221398"/>
            <a:ext cx="280226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>
                <a:solidFill>
                  <a:srgbClr val="FFFFFF"/>
                </a:solidFill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Remove  noise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681845" y="5219065"/>
            <a:ext cx="24352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>
                <a:solidFill>
                  <a:srgbClr val="FFFFFF"/>
                </a:solidFill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Smoothed trend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672580" y="5733415"/>
            <a:ext cx="5691505" cy="901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solidFill>
                  <a:schemeClr val="tx1"/>
                </a:solidFill>
              </a:rPr>
              <a:t>The upward trend in TREFMXAV_U across all scenarios becomes clear, confirming consistent warming over the 30-year period.</a:t>
            </a:r>
          </a:p>
        </p:txBody>
      </p:sp>
      <p:sp>
        <p:nvSpPr>
          <p:cNvPr id="17" name="下箭头 16"/>
          <p:cNvSpPr/>
          <p:nvPr/>
        </p:nvSpPr>
        <p:spPr>
          <a:xfrm rot="15086306">
            <a:off x="9343390" y="1769110"/>
            <a:ext cx="452120" cy="4442460"/>
          </a:xfrm>
          <a:prstGeom prst="downArrow">
            <a:avLst/>
          </a:prstGeom>
          <a:gradFill flip="none" rotWithShape="1">
            <a:gsLst>
              <a:gs pos="0">
                <a:srgbClr val="B92F23">
                  <a:alpha val="0"/>
                </a:srgbClr>
              </a:gs>
              <a:gs pos="100000">
                <a:srgbClr val="B92F23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51180" y="5445125"/>
            <a:ext cx="5625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All scenarios exhibit strong inter-annual </a:t>
            </a:r>
            <a:r>
              <a:rPr lang="en-US" altLang="zh-CN" b="1">
                <a:solidFill>
                  <a:schemeClr val="accent2"/>
                </a:solidFill>
              </a:rPr>
              <a:t>variability</a:t>
            </a:r>
            <a:r>
              <a:rPr lang="en-US" altLang="zh-CN"/>
              <a:t>.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61975" y="5955030"/>
            <a:ext cx="5577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All scenarios exhibit </a:t>
            </a:r>
            <a:r>
              <a:rPr lang="en-US" altLang="zh-CN" b="1">
                <a:solidFill>
                  <a:schemeClr val="accent2"/>
                </a:solidFill>
              </a:rPr>
              <a:t>an upward trend</a:t>
            </a:r>
            <a:r>
              <a:rPr lang="en-US" altLang="zh-CN"/>
              <a:t> overall.</a:t>
            </a:r>
          </a:p>
        </p:txBody>
      </p:sp>
      <p:sp>
        <p:nvSpPr>
          <p:cNvPr id="14" name="矩形 13"/>
          <p:cNvSpPr/>
          <p:nvPr/>
        </p:nvSpPr>
        <p:spPr>
          <a:xfrm>
            <a:off x="327660" y="5143500"/>
            <a:ext cx="5984875" cy="1627505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100000">
                <a:srgbClr val="B92F23">
                  <a:alpha val="18057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6447155" y="5668645"/>
            <a:ext cx="5669915" cy="1083310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线连接符 10"/>
          <p:cNvCxnSpPr/>
          <p:nvPr/>
        </p:nvCxnSpPr>
        <p:spPr>
          <a:xfrm>
            <a:off x="336069" y="1268914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516370" y="1257300"/>
            <a:ext cx="403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>
                <a:solidFill>
                  <a:srgbClr val="FFFFFF"/>
                </a:solidFill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2</a:t>
            </a:r>
            <a:endParaRPr kumimoji="1" lang="zh-CN" altLang="en-US" sz="2400">
              <a:solidFill>
                <a:srgbClr val="FFFFFF"/>
              </a:solidFill>
              <a:latin typeface="Arial" panose="020B0604020202020204" pitchFamily="34" charset="0"/>
              <a:ea typeface="Alibaba PuHuiTi Medium" pitchFamily="18" charset="-122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5915" y="1268730"/>
            <a:ext cx="403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>
                <a:solidFill>
                  <a:srgbClr val="FFFFFF"/>
                </a:solidFill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279650" y="548640"/>
            <a:ext cx="9731375" cy="535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Predicted Annual </a:t>
            </a:r>
            <a:r>
              <a:rPr lang="en-US" altLang="zh-CN" sz="30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zh-CN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ean TREFMXAV_U</a:t>
            </a:r>
            <a:endParaRPr lang="en-US" altLang="zh-CN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330" y="1350945"/>
            <a:ext cx="9067925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线连接符 10"/>
          <p:cNvCxnSpPr/>
          <p:nvPr/>
        </p:nvCxnSpPr>
        <p:spPr>
          <a:xfrm>
            <a:off x="336069" y="1268914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310765" y="518795"/>
            <a:ext cx="10222865" cy="535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3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Predictions by Scenario and Period</a:t>
            </a:r>
            <a:endParaRPr lang="en-US" altLang="zh-CN" sz="3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9385" y="2132965"/>
            <a:ext cx="4575175" cy="24257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0815" y="1341755"/>
            <a:ext cx="4700906" cy="71564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0815" y="1751330"/>
            <a:ext cx="4700905" cy="4683125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8812" y="1421584"/>
            <a:ext cx="4580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  <a:sym typeface="+mn-ea"/>
              </a:rPr>
              <a:t>This bar chart aggregates TREFMXAV_U into three periods (2050-2059, 2060-2069, 2070-2080)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981962" y="2084858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600" b="1" i="1" dirty="0">
                <a:latin typeface="+mn-ea"/>
                <a:cs typeface="Alibaba PuHuiTi Medium" pitchFamily="18" charset="-122"/>
              </a:rPr>
              <a:t>2060-2069</a:t>
            </a:r>
            <a:endParaRPr kumimoji="1" lang="zh-CN" altLang="en-US" sz="1600" b="1" i="1" dirty="0">
              <a:latin typeface="+mn-ea"/>
              <a:cs typeface="Alibaba PuHuiTi Medium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5769" y="2083588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600" b="1" i="1" dirty="0">
                <a:latin typeface="+mn-ea"/>
                <a:cs typeface="Alibaba PuHuiTi Medium" pitchFamily="18" charset="-122"/>
              </a:rPr>
              <a:t>2050-2059</a:t>
            </a:r>
            <a:endParaRPr kumimoji="1" lang="zh-CN" altLang="en-US" sz="1600" b="1" i="1" dirty="0">
              <a:latin typeface="+mn-ea"/>
              <a:cs typeface="Alibaba PuHuiTi Medium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592439" y="2093113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600" b="1" i="1" dirty="0">
                <a:latin typeface="+mn-ea"/>
                <a:cs typeface="Alibaba PuHuiTi Medium" pitchFamily="18" charset="-122"/>
              </a:rPr>
              <a:t>2070-2080</a:t>
            </a:r>
            <a:endParaRPr kumimoji="1" lang="zh-CN" altLang="en-US" sz="1600" b="1" i="1" dirty="0">
              <a:latin typeface="+mn-ea"/>
              <a:cs typeface="Alibaba PuHuiTi Medium" pitchFamily="18" charset="-122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316230" y="2491105"/>
            <a:ext cx="4418330" cy="57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231775" y="2564765"/>
            <a:ext cx="4547235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For all scenarios, the mean TREFMXAV_U increases across periods:</a:t>
            </a:r>
          </a:p>
          <a:p>
            <a:endParaRPr lang="en-US" altLang="zh-CN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ctr"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2050-2059  &lt; 2060-2069 &lt; 2070-2080 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2050-2059 shows the smallest cross-scenario differences, while 2070-2080 shows the largest, indicating divergent warming trajectories across scenarios over time.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21640" y="4004945"/>
            <a:ext cx="4357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Confirming the long-term warming trend</a:t>
            </a:r>
          </a:p>
        </p:txBody>
      </p:sp>
      <p:sp>
        <p:nvSpPr>
          <p:cNvPr id="82" name="三角形 81"/>
          <p:cNvSpPr/>
          <p:nvPr/>
        </p:nvSpPr>
        <p:spPr>
          <a:xfrm rot="10800000">
            <a:off x="2311041" y="3933165"/>
            <a:ext cx="271848" cy="123568"/>
          </a:xfrm>
          <a:prstGeom prst="triangle">
            <a:avLst/>
          </a:prstGeom>
          <a:solidFill>
            <a:srgbClr val="1E32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1E344D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180" y="4437380"/>
            <a:ext cx="4701540" cy="1997075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100000">
                <a:srgbClr val="B92F23">
                  <a:alpha val="18057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425" y="1785859"/>
            <a:ext cx="7095643" cy="42254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7920355" y="1948180"/>
            <a:ext cx="4099560" cy="4321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cxnSp>
        <p:nvCxnSpPr>
          <p:cNvPr id="21" name="直线连接符 10"/>
          <p:cNvCxnSpPr/>
          <p:nvPr/>
        </p:nvCxnSpPr>
        <p:spPr>
          <a:xfrm>
            <a:off x="336069" y="1268914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311040" y="548640"/>
            <a:ext cx="10047330" cy="535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Seasonal Amplification</a:t>
            </a:r>
          </a:p>
        </p:txBody>
      </p:sp>
      <p:sp>
        <p:nvSpPr>
          <p:cNvPr id="3" name="左箭头 2"/>
          <p:cNvSpPr/>
          <p:nvPr/>
        </p:nvSpPr>
        <p:spPr>
          <a:xfrm rot="10800000">
            <a:off x="336550" y="1268730"/>
            <a:ext cx="11684000" cy="585470"/>
          </a:xfrm>
          <a:prstGeom prst="leftArrow">
            <a:avLst/>
          </a:prstGeom>
          <a:gradFill flip="none" rotWithShape="1">
            <a:gsLst>
              <a:gs pos="35000">
                <a:srgbClr val="B92F23"/>
              </a:gs>
              <a:gs pos="100000">
                <a:srgbClr val="FFFFFF"/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368" name="文本框 367"/>
          <p:cNvSpPr txBox="1"/>
          <p:nvPr/>
        </p:nvSpPr>
        <p:spPr>
          <a:xfrm>
            <a:off x="854710" y="1377315"/>
            <a:ext cx="108572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GB" sz="1600">
                <a:solidFill>
                  <a:schemeClr val="bg1"/>
                </a:solidFill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  <a:sym typeface="+mn-ea"/>
              </a:rPr>
              <a:t>This line graph demonstrates the changing seasonality of TREFMXAV_U compared to a baseline period (2050-2059)</a:t>
            </a:r>
            <a:endParaRPr kumimoji="1" lang="en-GB" altLang="zh-CN" sz="1600">
              <a:solidFill>
                <a:schemeClr val="bg1"/>
              </a:solidFill>
              <a:latin typeface="Arial" panose="020B0604020202020204" pitchFamily="34" charset="0"/>
              <a:ea typeface="思源黑体 CN Bold" panose="020B0800000000000000" pitchFamily="34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5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60" y="1899920"/>
            <a:ext cx="7249795" cy="4317365"/>
          </a:xfrm>
          <a:prstGeom prst="rect">
            <a:avLst/>
          </a:prstGeom>
        </p:spPr>
      </p:pic>
      <p:cxnSp>
        <p:nvCxnSpPr>
          <p:cNvPr id="23" name="肘形连接符 22"/>
          <p:cNvCxnSpPr/>
          <p:nvPr/>
        </p:nvCxnSpPr>
        <p:spPr>
          <a:xfrm flipV="1">
            <a:off x="424815" y="1975485"/>
            <a:ext cx="7342505" cy="4276090"/>
          </a:xfrm>
          <a:prstGeom prst="bentConnector3">
            <a:avLst>
              <a:gd name="adj1" fmla="val 100008"/>
            </a:avLst>
          </a:prstGeom>
          <a:ln w="22225">
            <a:solidFill>
              <a:schemeClr val="tx1"/>
            </a:solidFill>
            <a:headEnd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肘形连接符 23"/>
          <p:cNvCxnSpPr/>
          <p:nvPr/>
        </p:nvCxnSpPr>
        <p:spPr>
          <a:xfrm rot="10800000" flipV="1">
            <a:off x="325120" y="1888490"/>
            <a:ext cx="7325995" cy="4354195"/>
          </a:xfrm>
          <a:prstGeom prst="bentConnector3">
            <a:avLst>
              <a:gd name="adj1" fmla="val 100017"/>
            </a:avLst>
          </a:prstGeom>
          <a:ln w="22225">
            <a:solidFill>
              <a:schemeClr val="tx1"/>
            </a:solidFill>
            <a:headEnd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744220" y="6129655"/>
            <a:ext cx="2635885" cy="434340"/>
          </a:xfrm>
          <a:prstGeom prst="rect">
            <a:avLst/>
          </a:prstGeom>
          <a:solidFill>
            <a:srgbClr val="1E32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03275" y="6164580"/>
            <a:ext cx="2576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GB" b="1" i="1">
                <a:solidFill>
                  <a:schemeClr val="bg1"/>
                </a:solidFill>
                <a:latin typeface="+mn-ea"/>
                <a:cs typeface="Alibaba PuHuiTi Medium" pitchFamily="18" charset="-122"/>
                <a:sym typeface="+mn-ea"/>
              </a:rPr>
              <a:t>Baseline: </a:t>
            </a:r>
            <a:r>
              <a:rPr kumimoji="1" lang="en-GB" b="1" i="1">
                <a:solidFill>
                  <a:schemeClr val="bg1"/>
                </a:solidFill>
                <a:latin typeface="+mn-ea"/>
                <a:cs typeface="Alibaba PuHuiTi Medium" pitchFamily="18" charset="-122"/>
                <a:sym typeface="+mn-ea"/>
              </a:rPr>
              <a:t>2050-2059</a:t>
            </a:r>
            <a:endParaRPr kumimoji="1" lang="en-GB" altLang="en-US" b="1" i="1">
              <a:solidFill>
                <a:schemeClr val="bg1"/>
              </a:solidFill>
              <a:latin typeface="+mn-ea"/>
              <a:cs typeface="Alibaba PuHuiTi Medium" pitchFamily="18" charset="-122"/>
              <a:sym typeface="+mn-ea"/>
            </a:endParaRPr>
          </a:p>
        </p:txBody>
      </p:sp>
      <p:sp>
        <p:nvSpPr>
          <p:cNvPr id="27" name="文本框 26" descr="7b0a202020202262756c6c6574223a20227b5c2263617465676f727949645c223a5c225c222c5c2274656d706c61746549645c223a32303233313731337d220a7d0a"/>
          <p:cNvSpPr txBox="1"/>
          <p:nvPr/>
        </p:nvSpPr>
        <p:spPr>
          <a:xfrm>
            <a:off x="7920355" y="2146935"/>
            <a:ext cx="4003675" cy="3744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spcBef>
                <a:spcPts val="200"/>
              </a:spcBef>
              <a:buFont typeface="Wingdings" panose="05000000000000000000" charset="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Projections for 2070–2080 show larger increases relative to the baseline across all months than those for 2060–2069.</a:t>
            </a:r>
          </a:p>
          <a:p>
            <a:pPr marL="285750" indent="-285750" fontAlgn="auto">
              <a:spcBef>
                <a:spcPts val="200"/>
              </a:spcBef>
              <a:buFont typeface="Wingdings" panose="05000000000000000000" charset="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All months exhibit warming.</a:t>
            </a:r>
          </a:p>
          <a:p>
            <a:pPr marL="285750" indent="-285750" fontAlgn="auto">
              <a:spcBef>
                <a:spcPts val="200"/>
              </a:spcBef>
              <a:buFont typeface="Wingdings" panose="05000000000000000000" charset="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However, the seasonality of TREFMXAV_U predictions changes across periods</a:t>
            </a:r>
            <a:r>
              <a:rPr lang="en-GB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</a:t>
            </a: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warm season appears to lengthen later in the century.</a:t>
            </a: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Warm- vs cold-season variation becomes more extreme later in the century.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942594" y="1338262"/>
            <a:ext cx="4681220" cy="3854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91719" y="5325427"/>
            <a:ext cx="6282055" cy="127254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cxnSp>
        <p:nvCxnSpPr>
          <p:cNvPr id="21" name="直线连接符 10"/>
          <p:cNvCxnSpPr/>
          <p:nvPr/>
        </p:nvCxnSpPr>
        <p:spPr>
          <a:xfrm>
            <a:off x="336069" y="1268914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227054" y="548641"/>
            <a:ext cx="9964946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b="1" dirty="0">
                <a:latin typeface="Arial" panose="020B0604020202020204" pitchFamily="34" charset="0"/>
                <a:cs typeface="Arial" panose="020B0604020202020204" pitchFamily="34" charset="0"/>
              </a:rPr>
              <a:t>Spatial Analysis of Predictions: Scenario 6</a:t>
            </a:r>
          </a:p>
        </p:txBody>
      </p:sp>
      <p:sp>
        <p:nvSpPr>
          <p:cNvPr id="58" name="矩形 57"/>
          <p:cNvSpPr/>
          <p:nvPr/>
        </p:nvSpPr>
        <p:spPr>
          <a:xfrm>
            <a:off x="191135" y="1438910"/>
            <a:ext cx="4681220" cy="5687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23570" y="1412875"/>
            <a:ext cx="4221480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  <a:sym typeface="+mn-ea"/>
              </a:rPr>
              <a:t>Scenario 006: Spatial change in predicted TREFMXAV_U</a:t>
            </a:r>
          </a:p>
        </p:txBody>
      </p:sp>
      <p:sp>
        <p:nvSpPr>
          <p:cNvPr id="68" name="矩形 67"/>
          <p:cNvSpPr/>
          <p:nvPr/>
        </p:nvSpPr>
        <p:spPr>
          <a:xfrm>
            <a:off x="263525" y="2088516"/>
            <a:ext cx="4608195" cy="4415790"/>
          </a:xfrm>
          <a:prstGeom prst="rect">
            <a:avLst/>
          </a:prstGeom>
          <a:noFill/>
          <a:ln w="190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7" name="Google Shape;9889;p89"/>
          <p:cNvSpPr/>
          <p:nvPr/>
        </p:nvSpPr>
        <p:spPr>
          <a:xfrm>
            <a:off x="263525" y="1546225"/>
            <a:ext cx="336550" cy="320040"/>
          </a:xfrm>
          <a:custGeom>
            <a:avLst/>
            <a:gdLst/>
            <a:ahLst/>
            <a:cxnLst/>
            <a:rect l="l" t="t" r="r" b="b"/>
            <a:pathLst>
              <a:path w="11504" h="11504" extrusionOk="0">
                <a:moveTo>
                  <a:pt x="1" y="1"/>
                </a:moveTo>
                <a:lnTo>
                  <a:pt x="1" y="11503"/>
                </a:lnTo>
                <a:lnTo>
                  <a:pt x="11503" y="11503"/>
                </a:lnTo>
                <a:lnTo>
                  <a:pt x="11503" y="10241"/>
                </a:lnTo>
                <a:lnTo>
                  <a:pt x="10908" y="10241"/>
                </a:lnTo>
                <a:lnTo>
                  <a:pt x="10908" y="10789"/>
                </a:lnTo>
                <a:lnTo>
                  <a:pt x="10146" y="10789"/>
                </a:lnTo>
                <a:lnTo>
                  <a:pt x="10146" y="5026"/>
                </a:lnTo>
                <a:lnTo>
                  <a:pt x="8288" y="6383"/>
                </a:lnTo>
                <a:lnTo>
                  <a:pt x="7312" y="5931"/>
                </a:lnTo>
                <a:lnTo>
                  <a:pt x="5883" y="7574"/>
                </a:lnTo>
                <a:lnTo>
                  <a:pt x="4740" y="7002"/>
                </a:lnTo>
                <a:lnTo>
                  <a:pt x="3192" y="8907"/>
                </a:lnTo>
                <a:lnTo>
                  <a:pt x="2168" y="8526"/>
                </a:lnTo>
                <a:lnTo>
                  <a:pt x="763" y="10003"/>
                </a:lnTo>
                <a:lnTo>
                  <a:pt x="763" y="9027"/>
                </a:lnTo>
                <a:lnTo>
                  <a:pt x="1977" y="7717"/>
                </a:lnTo>
                <a:lnTo>
                  <a:pt x="3001" y="8098"/>
                </a:lnTo>
                <a:lnTo>
                  <a:pt x="4573" y="6169"/>
                </a:lnTo>
                <a:lnTo>
                  <a:pt x="5692" y="6740"/>
                </a:lnTo>
                <a:lnTo>
                  <a:pt x="7097" y="5097"/>
                </a:lnTo>
                <a:lnTo>
                  <a:pt x="8169" y="5597"/>
                </a:lnTo>
                <a:lnTo>
                  <a:pt x="10098" y="4240"/>
                </a:lnTo>
                <a:lnTo>
                  <a:pt x="10098" y="2192"/>
                </a:lnTo>
                <a:lnTo>
                  <a:pt x="8884" y="2954"/>
                </a:lnTo>
                <a:lnTo>
                  <a:pt x="7669" y="2716"/>
                </a:lnTo>
                <a:lnTo>
                  <a:pt x="5526" y="4811"/>
                </a:lnTo>
                <a:lnTo>
                  <a:pt x="4549" y="4478"/>
                </a:lnTo>
                <a:lnTo>
                  <a:pt x="2668" y="6502"/>
                </a:lnTo>
                <a:lnTo>
                  <a:pt x="1811" y="5954"/>
                </a:lnTo>
                <a:lnTo>
                  <a:pt x="739" y="7193"/>
                </a:lnTo>
                <a:lnTo>
                  <a:pt x="739" y="692"/>
                </a:lnTo>
                <a:lnTo>
                  <a:pt x="1263" y="692"/>
                </a:lnTo>
                <a:lnTo>
                  <a:pt x="12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等线" panose="02010600030101010101" pitchFamily="2" charset="-122"/>
              <a:ea typeface="+mn-ea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304419" y="5698807"/>
            <a:ext cx="63633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spatial analysis of Scenario 006 reveals</a:t>
            </a:r>
            <a:r>
              <a:rPr lang="en-US" altLang="zh-CN" sz="2400" dirty="0">
                <a:solidFill>
                  <a:schemeClr val="accent2"/>
                </a:solidFill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</a:rPr>
              <a:t>a progressive intensification of warming</a:t>
            </a:r>
            <a:endParaRPr lang="en-US" altLang="zh-CN" sz="2400" dirty="0"/>
          </a:p>
        </p:txBody>
      </p:sp>
      <p:sp>
        <p:nvSpPr>
          <p:cNvPr id="241" name="矩形 240"/>
          <p:cNvSpPr/>
          <p:nvPr/>
        </p:nvSpPr>
        <p:spPr>
          <a:xfrm>
            <a:off x="408530" y="2771104"/>
            <a:ext cx="298759" cy="295116"/>
          </a:xfrm>
          <a:prstGeom prst="rect">
            <a:avLst/>
          </a:prstGeom>
          <a:solidFill>
            <a:srgbClr val="B92F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</a:t>
            </a:r>
            <a:endParaRPr kumimoji="1" lang="zh-CN" altLang="en-US">
              <a:solidFill>
                <a:srgbClr val="FFFFFF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44" name="文本框 243"/>
          <p:cNvSpPr txBox="1"/>
          <p:nvPr/>
        </p:nvSpPr>
        <p:spPr>
          <a:xfrm>
            <a:off x="702769" y="2726914"/>
            <a:ext cx="417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The 2050s serve as a reference point</a:t>
            </a:r>
          </a:p>
        </p:txBody>
      </p:sp>
      <p:cxnSp>
        <p:nvCxnSpPr>
          <p:cNvPr id="248" name="直线箭头连接符 247"/>
          <p:cNvCxnSpPr/>
          <p:nvPr/>
        </p:nvCxnSpPr>
        <p:spPr>
          <a:xfrm>
            <a:off x="449113" y="3315010"/>
            <a:ext cx="271848" cy="0"/>
          </a:xfrm>
          <a:prstGeom prst="straightConnector1">
            <a:avLst/>
          </a:prstGeom>
          <a:noFill/>
          <a:ln w="15875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9" name="文本框 248"/>
          <p:cNvSpPr txBox="1"/>
          <p:nvPr/>
        </p:nvSpPr>
        <p:spPr>
          <a:xfrm>
            <a:off x="702945" y="3147060"/>
            <a:ext cx="41014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This allows us to measure</a:t>
            </a:r>
            <a:r>
              <a:rPr kumimoji="1" lang="en-US" altLang="zh-CN" sz="1600">
                <a:solidFill>
                  <a:srgbClr val="B92F23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1" lang="en-US" altLang="zh-CN" sz="1600" b="1">
                <a:solidFill>
                  <a:srgbClr val="B92F23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relative change</a:t>
            </a:r>
            <a:r>
              <a:rPr kumimoji="1" lang="en-US" altLang="zh-CN" sz="16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,</a:t>
            </a:r>
            <a:r>
              <a:rPr kumimoji="1" lang="en-US" altLang="zh-CN" sz="1600">
                <a:solidFill>
                  <a:srgbClr val="B92F23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1" lang="en-US" altLang="zh-CN" sz="16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not absolute temperature.</a:t>
            </a:r>
          </a:p>
        </p:txBody>
      </p:sp>
      <p:sp>
        <p:nvSpPr>
          <p:cNvPr id="250" name="矩形 249"/>
          <p:cNvSpPr/>
          <p:nvPr/>
        </p:nvSpPr>
        <p:spPr>
          <a:xfrm>
            <a:off x="408936" y="3853389"/>
            <a:ext cx="298759" cy="295116"/>
          </a:xfrm>
          <a:prstGeom prst="rect">
            <a:avLst/>
          </a:prstGeom>
          <a:solidFill>
            <a:srgbClr val="B92F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52" name="文本框 251"/>
          <p:cNvSpPr txBox="1"/>
          <p:nvPr/>
        </p:nvSpPr>
        <p:spPr>
          <a:xfrm>
            <a:off x="702769" y="3831179"/>
            <a:ext cx="3129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Possible spatial gradient</a:t>
            </a:r>
          </a:p>
        </p:txBody>
      </p:sp>
      <p:sp>
        <p:nvSpPr>
          <p:cNvPr id="253" name="文本框 252"/>
          <p:cNvSpPr txBox="1"/>
          <p:nvPr/>
        </p:nvSpPr>
        <p:spPr>
          <a:xfrm>
            <a:off x="702769" y="4266789"/>
            <a:ext cx="4029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sym typeface="+mn-ea"/>
              </a:rPr>
              <a:t>North-to-south</a:t>
            </a:r>
            <a:r>
              <a:rPr lang="en-US" altLang="zh-CN" sz="1600" dirty="0">
                <a:solidFill>
                  <a:schemeClr val="accent2"/>
                </a:solidFill>
                <a:sym typeface="+mn-ea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and</a:t>
            </a:r>
            <a:r>
              <a:rPr lang="en-US" altLang="zh-CN" sz="1600" dirty="0">
                <a:solidFill>
                  <a:schemeClr val="accent2"/>
                </a:solidFill>
                <a:sym typeface="+mn-ea"/>
              </a:rPr>
              <a:t> </a:t>
            </a:r>
            <a:r>
              <a:rPr lang="en-US" altLang="zh-CN" sz="1600" b="1" dirty="0">
                <a:solidFill>
                  <a:schemeClr val="accent2"/>
                </a:solidFill>
                <a:sym typeface="+mn-ea"/>
              </a:rPr>
              <a:t>west-to-east</a:t>
            </a:r>
            <a:r>
              <a:rPr lang="en-US" altLang="zh-CN" sz="1600" dirty="0">
                <a:solidFill>
                  <a:schemeClr val="accent2"/>
                </a:solidFill>
                <a:sym typeface="+mn-ea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warming gradients.</a:t>
            </a:r>
            <a:endParaRPr kumimoji="1"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404491" y="4960774"/>
            <a:ext cx="298759" cy="295116"/>
          </a:xfrm>
          <a:prstGeom prst="rect">
            <a:avLst/>
          </a:prstGeom>
          <a:solidFill>
            <a:srgbClr val="B92F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</a:t>
            </a:r>
            <a:endParaRPr kumimoji="1" lang="zh-CN" altLang="en-US">
              <a:solidFill>
                <a:srgbClr val="FFFFFF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20675" y="2181225"/>
            <a:ext cx="1906270" cy="31623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90252" y="2198008"/>
            <a:ext cx="19786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</a:rPr>
              <a:t>2060-69 minus 2050-2059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2479675" y="2183765"/>
            <a:ext cx="2324100" cy="31623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558596" y="2186759"/>
            <a:ext cx="2517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2070–2080 minus 2050-2059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164080" y="2162810"/>
            <a:ext cx="4032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accent2"/>
                </a:solidFill>
              </a:rPr>
              <a:t>vs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02769" y="4935444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Reflects the UK’s maritime climate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95325" y="5360670"/>
            <a:ext cx="40944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</a:rPr>
              <a:t>Coastal areas (like northwest England) appear to warm slightly more slowly than inland regions</a:t>
            </a:r>
            <a:r>
              <a:rPr lang="en-US" altLang="zh-CN" sz="1600" dirty="0"/>
              <a:t>. This may be </a:t>
            </a:r>
            <a:r>
              <a:rPr lang="en-US" altLang="zh-CN" sz="1600" dirty="0">
                <a:solidFill>
                  <a:schemeClr val="tx1"/>
                </a:solidFill>
              </a:rPr>
              <a:t>due to the moderating effect of the Irish Sea.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692455" y="5388019"/>
            <a:ext cx="126187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zh-CN" sz="1600" b="1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Highlight</a:t>
            </a:r>
          </a:p>
        </p:txBody>
      </p:sp>
      <p:grpSp>
        <p:nvGrpSpPr>
          <p:cNvPr id="15" name="Google Shape;8195;p82"/>
          <p:cNvGrpSpPr/>
          <p:nvPr/>
        </p:nvGrpSpPr>
        <p:grpSpPr>
          <a:xfrm>
            <a:off x="5417068" y="5403136"/>
            <a:ext cx="292608" cy="273684"/>
            <a:chOff x="-4118225" y="3990475"/>
            <a:chExt cx="292225" cy="273325"/>
          </a:xfrm>
          <a:solidFill>
            <a:srgbClr val="B92F23"/>
          </a:solidFill>
        </p:grpSpPr>
        <p:sp>
          <p:nvSpPr>
            <p:cNvPr id="17" name="Google Shape;8196;p82"/>
            <p:cNvSpPr/>
            <p:nvPr/>
          </p:nvSpPr>
          <p:spPr>
            <a:xfrm>
              <a:off x="-3963850" y="40401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08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607"/>
                    <a:pt x="473" y="2048"/>
                    <a:pt x="1008" y="2048"/>
                  </a:cubicBezTo>
                  <a:cubicBezTo>
                    <a:pt x="1575" y="2048"/>
                    <a:pt x="2048" y="1607"/>
                    <a:pt x="2048" y="1040"/>
                  </a:cubicBezTo>
                  <a:cubicBezTo>
                    <a:pt x="2048" y="473"/>
                    <a:pt x="1575" y="0"/>
                    <a:pt x="10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等线" panose="02010600030101010101" pitchFamily="2" charset="-122"/>
                <a:ea typeface="+mn-ea"/>
                <a:cs typeface="+mn-ea"/>
              </a:endParaRPr>
            </a:p>
          </p:txBody>
        </p:sp>
        <p:sp>
          <p:nvSpPr>
            <p:cNvPr id="22" name="Google Shape;8197;p82"/>
            <p:cNvSpPr/>
            <p:nvPr/>
          </p:nvSpPr>
          <p:spPr>
            <a:xfrm>
              <a:off x="-4015050" y="3990475"/>
              <a:ext cx="153600" cy="153625"/>
            </a:xfrm>
            <a:custGeom>
              <a:avLst/>
              <a:gdLst/>
              <a:ahLst/>
              <a:cxnLst/>
              <a:rect l="l" t="t" r="r" b="b"/>
              <a:pathLst>
                <a:path w="6144" h="6145" extrusionOk="0">
                  <a:moveTo>
                    <a:pt x="3056" y="1324"/>
                  </a:moveTo>
                  <a:cubicBezTo>
                    <a:pt x="4001" y="1324"/>
                    <a:pt x="4757" y="2080"/>
                    <a:pt x="4757" y="3025"/>
                  </a:cubicBezTo>
                  <a:cubicBezTo>
                    <a:pt x="4757" y="3970"/>
                    <a:pt x="4033" y="4726"/>
                    <a:pt x="3056" y="4726"/>
                  </a:cubicBezTo>
                  <a:cubicBezTo>
                    <a:pt x="2111" y="4726"/>
                    <a:pt x="1386" y="3970"/>
                    <a:pt x="1386" y="3025"/>
                  </a:cubicBezTo>
                  <a:cubicBezTo>
                    <a:pt x="1386" y="2080"/>
                    <a:pt x="2111" y="1324"/>
                    <a:pt x="3056" y="1324"/>
                  </a:cubicBezTo>
                  <a:close/>
                  <a:moveTo>
                    <a:pt x="3056" y="1"/>
                  </a:moveTo>
                  <a:cubicBezTo>
                    <a:pt x="1386" y="1"/>
                    <a:pt x="0" y="1355"/>
                    <a:pt x="0" y="3057"/>
                  </a:cubicBezTo>
                  <a:cubicBezTo>
                    <a:pt x="0" y="4758"/>
                    <a:pt x="1323" y="6144"/>
                    <a:pt x="3056" y="6144"/>
                  </a:cubicBezTo>
                  <a:cubicBezTo>
                    <a:pt x="4757" y="6144"/>
                    <a:pt x="6144" y="4758"/>
                    <a:pt x="6144" y="3057"/>
                  </a:cubicBezTo>
                  <a:cubicBezTo>
                    <a:pt x="6144" y="1355"/>
                    <a:pt x="4757" y="1"/>
                    <a:pt x="3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等线" panose="02010600030101010101" pitchFamily="2" charset="-122"/>
                <a:ea typeface="+mn-ea"/>
                <a:cs typeface="+mn-ea"/>
              </a:endParaRPr>
            </a:p>
          </p:txBody>
        </p:sp>
        <p:sp>
          <p:nvSpPr>
            <p:cNvPr id="25" name="Google Shape;8198;p82"/>
            <p:cNvSpPr/>
            <p:nvPr/>
          </p:nvSpPr>
          <p:spPr>
            <a:xfrm>
              <a:off x="-4118225" y="4144075"/>
              <a:ext cx="33875" cy="119725"/>
            </a:xfrm>
            <a:custGeom>
              <a:avLst/>
              <a:gdLst/>
              <a:ahLst/>
              <a:cxnLst/>
              <a:rect l="l" t="t" r="r" b="b"/>
              <a:pathLst>
                <a:path w="1355" h="4789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4442"/>
                  </a:lnTo>
                  <a:cubicBezTo>
                    <a:pt x="0" y="4631"/>
                    <a:pt x="158" y="4789"/>
                    <a:pt x="347" y="4789"/>
                  </a:cubicBezTo>
                  <a:lnTo>
                    <a:pt x="1008" y="4789"/>
                  </a:lnTo>
                  <a:cubicBezTo>
                    <a:pt x="1134" y="4789"/>
                    <a:pt x="1260" y="4757"/>
                    <a:pt x="1355" y="4726"/>
                  </a:cubicBezTo>
                  <a:lnTo>
                    <a:pt x="1355" y="63"/>
                  </a:lnTo>
                  <a:cubicBezTo>
                    <a:pt x="1260" y="32"/>
                    <a:pt x="1134" y="0"/>
                    <a:pt x="10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等线" panose="02010600030101010101" pitchFamily="2" charset="-122"/>
                <a:ea typeface="+mn-ea"/>
                <a:cs typeface="+mn-ea"/>
              </a:endParaRPr>
            </a:p>
          </p:txBody>
        </p:sp>
        <p:sp>
          <p:nvSpPr>
            <p:cNvPr id="26" name="Google Shape;8199;p82"/>
            <p:cNvSpPr/>
            <p:nvPr/>
          </p:nvSpPr>
          <p:spPr>
            <a:xfrm>
              <a:off x="-4067050" y="4143750"/>
              <a:ext cx="241050" cy="120050"/>
            </a:xfrm>
            <a:custGeom>
              <a:avLst/>
              <a:gdLst/>
              <a:ahLst/>
              <a:cxnLst/>
              <a:rect l="l" t="t" r="r" b="b"/>
              <a:pathLst>
                <a:path w="9642" h="4802" extrusionOk="0">
                  <a:moveTo>
                    <a:pt x="1750" y="1"/>
                  </a:moveTo>
                  <a:cubicBezTo>
                    <a:pt x="1124" y="1"/>
                    <a:pt x="537" y="197"/>
                    <a:pt x="1" y="549"/>
                  </a:cubicBezTo>
                  <a:lnTo>
                    <a:pt x="1" y="4550"/>
                  </a:lnTo>
                  <a:cubicBezTo>
                    <a:pt x="410" y="4707"/>
                    <a:pt x="883" y="4802"/>
                    <a:pt x="1356" y="4802"/>
                  </a:cubicBezTo>
                  <a:lnTo>
                    <a:pt x="5294" y="4802"/>
                  </a:lnTo>
                  <a:cubicBezTo>
                    <a:pt x="5735" y="4802"/>
                    <a:pt x="6144" y="4644"/>
                    <a:pt x="6459" y="4392"/>
                  </a:cubicBezTo>
                  <a:cubicBezTo>
                    <a:pt x="6459" y="4392"/>
                    <a:pt x="8507" y="2502"/>
                    <a:pt x="9169" y="1872"/>
                  </a:cubicBezTo>
                  <a:cubicBezTo>
                    <a:pt x="9169" y="1872"/>
                    <a:pt x="9547" y="1399"/>
                    <a:pt x="9547" y="1021"/>
                  </a:cubicBezTo>
                  <a:cubicBezTo>
                    <a:pt x="9641" y="454"/>
                    <a:pt x="9169" y="13"/>
                    <a:pt x="8602" y="13"/>
                  </a:cubicBezTo>
                  <a:cubicBezTo>
                    <a:pt x="8413" y="13"/>
                    <a:pt x="7751" y="202"/>
                    <a:pt x="6711" y="1777"/>
                  </a:cubicBezTo>
                  <a:cubicBezTo>
                    <a:pt x="6333" y="2376"/>
                    <a:pt x="5766" y="2754"/>
                    <a:pt x="5199" y="2754"/>
                  </a:cubicBezTo>
                  <a:lnTo>
                    <a:pt x="2710" y="2754"/>
                  </a:lnTo>
                  <a:cubicBezTo>
                    <a:pt x="2584" y="2754"/>
                    <a:pt x="2458" y="2849"/>
                    <a:pt x="2395" y="2975"/>
                  </a:cubicBezTo>
                  <a:cubicBezTo>
                    <a:pt x="2333" y="3099"/>
                    <a:pt x="2223" y="3152"/>
                    <a:pt x="2110" y="3152"/>
                  </a:cubicBezTo>
                  <a:cubicBezTo>
                    <a:pt x="1880" y="3152"/>
                    <a:pt x="1638" y="2934"/>
                    <a:pt x="1765" y="2660"/>
                  </a:cubicBezTo>
                  <a:cubicBezTo>
                    <a:pt x="1923" y="2344"/>
                    <a:pt x="2238" y="2092"/>
                    <a:pt x="2616" y="2092"/>
                  </a:cubicBezTo>
                  <a:lnTo>
                    <a:pt x="5231" y="2092"/>
                  </a:lnTo>
                  <a:cubicBezTo>
                    <a:pt x="6081" y="2061"/>
                    <a:pt x="6081" y="706"/>
                    <a:pt x="5136" y="706"/>
                  </a:cubicBezTo>
                  <a:lnTo>
                    <a:pt x="3844" y="706"/>
                  </a:lnTo>
                  <a:cubicBezTo>
                    <a:pt x="3116" y="220"/>
                    <a:pt x="2412" y="1"/>
                    <a:pt x="1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等线" panose="02010600030101010101" pitchFamily="2" charset="-122"/>
                <a:ea typeface="+mn-ea"/>
                <a:cs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6315974" y="1377632"/>
            <a:ext cx="40913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Projected warming is not uniform</a:t>
            </a:r>
          </a:p>
        </p:txBody>
      </p:sp>
      <p:grpSp>
        <p:nvGrpSpPr>
          <p:cNvPr id="6290" name="Google Shape;6290;p78"/>
          <p:cNvGrpSpPr/>
          <p:nvPr/>
        </p:nvGrpSpPr>
        <p:grpSpPr>
          <a:xfrm>
            <a:off x="6221994" y="1368742"/>
            <a:ext cx="288925" cy="331470"/>
            <a:chOff x="946175" y="3253275"/>
            <a:chExt cx="298550" cy="296150"/>
          </a:xfrm>
          <a:solidFill>
            <a:schemeClr val="accent2"/>
          </a:solidFill>
        </p:grpSpPr>
        <p:sp>
          <p:nvSpPr>
            <p:cNvPr id="6291" name="Google Shape;6291;p78"/>
            <p:cNvSpPr/>
            <p:nvPr/>
          </p:nvSpPr>
          <p:spPr>
            <a:xfrm>
              <a:off x="946175" y="3253275"/>
              <a:ext cx="209550" cy="261500"/>
            </a:xfrm>
            <a:custGeom>
              <a:avLst/>
              <a:gdLst/>
              <a:ahLst/>
              <a:cxnLst/>
              <a:rect l="l" t="t" r="r" b="b"/>
              <a:pathLst>
                <a:path w="8382" h="10460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92" name="Google Shape;6292;p78"/>
            <p:cNvSpPr/>
            <p:nvPr/>
          </p:nvSpPr>
          <p:spPr>
            <a:xfrm>
              <a:off x="986350" y="3293425"/>
              <a:ext cx="47300" cy="48075"/>
            </a:xfrm>
            <a:custGeom>
              <a:avLst/>
              <a:gdLst/>
              <a:ahLst/>
              <a:cxnLst/>
              <a:rect l="l" t="t" r="r" b="b"/>
              <a:pathLst>
                <a:path w="1892" h="1923" extrusionOk="0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93" name="Google Shape;6293;p78"/>
            <p:cNvSpPr/>
            <p:nvPr/>
          </p:nvSpPr>
          <p:spPr>
            <a:xfrm>
              <a:off x="1051725" y="3359600"/>
              <a:ext cx="122100" cy="121325"/>
            </a:xfrm>
            <a:custGeom>
              <a:avLst/>
              <a:gdLst/>
              <a:ahLst/>
              <a:cxnLst/>
              <a:rect l="l" t="t" r="r" b="b"/>
              <a:pathLst>
                <a:path w="4884" h="4853" extrusionOk="0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94" name="Google Shape;6294;p78"/>
            <p:cNvSpPr/>
            <p:nvPr/>
          </p:nvSpPr>
          <p:spPr>
            <a:xfrm>
              <a:off x="980050" y="3289500"/>
              <a:ext cx="192200" cy="242600"/>
            </a:xfrm>
            <a:custGeom>
              <a:avLst/>
              <a:gdLst/>
              <a:ahLst/>
              <a:cxnLst/>
              <a:rect l="l" t="t" r="r" b="b"/>
              <a:pathLst>
                <a:path w="7688" h="9704" extrusionOk="0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95" name="Google Shape;6295;p78"/>
            <p:cNvSpPr/>
            <p:nvPr/>
          </p:nvSpPr>
          <p:spPr>
            <a:xfrm>
              <a:off x="1154125" y="3460400"/>
              <a:ext cx="90600" cy="89025"/>
            </a:xfrm>
            <a:custGeom>
              <a:avLst/>
              <a:gdLst/>
              <a:ahLst/>
              <a:cxnLst/>
              <a:rect l="l" t="t" r="r" b="b"/>
              <a:pathLst>
                <a:path w="3624" h="3561" extrusionOk="0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3A83721-5815-67F2-97C3-DE258772D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388" y="1830452"/>
            <a:ext cx="6939650" cy="34214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20" y="1871685"/>
            <a:ext cx="5178712" cy="311858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299" y="1800661"/>
            <a:ext cx="5856606" cy="3387712"/>
          </a:xfrm>
          <a:prstGeom prst="rect">
            <a:avLst/>
          </a:prstGeom>
        </p:spPr>
      </p:pic>
      <p:cxnSp>
        <p:nvCxnSpPr>
          <p:cNvPr id="21" name="直线连接符 10"/>
          <p:cNvCxnSpPr/>
          <p:nvPr/>
        </p:nvCxnSpPr>
        <p:spPr>
          <a:xfrm>
            <a:off x="336069" y="1268914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311040" y="548640"/>
            <a:ext cx="10047330" cy="535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Manchester vs Wider Region</a:t>
            </a:r>
          </a:p>
        </p:txBody>
      </p:sp>
      <p:cxnSp>
        <p:nvCxnSpPr>
          <p:cNvPr id="2" name="直线连接符 135"/>
          <p:cNvCxnSpPr/>
          <p:nvPr>
            <p:custDataLst>
              <p:tags r:id="rId1"/>
            </p:custDataLst>
          </p:nvPr>
        </p:nvCxnSpPr>
        <p:spPr>
          <a:xfrm rot="5400000" flipV="1">
            <a:off x="3191288" y="4070659"/>
            <a:ext cx="5112000" cy="1333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1"/>
          <p:cNvSpPr/>
          <p:nvPr/>
        </p:nvSpPr>
        <p:spPr>
          <a:xfrm>
            <a:off x="5939978" y="1313999"/>
            <a:ext cx="5982723" cy="398780"/>
          </a:xfrm>
          <a:prstGeom prst="rect">
            <a:avLst/>
          </a:prstGeom>
          <a:solidFill>
            <a:srgbClr val="B92F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GB">
                <a:solidFill>
                  <a:srgbClr val="FFFFFF"/>
                </a:solidFill>
                <a:ea typeface="等线" panose="02010600030101010101" pitchFamily="2" charset="-122"/>
              </a:rPr>
              <a:t>Seasonal changes relative to 2050-2059 baseline.</a:t>
            </a:r>
          </a:p>
        </p:txBody>
      </p:sp>
      <p:sp>
        <p:nvSpPr>
          <p:cNvPr id="15" name="文本框 6"/>
          <p:cNvSpPr txBox="1"/>
          <p:nvPr/>
        </p:nvSpPr>
        <p:spPr>
          <a:xfrm>
            <a:off x="6001298" y="1291139"/>
            <a:ext cx="403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GB" sz="2400">
                <a:solidFill>
                  <a:srgbClr val="FFFFFF"/>
                </a:solidFill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6" name="矩形 242"/>
          <p:cNvSpPr/>
          <p:nvPr/>
        </p:nvSpPr>
        <p:spPr>
          <a:xfrm>
            <a:off x="336150" y="1324731"/>
            <a:ext cx="5201131" cy="400622"/>
          </a:xfrm>
          <a:prstGeom prst="rect">
            <a:avLst/>
          </a:prstGeom>
          <a:solidFill>
            <a:srgbClr val="1E32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GB" sz="1400">
                <a:solidFill>
                  <a:srgbClr val="FFFFFF"/>
                </a:solidFill>
                <a:ea typeface="等线" panose="02010600030101010101" pitchFamily="2" charset="-122"/>
              </a:rPr>
              <a:t>Overall average TREFMXAV_U predictions across months.</a:t>
            </a:r>
          </a:p>
        </p:txBody>
      </p:sp>
      <p:sp>
        <p:nvSpPr>
          <p:cNvPr id="19" name="文本框 5"/>
          <p:cNvSpPr txBox="1"/>
          <p:nvPr/>
        </p:nvSpPr>
        <p:spPr>
          <a:xfrm>
            <a:off x="336069" y="1268914"/>
            <a:ext cx="403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GB" sz="2400">
                <a:solidFill>
                  <a:srgbClr val="FFFFFF"/>
                </a:solidFill>
                <a:latin typeface="Arial" panose="020B0604020202020204" pitchFamily="34" charset="0"/>
                <a:ea typeface="Alibaba PuHuiTi Medium" pitchFamily="18" charset="-12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" name="矩形 4"/>
          <p:cNvSpPr/>
          <p:nvPr/>
        </p:nvSpPr>
        <p:spPr>
          <a:xfrm flipV="1">
            <a:off x="336069" y="1720555"/>
            <a:ext cx="5190490" cy="4983500"/>
          </a:xfrm>
          <a:prstGeom prst="rect">
            <a:avLst/>
          </a:prstGeom>
          <a:noFill/>
          <a:ln w="22225" cap="flat" cmpd="sng" algn="ctr">
            <a:solidFill>
              <a:srgbClr val="1E324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en-GB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2" name="矩形 13"/>
          <p:cNvSpPr/>
          <p:nvPr/>
        </p:nvSpPr>
        <p:spPr>
          <a:xfrm>
            <a:off x="348724" y="5019785"/>
            <a:ext cx="5165141" cy="1688598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100000">
                <a:srgbClr val="B92F23">
                  <a:alpha val="18057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GB" sz="1600">
                <a:latin typeface="Arial"/>
                <a:ea typeface="等线"/>
                <a:cs typeface="Arial"/>
              </a:rPr>
              <a:t>The Manchester grid cell is consistently </a:t>
            </a:r>
            <a:r>
              <a:rPr kumimoji="1" lang="en-GB" sz="1600">
                <a:solidFill>
                  <a:schemeClr val="accent2"/>
                </a:solidFill>
                <a:latin typeface="Arial"/>
                <a:ea typeface="等线"/>
                <a:cs typeface="Arial"/>
              </a:rPr>
              <a:t>warmer on average</a:t>
            </a:r>
            <a:r>
              <a:rPr kumimoji="1" lang="en-GB" sz="1600">
                <a:latin typeface="Arial"/>
                <a:ea typeface="等线"/>
                <a:cs typeface="Arial"/>
              </a:rPr>
              <a:t> than the wider study region for post-2050 predictions.</a:t>
            </a:r>
            <a:endParaRPr lang="en-GB" sz="1600">
              <a:latin typeface="Arial"/>
              <a:ea typeface="等线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GB" sz="1600">
                <a:latin typeface="Arial"/>
                <a:ea typeface="等线"/>
                <a:cs typeface="Arial"/>
              </a:rPr>
              <a:t>Manchester is predicted to follow the </a:t>
            </a:r>
            <a:r>
              <a:rPr kumimoji="1" lang="en-GB" sz="1600">
                <a:solidFill>
                  <a:schemeClr val="accent2"/>
                </a:solidFill>
                <a:latin typeface="Arial"/>
                <a:ea typeface="等线"/>
                <a:cs typeface="Arial"/>
              </a:rPr>
              <a:t>same broad warming trend</a:t>
            </a:r>
            <a:r>
              <a:rPr kumimoji="1" lang="en-GB" sz="1600">
                <a:latin typeface="Arial"/>
                <a:ea typeface="等线"/>
                <a:cs typeface="Arial"/>
              </a:rPr>
              <a:t> as the full study area, but at slightly higher absolute temperature.</a:t>
            </a:r>
            <a:endParaRPr lang="en-GB" sz="1600">
              <a:latin typeface="Arial"/>
              <a:ea typeface="等线"/>
              <a:cs typeface="Arial"/>
            </a:endParaRPr>
          </a:p>
        </p:txBody>
      </p:sp>
      <p:sp>
        <p:nvSpPr>
          <p:cNvPr id="24" name="矩形 4"/>
          <p:cNvSpPr/>
          <p:nvPr/>
        </p:nvSpPr>
        <p:spPr>
          <a:xfrm flipV="1">
            <a:off x="5939956" y="1735737"/>
            <a:ext cx="5982970" cy="4983498"/>
          </a:xfrm>
          <a:prstGeom prst="rect">
            <a:avLst/>
          </a:prstGeom>
          <a:noFill/>
          <a:ln w="22225" cap="flat" cmpd="sng" algn="ctr">
            <a:solidFill>
              <a:srgbClr val="1E324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en-GB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5" name="矩形 13"/>
          <p:cNvSpPr/>
          <p:nvPr/>
        </p:nvSpPr>
        <p:spPr>
          <a:xfrm>
            <a:off x="5939955" y="5076007"/>
            <a:ext cx="5982745" cy="1637684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100000">
                <a:srgbClr val="B92F23">
                  <a:alpha val="18057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GB" sz="1600">
                <a:latin typeface="Arial"/>
                <a:ea typeface="等线"/>
                <a:cs typeface="Arial"/>
              </a:rPr>
              <a:t>The seasonal warming in Manchester for 2070-2080, relative to the baseline period, is broadly consistent with the wider region, but not identical.</a:t>
            </a:r>
            <a:endParaRPr lang="en-GB" sz="1600">
              <a:latin typeface="Arial"/>
              <a:ea typeface="等线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GB" sz="1600">
                <a:latin typeface="Arial"/>
                <a:ea typeface="等线"/>
                <a:cs typeface="Arial"/>
              </a:rPr>
              <a:t>In 2070-2080, Manchester shows:</a:t>
            </a:r>
            <a:endParaRPr lang="en-GB" sz="1600">
              <a:latin typeface="Arial"/>
              <a:ea typeface="等线"/>
              <a:cs typeface="Arial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GB" sz="1600">
                <a:latin typeface="Arial"/>
                <a:ea typeface="等线"/>
                <a:cs typeface="Arial"/>
              </a:rPr>
              <a:t>greater warming than the full region in April, May, and June - </a:t>
            </a:r>
            <a:r>
              <a:rPr kumimoji="1" lang="en-GB" sz="1600">
                <a:solidFill>
                  <a:schemeClr val="accent2"/>
                </a:solidFill>
                <a:latin typeface="Arial"/>
                <a:ea typeface="等线"/>
                <a:cs typeface="Arial"/>
              </a:rPr>
              <a:t>especially June</a:t>
            </a:r>
            <a:r>
              <a:rPr kumimoji="1" lang="en-GB" sz="1600">
                <a:latin typeface="Arial"/>
                <a:ea typeface="等线"/>
                <a:cs typeface="Arial"/>
              </a:rPr>
              <a:t> </a:t>
            </a:r>
            <a:endParaRPr lang="en-GB" sz="1600">
              <a:latin typeface="Arial"/>
              <a:ea typeface="等线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487856-C7C2-AC82-8B36-CB40B51A969B}"/>
              </a:ext>
            </a:extLst>
          </p:cNvPr>
          <p:cNvSpPr txBox="1"/>
          <p:nvPr/>
        </p:nvSpPr>
        <p:spPr>
          <a:xfrm>
            <a:off x="8464731" y="156183"/>
            <a:ext cx="3555337" cy="954107"/>
          </a:xfrm>
          <a:prstGeom prst="rect">
            <a:avLst/>
          </a:prstGeom>
          <a:noFill/>
          <a:ln>
            <a:solidFill>
              <a:srgbClr val="C0504D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Holdout validation of predictions was also strong for Manchester only region:</a:t>
            </a:r>
          </a:p>
          <a:p>
            <a:endParaRPr lang="en-GB" sz="1400" dirty="0"/>
          </a:p>
          <a:p>
            <a:r>
              <a:rPr lang="en-GB" sz="1400" b="1" dirty="0"/>
              <a:t>RMSE</a:t>
            </a:r>
            <a:r>
              <a:rPr lang="en-GB" sz="1400" dirty="0"/>
              <a:t> 0.369, </a:t>
            </a:r>
            <a:r>
              <a:rPr lang="en-GB" sz="1400" b="1" dirty="0"/>
              <a:t>MAE</a:t>
            </a:r>
            <a:r>
              <a:rPr lang="en-GB" sz="1400" dirty="0"/>
              <a:t> 0.268, </a:t>
            </a:r>
            <a:r>
              <a:rPr lang="en-GB" sz="1400" b="1" dirty="0"/>
              <a:t>R</a:t>
            </a:r>
            <a:r>
              <a:rPr lang="en-GB" sz="1400" b="1" baseline="30000" dirty="0"/>
              <a:t>2</a:t>
            </a:r>
            <a:r>
              <a:rPr lang="en-GB" sz="1400" dirty="0"/>
              <a:t> 0.994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线连接符 10"/>
          <p:cNvCxnSpPr/>
          <p:nvPr/>
        </p:nvCxnSpPr>
        <p:spPr>
          <a:xfrm>
            <a:off x="336069" y="1268914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279650" y="548640"/>
            <a:ext cx="9285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3200" b="1" dirty="0"/>
              <a:t>Possible Physical Interpretation: Radiation</a:t>
            </a:r>
            <a:endParaRPr lang="en-US" altLang="zh-CN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: 圆角 7"/>
          <p:cNvSpPr/>
          <p:nvPr/>
        </p:nvSpPr>
        <p:spPr>
          <a:xfrm>
            <a:off x="335915" y="1623059"/>
            <a:ext cx="5140653" cy="4581095"/>
          </a:xfrm>
          <a:prstGeom prst="roundRect">
            <a:avLst>
              <a:gd name="adj" fmla="val 472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800">
                <a:solidFill>
                  <a:schemeClr val="tx1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Increased net radiation adds </a:t>
            </a:r>
            <a:r>
              <a:rPr lang="zh-CN" altLang="zh-CN" sz="2800" b="1">
                <a:solidFill>
                  <a:schemeClr val="accent2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surface energy</a:t>
            </a:r>
            <a:r>
              <a:rPr lang="zh-CN" altLang="zh-CN" sz="2800">
                <a:solidFill>
                  <a:schemeClr val="tx1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 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800">
                <a:solidFill>
                  <a:schemeClr val="tx1"/>
                </a:solidFill>
                <a:ea typeface="黑体" panose="02010609060101010101" charset="-122"/>
                <a:cs typeface="+mn-lt"/>
              </a:rPr>
              <a:t>Higher daytime temperatures increase TREFMXAV_U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chemeClr val="tx1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Positive </a:t>
            </a:r>
            <a:r>
              <a:rPr lang="en-US" altLang="zh-CN" sz="2800" b="1">
                <a:solidFill>
                  <a:schemeClr val="accent2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Albedo Feedback</a:t>
            </a:r>
            <a:r>
              <a:rPr lang="en-US" altLang="zh-CN" sz="2800">
                <a:solidFill>
                  <a:schemeClr val="tx1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 amplifies warming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2800">
              <a:solidFill>
                <a:schemeClr val="tx1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5" name="矩形: 圆顶角 14"/>
          <p:cNvSpPr/>
          <p:nvPr/>
        </p:nvSpPr>
        <p:spPr>
          <a:xfrm>
            <a:off x="1271905" y="1623060"/>
            <a:ext cx="3254375" cy="447040"/>
          </a:xfrm>
          <a:prstGeom prst="round2SameRect">
            <a:avLst>
              <a:gd name="adj1" fmla="val 0"/>
              <a:gd name="adj2" fmla="val 1925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</a:rPr>
              <a:t>Mechanism</a:t>
            </a:r>
          </a:p>
        </p:txBody>
      </p:sp>
      <p:pic>
        <p:nvPicPr>
          <p:cNvPr id="6" name="图片 1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535" y="1340485"/>
            <a:ext cx="5411470" cy="54114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线连接符 10"/>
          <p:cNvCxnSpPr/>
          <p:nvPr/>
        </p:nvCxnSpPr>
        <p:spPr>
          <a:xfrm>
            <a:off x="336069" y="1268914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279650" y="548640"/>
            <a:ext cx="9285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400" b="1" dirty="0"/>
              <a:t>Possible Physical Interpretation: Humidity + </a:t>
            </a:r>
            <a:r>
              <a:rPr lang="en-US" altLang="en-GB" sz="2400" b="1" dirty="0"/>
              <a:t>GHG</a:t>
            </a:r>
            <a:r>
              <a:rPr lang="en-GB" altLang="zh-CN" sz="2400" b="1" dirty="0"/>
              <a:t> + </a:t>
            </a:r>
            <a:r>
              <a:rPr lang="en-US" altLang="en-GB" sz="2400" b="1" dirty="0"/>
              <a:t>UHI</a:t>
            </a:r>
            <a:endParaRPr lang="en-US" alt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1840" y="5387120"/>
            <a:ext cx="11229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accent2"/>
                </a:solidFill>
              </a:rPr>
              <a:t>Atmospheric:</a:t>
            </a:r>
            <a:r>
              <a:rPr lang="en-US" altLang="zh-CN" sz="2400" b="1"/>
              <a:t> </a:t>
            </a:r>
            <a:r>
              <a:rPr lang="en-US" altLang="zh-CN" sz="2400"/>
              <a:t>Higher humidity reduces cooling efficiency</a:t>
            </a:r>
            <a:endParaRPr lang="en-US" altLang="zh-CN" sz="2400" b="1"/>
          </a:p>
          <a:p>
            <a:r>
              <a:rPr lang="en-US" altLang="zh-CN" sz="2400" b="1">
                <a:solidFill>
                  <a:schemeClr val="accent2"/>
                </a:solidFill>
              </a:rPr>
              <a:t>Global: </a:t>
            </a:r>
            <a:r>
              <a:rPr lang="en-US" altLang="zh-CN" sz="2400"/>
              <a:t>Rising greenhouse gas concentrations intensify baseline warming </a:t>
            </a:r>
          </a:p>
          <a:p>
            <a:r>
              <a:rPr lang="en-US" altLang="zh-CN" sz="2400" b="1">
                <a:solidFill>
                  <a:schemeClr val="accent2"/>
                </a:solidFill>
              </a:rPr>
              <a:t>Local: </a:t>
            </a:r>
            <a:r>
              <a:rPr lang="en-US" altLang="zh-CN" sz="2400"/>
              <a:t>Urban Heat Island stores heat through buildings and surfaces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1" t="25850" r="1701" b="20600"/>
          <a:stretch>
            <a:fillRect/>
          </a:stretch>
        </p:blipFill>
        <p:spPr>
          <a:xfrm>
            <a:off x="781840" y="1450736"/>
            <a:ext cx="10628320" cy="39565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线连接符 10"/>
          <p:cNvCxnSpPr/>
          <p:nvPr/>
        </p:nvCxnSpPr>
        <p:spPr>
          <a:xfrm>
            <a:off x="336069" y="1268914"/>
            <a:ext cx="11683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279650" y="548640"/>
            <a:ext cx="9285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335915" y="1409064"/>
            <a:ext cx="11579860" cy="3313819"/>
          </a:xfrm>
          <a:prstGeom prst="roundRect">
            <a:avLst>
              <a:gd name="adj" fmla="val 1867"/>
            </a:avLst>
          </a:prstGeom>
          <a:noFill/>
          <a:ln w="22225" cap="rnd" cmpd="sng" algn="ctr">
            <a:solidFill>
              <a:srgbClr val="FFFFFF">
                <a:lumMod val="50000"/>
              </a:srgbClr>
            </a:solidFill>
            <a:prstDash val="dash"/>
            <a:round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5916" y="1398580"/>
            <a:ext cx="5752598" cy="456612"/>
          </a:xfrm>
          <a:prstGeom prst="rect">
            <a:avLst/>
          </a:prstGeom>
          <a:solidFill>
            <a:srgbClr val="1E32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03010" y="1388745"/>
            <a:ext cx="5612765" cy="456565"/>
          </a:xfrm>
          <a:prstGeom prst="rect">
            <a:avLst/>
          </a:prstGeom>
          <a:solidFill>
            <a:srgbClr val="1E32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98333" y="3911836"/>
            <a:ext cx="5690110" cy="743656"/>
          </a:xfrm>
          <a:prstGeom prst="rect">
            <a:avLst/>
          </a:prstGeom>
          <a:solidFill>
            <a:srgbClr val="FFFFFF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09066" y="1891915"/>
            <a:ext cx="5690046" cy="1956783"/>
          </a:xfrm>
          <a:prstGeom prst="rect">
            <a:avLst/>
          </a:prstGeom>
          <a:solidFill>
            <a:srgbClr val="FFFFFF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Calibri" panose="020F0502020204030204" charset="0"/>
              <a:ea typeface="等线" panose="02010600030101010101" pitchFamily="2" charset="-122"/>
            </a:endParaRPr>
          </a:p>
        </p:txBody>
      </p:sp>
      <p:cxnSp>
        <p:nvCxnSpPr>
          <p:cNvPr id="89" name="直线连接符 88"/>
          <p:cNvCxnSpPr/>
          <p:nvPr/>
        </p:nvCxnSpPr>
        <p:spPr>
          <a:xfrm>
            <a:off x="3113495" y="4887973"/>
            <a:ext cx="0" cy="1800000"/>
          </a:xfrm>
          <a:prstGeom prst="line">
            <a:avLst/>
          </a:prstGeom>
          <a:noFill/>
          <a:ln w="22225" cap="flat" cmpd="sng" algn="ctr">
            <a:solidFill>
              <a:srgbClr val="FFFFFF">
                <a:lumMod val="50000"/>
              </a:srgbClr>
            </a:solidFill>
            <a:prstDash val="dash"/>
            <a:miter lim="800000"/>
          </a:ln>
          <a:effectLst/>
        </p:spPr>
      </p:cxnSp>
      <p:sp>
        <p:nvSpPr>
          <p:cNvPr id="94" name="文本框 93"/>
          <p:cNvSpPr txBox="1"/>
          <p:nvPr/>
        </p:nvSpPr>
        <p:spPr>
          <a:xfrm>
            <a:off x="2590673" y="1401699"/>
            <a:ext cx="1438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000" b="1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  <a:sym typeface="+mn-ea"/>
              </a:rPr>
              <a:t>Questions</a:t>
            </a:r>
            <a:endParaRPr kumimoji="1" lang="zh-CN" altLang="en-US" sz="2000">
              <a:solidFill>
                <a:srgbClr val="FFFFFF"/>
              </a:solidFill>
              <a:ea typeface="等线" panose="02010600030101010101" pitchFamily="2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408897" y="1409319"/>
            <a:ext cx="1704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000" b="1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思源黑体 CN Bold" panose="020B0800000000000000" pitchFamily="34" charset="-122"/>
                <a:cs typeface="Arial" panose="020B0604020202020204" pitchFamily="34" charset="0"/>
                <a:sym typeface="+mn-ea"/>
              </a:rPr>
              <a:t>Key findings</a:t>
            </a:r>
            <a:endParaRPr kumimoji="1" lang="zh-CN" altLang="en-US" sz="2000">
              <a:solidFill>
                <a:srgbClr val="FFFFFF"/>
              </a:solidFill>
              <a:ea typeface="等线" panose="02010600030101010101" pitchFamily="2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419798" y="2141647"/>
            <a:ext cx="5679314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Geneva" charset="0"/>
                <a:cs typeface="Arial" panose="020B0604020202020204"/>
                <a:sym typeface="+mn-ea"/>
              </a:rPr>
              <a:t>How do projected post-2050 increases in </a:t>
            </a:r>
            <a:r>
              <a:rPr lang="en-GB" i="1">
                <a:solidFill>
                  <a:schemeClr val="bg1"/>
                </a:solidFill>
                <a:latin typeface="Arial" panose="020B0604020202020204"/>
                <a:ea typeface="Geneva" charset="0"/>
                <a:cs typeface="Arial" panose="020B0604020202020204"/>
                <a:sym typeface="+mn-ea"/>
              </a:rPr>
              <a:t>monthly aggregated maximum</a:t>
            </a:r>
            <a:r>
              <a:rPr lang="en-GB" i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Geneva" charset="0"/>
                <a:cs typeface="Arial" panose="020B0604020202020204"/>
                <a:sym typeface="+mn-ea"/>
              </a:rPr>
              <a:t> near-surface air temperature </a:t>
            </a:r>
            <a:r>
              <a:rPr lang="en-GB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Geneva" charset="0"/>
                <a:cs typeface="Arial" panose="020B0604020202020204"/>
                <a:sym typeface="+mn-ea"/>
              </a:rPr>
              <a:t>(TREFMXAV_U) vary across scenario and season, and does Manchester follow the wider regional pattern?</a:t>
            </a:r>
            <a:endParaRPr kumimoji="1" lang="en-GB" altLang="en-US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Geneva" charset="0"/>
              <a:cs typeface="Arial" panose="020B0604020202020204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430530" y="4006403"/>
            <a:ext cx="565785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en-US" altLang="zh-CN" dirty="0">
                <a:solidFill>
                  <a:srgbClr val="FFFFFF"/>
                </a:solidFill>
                <a:ea typeface="等线"/>
              </a:rPr>
              <a:t>Which covariates are most important for predicting TREFMXAV_U?</a:t>
            </a:r>
          </a:p>
        </p:txBody>
      </p:sp>
      <p:sp>
        <p:nvSpPr>
          <p:cNvPr id="123" name="文本框 122"/>
          <p:cNvSpPr txBox="1"/>
          <p:nvPr/>
        </p:nvSpPr>
        <p:spPr>
          <a:xfrm>
            <a:off x="6137481" y="1870865"/>
            <a:ext cx="5870270" cy="2003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zh-CN" sz="1500" dirty="0">
                <a:solidFill>
                  <a:srgbClr val="1E324D"/>
                </a:solidFill>
                <a:ea typeface="等线" panose="02010600030101010101" pitchFamily="2" charset="-122"/>
              </a:rPr>
              <a:t>Post-2050 holdout evaluation showed high agreement between predictions and true values, supporting the interpretation of the scenario and seasonal patterns.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zh-CN" sz="1500" dirty="0">
                <a:solidFill>
                  <a:srgbClr val="1E324D"/>
                </a:solidFill>
                <a:ea typeface="等线" panose="02010600030101010101" pitchFamily="2" charset="-122"/>
              </a:rPr>
              <a:t>TREFMXAV_U increases after 2050 across all scenarios.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zh-CN" sz="1500" dirty="0">
                <a:solidFill>
                  <a:srgbClr val="1E324D"/>
                </a:solidFill>
                <a:ea typeface="等线" panose="02010600030101010101" pitchFamily="2" charset="-122"/>
              </a:rPr>
              <a:t>Warming is seasonally uneven, with stronger warm-season amplification by 2070-2080.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zh-CN" sz="1500" dirty="0">
                <a:solidFill>
                  <a:srgbClr val="1E324D"/>
                </a:solidFill>
                <a:ea typeface="等线" panose="02010600030101010101" pitchFamily="2" charset="-122"/>
              </a:rPr>
              <a:t>Manchester follows the wider regional pattern but remains warmer and shows some seasonal differences.</a:t>
            </a:r>
          </a:p>
        </p:txBody>
      </p:sp>
      <p:cxnSp>
        <p:nvCxnSpPr>
          <p:cNvPr id="126" name="直线连接符 125"/>
          <p:cNvCxnSpPr/>
          <p:nvPr/>
        </p:nvCxnSpPr>
        <p:spPr>
          <a:xfrm flipH="1">
            <a:off x="6407254" y="3910448"/>
            <a:ext cx="5378029" cy="0"/>
          </a:xfrm>
          <a:prstGeom prst="line">
            <a:avLst/>
          </a:prstGeom>
          <a:noFill/>
          <a:ln w="22225" cap="flat" cmpd="sng" algn="ctr">
            <a:solidFill>
              <a:srgbClr val="FFFFFF">
                <a:lumMod val="50000"/>
              </a:srgbClr>
            </a:solidFill>
            <a:prstDash val="dash"/>
            <a:miter lim="800000"/>
          </a:ln>
          <a:effectLst/>
        </p:spPr>
      </p:cxnSp>
      <p:sp>
        <p:nvSpPr>
          <p:cNvPr id="7" name="文本框 6"/>
          <p:cNvSpPr txBox="1"/>
          <p:nvPr/>
        </p:nvSpPr>
        <p:spPr>
          <a:xfrm>
            <a:off x="6148213" y="3888546"/>
            <a:ext cx="561403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zh-CN" sz="1500" dirty="0">
                <a:solidFill>
                  <a:srgbClr val="1E324D"/>
                </a:solidFill>
                <a:ea typeface="等线" panose="02010600030101010101" pitchFamily="2" charset="-122"/>
              </a:rPr>
              <a:t>TREFHT is a major predictor, but other climate variables – like FSNS – and time features – like monthly encoding – also contribute meaningfully.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274695" y="4993646"/>
            <a:ext cx="10012680" cy="1620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marR="0" lvl="0" indent="-457200" algn="l" defTabSz="914400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zh-CN" sz="2100" b="1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Radiation</a:t>
            </a:r>
            <a:r>
              <a:rPr lang="zh-CN" altLang="zh-CN" sz="210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and </a:t>
            </a:r>
            <a:r>
              <a:rPr lang="zh-CN" altLang="zh-CN" sz="2100" b="1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humidity</a:t>
            </a:r>
            <a:r>
              <a:rPr lang="zh-CN" altLang="zh-CN" sz="210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directly influence temperature rise </a:t>
            </a:r>
            <a:endParaRPr kumimoji="0" lang="zh-CN" altLang="zh-CN" sz="2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zh-CN" sz="2100" b="1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Global greenhouse</a:t>
            </a:r>
            <a:r>
              <a:rPr lang="zh-CN" altLang="zh-CN" sz="210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forcing drives background warming </a:t>
            </a:r>
            <a:endParaRPr kumimoji="0" lang="zh-CN" altLang="zh-CN" sz="2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zh-CN" sz="2100" b="1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Urban Heat Island</a:t>
            </a:r>
            <a:r>
              <a:rPr lang="zh-CN" altLang="zh-CN" sz="210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amplifies local warming </a:t>
            </a:r>
            <a:endParaRPr kumimoji="0" lang="zh-CN" altLang="zh-CN" sz="2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sz="2100" dirty="0"/>
          </a:p>
        </p:txBody>
      </p:sp>
      <p:sp>
        <p:nvSpPr>
          <p:cNvPr id="19" name="任意形状 74"/>
          <p:cNvSpPr/>
          <p:nvPr/>
        </p:nvSpPr>
        <p:spPr>
          <a:xfrm>
            <a:off x="234212" y="4987911"/>
            <a:ext cx="2652823" cy="1605860"/>
          </a:xfrm>
          <a:custGeom>
            <a:avLst/>
            <a:gdLst>
              <a:gd name="connsiteX0" fmla="*/ 170121 w 2652823"/>
              <a:gd name="connsiteY0" fmla="*/ 21265 h 2456121"/>
              <a:gd name="connsiteX1" fmla="*/ 63795 w 2652823"/>
              <a:gd name="connsiteY1" fmla="*/ 26582 h 2456121"/>
              <a:gd name="connsiteX2" fmla="*/ 63795 w 2652823"/>
              <a:gd name="connsiteY2" fmla="*/ 26582 h 2456121"/>
              <a:gd name="connsiteX3" fmla="*/ 15948 w 2652823"/>
              <a:gd name="connsiteY3" fmla="*/ 42530 h 2456121"/>
              <a:gd name="connsiteX4" fmla="*/ 31897 w 2652823"/>
              <a:gd name="connsiteY4" fmla="*/ 143540 h 2456121"/>
              <a:gd name="connsiteX5" fmla="*/ 21265 w 2652823"/>
              <a:gd name="connsiteY5" fmla="*/ 308344 h 2456121"/>
              <a:gd name="connsiteX6" fmla="*/ 21265 w 2652823"/>
              <a:gd name="connsiteY6" fmla="*/ 414670 h 2456121"/>
              <a:gd name="connsiteX7" fmla="*/ 26581 w 2652823"/>
              <a:gd name="connsiteY7" fmla="*/ 483782 h 2456121"/>
              <a:gd name="connsiteX8" fmla="*/ 0 w 2652823"/>
              <a:gd name="connsiteY8" fmla="*/ 547577 h 2456121"/>
              <a:gd name="connsiteX9" fmla="*/ 15948 w 2652823"/>
              <a:gd name="connsiteY9" fmla="*/ 616688 h 2456121"/>
              <a:gd name="connsiteX10" fmla="*/ 15948 w 2652823"/>
              <a:gd name="connsiteY10" fmla="*/ 781493 h 2456121"/>
              <a:gd name="connsiteX11" fmla="*/ 37214 w 2652823"/>
              <a:gd name="connsiteY11" fmla="*/ 861237 h 2456121"/>
              <a:gd name="connsiteX12" fmla="*/ 53162 w 2652823"/>
              <a:gd name="connsiteY12" fmla="*/ 935665 h 2456121"/>
              <a:gd name="connsiteX13" fmla="*/ 21265 w 2652823"/>
              <a:gd name="connsiteY13" fmla="*/ 1026042 h 2456121"/>
              <a:gd name="connsiteX14" fmla="*/ 26581 w 2652823"/>
              <a:gd name="connsiteY14" fmla="*/ 1180214 h 2456121"/>
              <a:gd name="connsiteX15" fmla="*/ 10632 w 2652823"/>
              <a:gd name="connsiteY15" fmla="*/ 1302488 h 2456121"/>
              <a:gd name="connsiteX16" fmla="*/ 26581 w 2652823"/>
              <a:gd name="connsiteY16" fmla="*/ 1371600 h 2456121"/>
              <a:gd name="connsiteX17" fmla="*/ 26581 w 2652823"/>
              <a:gd name="connsiteY17" fmla="*/ 1371600 h 2456121"/>
              <a:gd name="connsiteX18" fmla="*/ 10632 w 2652823"/>
              <a:gd name="connsiteY18" fmla="*/ 1876647 h 2456121"/>
              <a:gd name="connsiteX19" fmla="*/ 42530 w 2652823"/>
              <a:gd name="connsiteY19" fmla="*/ 2413591 h 2456121"/>
              <a:gd name="connsiteX20" fmla="*/ 90376 w 2652823"/>
              <a:gd name="connsiteY20" fmla="*/ 2445488 h 2456121"/>
              <a:gd name="connsiteX21" fmla="*/ 143539 w 2652823"/>
              <a:gd name="connsiteY21" fmla="*/ 2440172 h 2456121"/>
              <a:gd name="connsiteX22" fmla="*/ 255181 w 2652823"/>
              <a:gd name="connsiteY22" fmla="*/ 2445488 h 2456121"/>
              <a:gd name="connsiteX23" fmla="*/ 308344 w 2652823"/>
              <a:gd name="connsiteY23" fmla="*/ 2440172 h 2456121"/>
              <a:gd name="connsiteX24" fmla="*/ 393404 w 2652823"/>
              <a:gd name="connsiteY24" fmla="*/ 2456121 h 2456121"/>
              <a:gd name="connsiteX25" fmla="*/ 483781 w 2652823"/>
              <a:gd name="connsiteY25" fmla="*/ 2434856 h 2456121"/>
              <a:gd name="connsiteX26" fmla="*/ 606055 w 2652823"/>
              <a:gd name="connsiteY26" fmla="*/ 2440172 h 2456121"/>
              <a:gd name="connsiteX27" fmla="*/ 648586 w 2652823"/>
              <a:gd name="connsiteY27" fmla="*/ 2450805 h 2456121"/>
              <a:gd name="connsiteX28" fmla="*/ 733646 w 2652823"/>
              <a:gd name="connsiteY28" fmla="*/ 2450805 h 2456121"/>
              <a:gd name="connsiteX29" fmla="*/ 733646 w 2652823"/>
              <a:gd name="connsiteY29" fmla="*/ 2450805 h 2456121"/>
              <a:gd name="connsiteX30" fmla="*/ 818707 w 2652823"/>
              <a:gd name="connsiteY30" fmla="*/ 2418907 h 2456121"/>
              <a:gd name="connsiteX31" fmla="*/ 898451 w 2652823"/>
              <a:gd name="connsiteY31" fmla="*/ 2450805 h 2456121"/>
              <a:gd name="connsiteX32" fmla="*/ 994144 w 2652823"/>
              <a:gd name="connsiteY32" fmla="*/ 2450805 h 2456121"/>
              <a:gd name="connsiteX33" fmla="*/ 1057939 w 2652823"/>
              <a:gd name="connsiteY33" fmla="*/ 2418907 h 2456121"/>
              <a:gd name="connsiteX34" fmla="*/ 1233376 w 2652823"/>
              <a:gd name="connsiteY34" fmla="*/ 2429540 h 2456121"/>
              <a:gd name="connsiteX35" fmla="*/ 1366283 w 2652823"/>
              <a:gd name="connsiteY35" fmla="*/ 2456121 h 2456121"/>
              <a:gd name="connsiteX36" fmla="*/ 1392865 w 2652823"/>
              <a:gd name="connsiteY36" fmla="*/ 2408275 h 2456121"/>
              <a:gd name="connsiteX37" fmla="*/ 1408814 w 2652823"/>
              <a:gd name="connsiteY37" fmla="*/ 2434856 h 2456121"/>
              <a:gd name="connsiteX38" fmla="*/ 1483241 w 2652823"/>
              <a:gd name="connsiteY38" fmla="*/ 2434856 h 2456121"/>
              <a:gd name="connsiteX39" fmla="*/ 1483241 w 2652823"/>
              <a:gd name="connsiteY39" fmla="*/ 2434856 h 2456121"/>
              <a:gd name="connsiteX40" fmla="*/ 1547037 w 2652823"/>
              <a:gd name="connsiteY40" fmla="*/ 2445488 h 2456121"/>
              <a:gd name="connsiteX41" fmla="*/ 1679944 w 2652823"/>
              <a:gd name="connsiteY41" fmla="*/ 2440172 h 2456121"/>
              <a:gd name="connsiteX42" fmla="*/ 1818167 w 2652823"/>
              <a:gd name="connsiteY42" fmla="*/ 2413591 h 2456121"/>
              <a:gd name="connsiteX43" fmla="*/ 1908544 w 2652823"/>
              <a:gd name="connsiteY43" fmla="*/ 2429540 h 2456121"/>
              <a:gd name="connsiteX44" fmla="*/ 1977655 w 2652823"/>
              <a:gd name="connsiteY44" fmla="*/ 2456121 h 2456121"/>
              <a:gd name="connsiteX45" fmla="*/ 2137144 w 2652823"/>
              <a:gd name="connsiteY45" fmla="*/ 2413591 h 2456121"/>
              <a:gd name="connsiteX46" fmla="*/ 2291316 w 2652823"/>
              <a:gd name="connsiteY46" fmla="*/ 2424223 h 2456121"/>
              <a:gd name="connsiteX47" fmla="*/ 2339162 w 2652823"/>
              <a:gd name="connsiteY47" fmla="*/ 2456121 h 2456121"/>
              <a:gd name="connsiteX48" fmla="*/ 2392325 w 2652823"/>
              <a:gd name="connsiteY48" fmla="*/ 2424223 h 2456121"/>
              <a:gd name="connsiteX49" fmla="*/ 2488018 w 2652823"/>
              <a:gd name="connsiteY49" fmla="*/ 2418907 h 2456121"/>
              <a:gd name="connsiteX50" fmla="*/ 2583711 w 2652823"/>
              <a:gd name="connsiteY50" fmla="*/ 2424223 h 2456121"/>
              <a:gd name="connsiteX51" fmla="*/ 2652823 w 2652823"/>
              <a:gd name="connsiteY51" fmla="*/ 2440172 h 2456121"/>
              <a:gd name="connsiteX52" fmla="*/ 2626241 w 2652823"/>
              <a:gd name="connsiteY52" fmla="*/ 2387009 h 2456121"/>
              <a:gd name="connsiteX53" fmla="*/ 2647507 w 2652823"/>
              <a:gd name="connsiteY53" fmla="*/ 2147777 h 2456121"/>
              <a:gd name="connsiteX54" fmla="*/ 2615609 w 2652823"/>
              <a:gd name="connsiteY54" fmla="*/ 2105247 h 2456121"/>
              <a:gd name="connsiteX55" fmla="*/ 2647507 w 2652823"/>
              <a:gd name="connsiteY55" fmla="*/ 2004237 h 2456121"/>
              <a:gd name="connsiteX56" fmla="*/ 2615609 w 2652823"/>
              <a:gd name="connsiteY56" fmla="*/ 1903228 h 2456121"/>
              <a:gd name="connsiteX57" fmla="*/ 2642190 w 2652823"/>
              <a:gd name="connsiteY57" fmla="*/ 1844749 h 2456121"/>
              <a:gd name="connsiteX58" fmla="*/ 2615609 w 2652823"/>
              <a:gd name="connsiteY58" fmla="*/ 1637414 h 2456121"/>
              <a:gd name="connsiteX59" fmla="*/ 2626241 w 2652823"/>
              <a:gd name="connsiteY59" fmla="*/ 1302488 h 2456121"/>
              <a:gd name="connsiteX60" fmla="*/ 2620925 w 2652823"/>
              <a:gd name="connsiteY60" fmla="*/ 1026042 h 2456121"/>
              <a:gd name="connsiteX61" fmla="*/ 2610293 w 2652823"/>
              <a:gd name="connsiteY61" fmla="*/ 845288 h 2456121"/>
              <a:gd name="connsiteX62" fmla="*/ 2647507 w 2652823"/>
              <a:gd name="connsiteY62" fmla="*/ 547577 h 2456121"/>
              <a:gd name="connsiteX63" fmla="*/ 2647507 w 2652823"/>
              <a:gd name="connsiteY63" fmla="*/ 308344 h 2456121"/>
              <a:gd name="connsiteX64" fmla="*/ 2610293 w 2652823"/>
              <a:gd name="connsiteY64" fmla="*/ 276447 h 2456121"/>
              <a:gd name="connsiteX65" fmla="*/ 2620925 w 2652823"/>
              <a:gd name="connsiteY65" fmla="*/ 196702 h 2456121"/>
              <a:gd name="connsiteX66" fmla="*/ 2610293 w 2652823"/>
              <a:gd name="connsiteY66" fmla="*/ 74428 h 2456121"/>
              <a:gd name="connsiteX67" fmla="*/ 2615609 w 2652823"/>
              <a:gd name="connsiteY67" fmla="*/ 10633 h 2456121"/>
              <a:gd name="connsiteX68" fmla="*/ 2562446 w 2652823"/>
              <a:gd name="connsiteY68" fmla="*/ 0 h 2456121"/>
              <a:gd name="connsiteX69" fmla="*/ 2195623 w 2652823"/>
              <a:gd name="connsiteY69" fmla="*/ 37214 h 2456121"/>
              <a:gd name="connsiteX70" fmla="*/ 1977655 w 2652823"/>
              <a:gd name="connsiteY70" fmla="*/ 37214 h 2456121"/>
              <a:gd name="connsiteX71" fmla="*/ 1727790 w 2652823"/>
              <a:gd name="connsiteY71" fmla="*/ 21265 h 2456121"/>
              <a:gd name="connsiteX72" fmla="*/ 1366283 w 2652823"/>
              <a:gd name="connsiteY72" fmla="*/ 26582 h 2456121"/>
              <a:gd name="connsiteX73" fmla="*/ 1031358 w 2652823"/>
              <a:gd name="connsiteY73" fmla="*/ 10633 h 2456121"/>
              <a:gd name="connsiteX74" fmla="*/ 754911 w 2652823"/>
              <a:gd name="connsiteY74" fmla="*/ 42530 h 2456121"/>
              <a:gd name="connsiteX75" fmla="*/ 552893 w 2652823"/>
              <a:gd name="connsiteY75" fmla="*/ 31898 h 2456121"/>
              <a:gd name="connsiteX76" fmla="*/ 409353 w 2652823"/>
              <a:gd name="connsiteY76" fmla="*/ 21265 h 2456121"/>
              <a:gd name="connsiteX77" fmla="*/ 297711 w 2652823"/>
              <a:gd name="connsiteY77" fmla="*/ 42530 h 2456121"/>
              <a:gd name="connsiteX78" fmla="*/ 170121 w 2652823"/>
              <a:gd name="connsiteY78" fmla="*/ 21265 h 2456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2652823" h="2456121">
                <a:moveTo>
                  <a:pt x="170121" y="21265"/>
                </a:moveTo>
                <a:lnTo>
                  <a:pt x="63795" y="26582"/>
                </a:lnTo>
                <a:lnTo>
                  <a:pt x="63795" y="26582"/>
                </a:lnTo>
                <a:lnTo>
                  <a:pt x="15948" y="42530"/>
                </a:lnTo>
                <a:lnTo>
                  <a:pt x="31897" y="143540"/>
                </a:lnTo>
                <a:lnTo>
                  <a:pt x="21265" y="308344"/>
                </a:lnTo>
                <a:lnTo>
                  <a:pt x="21265" y="414670"/>
                </a:lnTo>
                <a:lnTo>
                  <a:pt x="26581" y="483782"/>
                </a:lnTo>
                <a:lnTo>
                  <a:pt x="0" y="547577"/>
                </a:lnTo>
                <a:lnTo>
                  <a:pt x="15948" y="616688"/>
                </a:lnTo>
                <a:lnTo>
                  <a:pt x="15948" y="781493"/>
                </a:lnTo>
                <a:lnTo>
                  <a:pt x="37214" y="861237"/>
                </a:lnTo>
                <a:lnTo>
                  <a:pt x="53162" y="935665"/>
                </a:lnTo>
                <a:lnTo>
                  <a:pt x="21265" y="1026042"/>
                </a:lnTo>
                <a:lnTo>
                  <a:pt x="26581" y="1180214"/>
                </a:lnTo>
                <a:lnTo>
                  <a:pt x="10632" y="1302488"/>
                </a:lnTo>
                <a:lnTo>
                  <a:pt x="26581" y="1371600"/>
                </a:lnTo>
                <a:lnTo>
                  <a:pt x="26581" y="1371600"/>
                </a:lnTo>
                <a:lnTo>
                  <a:pt x="10632" y="1876647"/>
                </a:lnTo>
                <a:lnTo>
                  <a:pt x="42530" y="2413591"/>
                </a:lnTo>
                <a:lnTo>
                  <a:pt x="90376" y="2445488"/>
                </a:lnTo>
                <a:lnTo>
                  <a:pt x="143539" y="2440172"/>
                </a:lnTo>
                <a:lnTo>
                  <a:pt x="255181" y="2445488"/>
                </a:lnTo>
                <a:lnTo>
                  <a:pt x="308344" y="2440172"/>
                </a:lnTo>
                <a:lnTo>
                  <a:pt x="393404" y="2456121"/>
                </a:lnTo>
                <a:lnTo>
                  <a:pt x="483781" y="2434856"/>
                </a:lnTo>
                <a:lnTo>
                  <a:pt x="606055" y="2440172"/>
                </a:lnTo>
                <a:lnTo>
                  <a:pt x="648586" y="2450805"/>
                </a:lnTo>
                <a:lnTo>
                  <a:pt x="733646" y="2450805"/>
                </a:lnTo>
                <a:lnTo>
                  <a:pt x="733646" y="2450805"/>
                </a:lnTo>
                <a:lnTo>
                  <a:pt x="818707" y="2418907"/>
                </a:lnTo>
                <a:lnTo>
                  <a:pt x="898451" y="2450805"/>
                </a:lnTo>
                <a:lnTo>
                  <a:pt x="994144" y="2450805"/>
                </a:lnTo>
                <a:lnTo>
                  <a:pt x="1057939" y="2418907"/>
                </a:lnTo>
                <a:lnTo>
                  <a:pt x="1233376" y="2429540"/>
                </a:lnTo>
                <a:lnTo>
                  <a:pt x="1366283" y="2456121"/>
                </a:lnTo>
                <a:lnTo>
                  <a:pt x="1392865" y="2408275"/>
                </a:lnTo>
                <a:lnTo>
                  <a:pt x="1408814" y="2434856"/>
                </a:lnTo>
                <a:lnTo>
                  <a:pt x="1483241" y="2434856"/>
                </a:lnTo>
                <a:lnTo>
                  <a:pt x="1483241" y="2434856"/>
                </a:lnTo>
                <a:lnTo>
                  <a:pt x="1547037" y="2445488"/>
                </a:lnTo>
                <a:lnTo>
                  <a:pt x="1679944" y="2440172"/>
                </a:lnTo>
                <a:lnTo>
                  <a:pt x="1818167" y="2413591"/>
                </a:lnTo>
                <a:lnTo>
                  <a:pt x="1908544" y="2429540"/>
                </a:lnTo>
                <a:lnTo>
                  <a:pt x="1977655" y="2456121"/>
                </a:lnTo>
                <a:lnTo>
                  <a:pt x="2137144" y="2413591"/>
                </a:lnTo>
                <a:lnTo>
                  <a:pt x="2291316" y="2424223"/>
                </a:lnTo>
                <a:lnTo>
                  <a:pt x="2339162" y="2456121"/>
                </a:lnTo>
                <a:lnTo>
                  <a:pt x="2392325" y="2424223"/>
                </a:lnTo>
                <a:lnTo>
                  <a:pt x="2488018" y="2418907"/>
                </a:lnTo>
                <a:lnTo>
                  <a:pt x="2583711" y="2424223"/>
                </a:lnTo>
                <a:lnTo>
                  <a:pt x="2652823" y="2440172"/>
                </a:lnTo>
                <a:lnTo>
                  <a:pt x="2626241" y="2387009"/>
                </a:lnTo>
                <a:lnTo>
                  <a:pt x="2647507" y="2147777"/>
                </a:lnTo>
                <a:lnTo>
                  <a:pt x="2615609" y="2105247"/>
                </a:lnTo>
                <a:lnTo>
                  <a:pt x="2647507" y="2004237"/>
                </a:lnTo>
                <a:lnTo>
                  <a:pt x="2615609" y="1903228"/>
                </a:lnTo>
                <a:lnTo>
                  <a:pt x="2642190" y="1844749"/>
                </a:lnTo>
                <a:lnTo>
                  <a:pt x="2615609" y="1637414"/>
                </a:lnTo>
                <a:lnTo>
                  <a:pt x="2626241" y="1302488"/>
                </a:lnTo>
                <a:lnTo>
                  <a:pt x="2620925" y="1026042"/>
                </a:lnTo>
                <a:lnTo>
                  <a:pt x="2610293" y="845288"/>
                </a:lnTo>
                <a:lnTo>
                  <a:pt x="2647507" y="547577"/>
                </a:lnTo>
                <a:lnTo>
                  <a:pt x="2647507" y="308344"/>
                </a:lnTo>
                <a:lnTo>
                  <a:pt x="2610293" y="276447"/>
                </a:lnTo>
                <a:lnTo>
                  <a:pt x="2620925" y="196702"/>
                </a:lnTo>
                <a:lnTo>
                  <a:pt x="2610293" y="74428"/>
                </a:lnTo>
                <a:lnTo>
                  <a:pt x="2615609" y="10633"/>
                </a:lnTo>
                <a:lnTo>
                  <a:pt x="2562446" y="0"/>
                </a:lnTo>
                <a:lnTo>
                  <a:pt x="2195623" y="37214"/>
                </a:lnTo>
                <a:lnTo>
                  <a:pt x="1977655" y="37214"/>
                </a:lnTo>
                <a:lnTo>
                  <a:pt x="1727790" y="21265"/>
                </a:lnTo>
                <a:lnTo>
                  <a:pt x="1366283" y="26582"/>
                </a:lnTo>
                <a:lnTo>
                  <a:pt x="1031358" y="10633"/>
                </a:lnTo>
                <a:lnTo>
                  <a:pt x="754911" y="42530"/>
                </a:lnTo>
                <a:lnTo>
                  <a:pt x="552893" y="31898"/>
                </a:lnTo>
                <a:lnTo>
                  <a:pt x="409353" y="21265"/>
                </a:lnTo>
                <a:lnTo>
                  <a:pt x="297711" y="42530"/>
                </a:lnTo>
                <a:lnTo>
                  <a:pt x="170121" y="2126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b="1" dirty="0">
              <a:solidFill>
                <a:schemeClr val="accent2"/>
              </a:solidFill>
            </a:endParaRPr>
          </a:p>
          <a:p>
            <a:pPr algn="ctr"/>
            <a:r>
              <a:rPr lang="en-US" altLang="zh-CN" b="1" dirty="0">
                <a:solidFill>
                  <a:schemeClr val="accent2"/>
                </a:solidFill>
              </a:rPr>
              <a:t>Plausible physical interpretations linked to the projections</a:t>
            </a:r>
            <a:endParaRPr kumimoji="1" lang="zh-CN" altLang="en-US" b="1" dirty="0">
              <a:solidFill>
                <a:schemeClr val="accent2"/>
              </a:solidFill>
            </a:endParaRPr>
          </a:p>
        </p:txBody>
      </p:sp>
      <p:grpSp>
        <p:nvGrpSpPr>
          <p:cNvPr id="6" name="Google Shape;6487;p78"/>
          <p:cNvGrpSpPr/>
          <p:nvPr/>
        </p:nvGrpSpPr>
        <p:grpSpPr>
          <a:xfrm>
            <a:off x="380733" y="5047190"/>
            <a:ext cx="466773" cy="465511"/>
            <a:chOff x="2037825" y="3981825"/>
            <a:chExt cx="296175" cy="295375"/>
          </a:xfrm>
          <a:solidFill>
            <a:schemeClr val="accent2"/>
          </a:solidFill>
        </p:grpSpPr>
        <p:sp>
          <p:nvSpPr>
            <p:cNvPr id="8" name="Google Shape;6488;p78"/>
            <p:cNvSpPr/>
            <p:nvPr/>
          </p:nvSpPr>
          <p:spPr>
            <a:xfrm>
              <a:off x="2072500" y="4085775"/>
              <a:ext cx="88225" cy="86675"/>
            </a:xfrm>
            <a:custGeom>
              <a:avLst/>
              <a:gdLst/>
              <a:ahLst/>
              <a:cxnLst/>
              <a:rect l="l" t="t" r="r" b="b"/>
              <a:pathLst>
                <a:path w="3529" h="3467" extrusionOk="0">
                  <a:moveTo>
                    <a:pt x="1764" y="1"/>
                  </a:moveTo>
                  <a:cubicBezTo>
                    <a:pt x="819" y="1"/>
                    <a:pt x="0" y="788"/>
                    <a:pt x="0" y="1734"/>
                  </a:cubicBezTo>
                  <a:cubicBezTo>
                    <a:pt x="0" y="2679"/>
                    <a:pt x="819" y="3466"/>
                    <a:pt x="1764" y="3466"/>
                  </a:cubicBezTo>
                  <a:cubicBezTo>
                    <a:pt x="2709" y="3466"/>
                    <a:pt x="3529" y="2679"/>
                    <a:pt x="3529" y="1734"/>
                  </a:cubicBezTo>
                  <a:cubicBezTo>
                    <a:pt x="3529" y="788"/>
                    <a:pt x="2741" y="1"/>
                    <a:pt x="17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/>
            </a:p>
          </p:txBody>
        </p:sp>
        <p:sp>
          <p:nvSpPr>
            <p:cNvPr id="9" name="Google Shape;6489;p78"/>
            <p:cNvSpPr/>
            <p:nvPr/>
          </p:nvSpPr>
          <p:spPr>
            <a:xfrm>
              <a:off x="2176450" y="3981825"/>
              <a:ext cx="157550" cy="155975"/>
            </a:xfrm>
            <a:custGeom>
              <a:avLst/>
              <a:gdLst/>
              <a:ahLst/>
              <a:cxnLst/>
              <a:rect l="l" t="t" r="r" b="b"/>
              <a:pathLst>
                <a:path w="6302" h="6239" extrusionOk="0">
                  <a:moveTo>
                    <a:pt x="3151" y="1733"/>
                  </a:moveTo>
                  <a:cubicBezTo>
                    <a:pt x="3372" y="1733"/>
                    <a:pt x="3529" y="1890"/>
                    <a:pt x="3529" y="2079"/>
                  </a:cubicBezTo>
                  <a:cubicBezTo>
                    <a:pt x="3529" y="2268"/>
                    <a:pt x="3372" y="2426"/>
                    <a:pt x="3151" y="2426"/>
                  </a:cubicBezTo>
                  <a:cubicBezTo>
                    <a:pt x="2962" y="2426"/>
                    <a:pt x="2805" y="2268"/>
                    <a:pt x="2805" y="2079"/>
                  </a:cubicBezTo>
                  <a:cubicBezTo>
                    <a:pt x="2805" y="1890"/>
                    <a:pt x="2962" y="1733"/>
                    <a:pt x="3151" y="1733"/>
                  </a:cubicBezTo>
                  <a:close/>
                  <a:moveTo>
                    <a:pt x="3151" y="2773"/>
                  </a:moveTo>
                  <a:cubicBezTo>
                    <a:pt x="3372" y="2773"/>
                    <a:pt x="3529" y="2930"/>
                    <a:pt x="3529" y="3151"/>
                  </a:cubicBezTo>
                  <a:lnTo>
                    <a:pt x="3529" y="4505"/>
                  </a:lnTo>
                  <a:cubicBezTo>
                    <a:pt x="3529" y="4726"/>
                    <a:pt x="3372" y="4883"/>
                    <a:pt x="3151" y="4883"/>
                  </a:cubicBezTo>
                  <a:cubicBezTo>
                    <a:pt x="2962" y="4883"/>
                    <a:pt x="2805" y="4726"/>
                    <a:pt x="2805" y="4505"/>
                  </a:cubicBezTo>
                  <a:lnTo>
                    <a:pt x="2805" y="3151"/>
                  </a:lnTo>
                  <a:cubicBezTo>
                    <a:pt x="2805" y="2930"/>
                    <a:pt x="2962" y="2773"/>
                    <a:pt x="3151" y="2773"/>
                  </a:cubicBezTo>
                  <a:close/>
                  <a:moveTo>
                    <a:pt x="3151" y="0"/>
                  </a:moveTo>
                  <a:cubicBezTo>
                    <a:pt x="1418" y="0"/>
                    <a:pt x="64" y="1418"/>
                    <a:pt x="64" y="3088"/>
                  </a:cubicBezTo>
                  <a:cubicBezTo>
                    <a:pt x="64" y="3655"/>
                    <a:pt x="158" y="4159"/>
                    <a:pt x="442" y="4631"/>
                  </a:cubicBezTo>
                  <a:lnTo>
                    <a:pt x="64" y="5765"/>
                  </a:lnTo>
                  <a:cubicBezTo>
                    <a:pt x="1" y="5892"/>
                    <a:pt x="64" y="6018"/>
                    <a:pt x="127" y="6112"/>
                  </a:cubicBezTo>
                  <a:cubicBezTo>
                    <a:pt x="190" y="6207"/>
                    <a:pt x="379" y="6238"/>
                    <a:pt x="473" y="6238"/>
                  </a:cubicBezTo>
                  <a:lnTo>
                    <a:pt x="1796" y="5923"/>
                  </a:lnTo>
                  <a:cubicBezTo>
                    <a:pt x="2206" y="6175"/>
                    <a:pt x="2679" y="6238"/>
                    <a:pt x="3214" y="6238"/>
                  </a:cubicBezTo>
                  <a:cubicBezTo>
                    <a:pt x="4947" y="6238"/>
                    <a:pt x="6302" y="4820"/>
                    <a:pt x="6302" y="3119"/>
                  </a:cubicBezTo>
                  <a:cubicBezTo>
                    <a:pt x="6270" y="1418"/>
                    <a:pt x="4884" y="0"/>
                    <a:pt x="31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/>
            </a:p>
          </p:txBody>
        </p:sp>
        <p:sp>
          <p:nvSpPr>
            <p:cNvPr id="10" name="Google Shape;6490;p78"/>
            <p:cNvSpPr/>
            <p:nvPr/>
          </p:nvSpPr>
          <p:spPr>
            <a:xfrm>
              <a:off x="2037825" y="4168475"/>
              <a:ext cx="157550" cy="108725"/>
            </a:xfrm>
            <a:custGeom>
              <a:avLst/>
              <a:gdLst/>
              <a:ahLst/>
              <a:cxnLst/>
              <a:rect l="l" t="t" r="r" b="b"/>
              <a:pathLst>
                <a:path w="6302" h="4349" extrusionOk="0">
                  <a:moveTo>
                    <a:pt x="1356" y="1"/>
                  </a:moveTo>
                  <a:cubicBezTo>
                    <a:pt x="568" y="568"/>
                    <a:pt x="1" y="1513"/>
                    <a:pt x="1" y="2553"/>
                  </a:cubicBezTo>
                  <a:lnTo>
                    <a:pt x="1" y="3970"/>
                  </a:lnTo>
                  <a:cubicBezTo>
                    <a:pt x="1" y="4222"/>
                    <a:pt x="158" y="4348"/>
                    <a:pt x="347" y="4348"/>
                  </a:cubicBezTo>
                  <a:lnTo>
                    <a:pt x="5955" y="4348"/>
                  </a:lnTo>
                  <a:cubicBezTo>
                    <a:pt x="6144" y="4348"/>
                    <a:pt x="6302" y="4191"/>
                    <a:pt x="6302" y="3970"/>
                  </a:cubicBezTo>
                  <a:lnTo>
                    <a:pt x="6302" y="2553"/>
                  </a:lnTo>
                  <a:cubicBezTo>
                    <a:pt x="6302" y="1513"/>
                    <a:pt x="5798" y="599"/>
                    <a:pt x="4947" y="1"/>
                  </a:cubicBezTo>
                  <a:cubicBezTo>
                    <a:pt x="4538" y="505"/>
                    <a:pt x="3844" y="820"/>
                    <a:pt x="3151" y="820"/>
                  </a:cubicBezTo>
                  <a:cubicBezTo>
                    <a:pt x="2427" y="820"/>
                    <a:pt x="1765" y="505"/>
                    <a:pt x="13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05,&quot;left&quot;:508.3288976377953,&quot;top&quot;:130.5,&quot;width&quot;:446.0398425196850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05,&quot;left&quot;:508.3288976377953,&quot;top&quot;:130.5,&quot;width&quot;:446.0398425196850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05,&quot;left&quot;:508.3288976377953,&quot;top&quot;:130.5,&quot;width&quot;:446.0398425196850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05,&quot;left&quot;:508.3288976377953,&quot;top&quot;:130.5,&quot;width&quot;:446.0398425196850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05,&quot;left&quot;:508.3288976377953,&quot;top&quot;:130.5,&quot;width&quot;:446.0398425196850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9694488188976,&quot;left&quot;:508.3288976377953,&quot;top&quot;:130.5,&quot;width&quot;:442.2898425196850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9694488188976,&quot;left&quot;:508.3288976377953,&quot;top&quot;:130.5,&quot;width&quot;:442.2898425196850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9694488188976,&quot;left&quot;:508.3288976377953,&quot;top&quot;:130.5,&quot;width&quot;:442.2898425196850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9694488188976,&quot;left&quot;:508.3288976377953,&quot;top&quot;:130.5,&quot;width&quot;:442.2898425196850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0.51559055118116,&quot;left&quot;:15.064881889763774,&quot;top&quot;:115.11212598425197,&quot;width&quot;:935.553858267716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4338582677166,&quot;left&quot;:503.11629921259845,&quot;top&quot;:146.15661417322835,&quot;width&quot;:429.4337007874015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4338582677166,&quot;left&quot;:503.11629921259845,&quot;top&quot;:146.15661417322835,&quot;width&quot;:429.4337007874015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4338582677166,&quot;left&quot;:503.11629921259845,&quot;top&quot;:146.15661417322835,&quot;width&quot;:429.4337007874015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4338582677166,&quot;left&quot;:503.11629921259845,&quot;top&quot;:146.15661417322835,&quot;width&quot;:429.4337007874015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4338582677166,&quot;left&quot;:503.11629921259845,&quot;top&quot;:146.15661417322835,&quot;width&quot;:429.4337007874015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4338582677166,&quot;left&quot;:503.11629921259845,&quot;top&quot;:146.15661417322835,&quot;width&quot;:429.4337007874015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8.49338582677166,&quot;left&quot;:504.81629921259844,&quot;top&quot;:146.15661417322835,&quot;width&quot;:427.733700787401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8.49338582677166,&quot;left&quot;:504.81629921259844,&quot;top&quot;:146.15661417322835,&quot;width&quot;:427.733700787401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8.49338582677166,&quot;left&quot;:504.81629921259844,&quot;top&quot;:146.15661417322835,&quot;width&quot;:427.733700787401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8.49338582677166,&quot;left&quot;:504.81629921259844,&quot;top&quot;:146.15661417322835,&quot;width&quot;:427.733700787401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8.49338582677166,&quot;left&quot;:504.81629921259844,&quot;top&quot;:146.15661417322835,&quot;width&quot;:427.733700787401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8.49338582677166,&quot;left&quot;:504.81629921259844,&quot;top&quot;:146.15661417322835,&quot;width&quot;:427.733700787401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05,&quot;left&quot;:508.3288976377953,&quot;top&quot;:130.5,&quot;width&quot;:446.0398425196850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9694488188976,&quot;left&quot;:508.3288976377953,&quot;top&quot;:130.5,&quot;width&quot;:442.2898425196850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7.37,&quot;left&quot;:41.829921259842465,&quot;top&quot;:147.92999999999998,&quot;width&quot;:404.3200787401575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7.37,&quot;left&quot;:41.829921259842465,&quot;top&quot;:147.92999999999998,&quot;width&quot;:404.3200787401575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7.37,&quot;left&quot;:41.829921259842465,&quot;top&quot;:147.92999999999998,&quot;width&quot;:404.3200787401575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7.37,&quot;left&quot;:41.829921259842465,&quot;top&quot;:147.92999999999998,&quot;width&quot;:404.3200787401575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7.37,&quot;left&quot;:41.829921259842465,&quot;top&quot;:147.92999999999998,&quot;width&quot;:404.3200787401575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7.37,&quot;left&quot;:41.829921259842465,&quot;top&quot;:147.92999999999998,&quot;width&quot;:404.3200787401575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7.37,&quot;left&quot;:41.829921259842465,&quot;top&quot;:147.92999999999998,&quot;width&quot;:404.3200787401575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7.37,&quot;left&quot;:41.829921259842465,&quot;top&quot;:147.92999999999998,&quot;width&quot;:404.3200787401575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7.37,&quot;left&quot;:41.829921259842465,&quot;top&quot;:147.92999999999998,&quot;width&quot;:404.3200787401575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7.37,&quot;left&quot;:41.829921259842465,&quot;top&quot;:147.92999999999998,&quot;width&quot;:404.3200787401575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7.37,&quot;left&quot;:41.829921259842465,&quot;top&quot;:147.92999999999998,&quot;width&quot;:404.3200787401575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7.37,&quot;left&quot;:41.829921259842465,&quot;top&quot;:147.92999999999998,&quot;width&quot;:404.3200787401575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7.37,&quot;left&quot;:41.829921259842465,&quot;top&quot;:147.92999999999998,&quot;width&quot;:404.3200787401575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05,&quot;left&quot;:508.3288976377953,&quot;top&quot;:130.5,&quot;width&quot;:446.03984251968507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05,&quot;left&quot;:508.3288976377953,&quot;top&quot;:130.5,&quot;width&quot;:446.03984251968507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05,&quot;left&quot;:508.3288976377953,&quot;top&quot;:130.5,&quot;width&quot;:446.03984251968507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05,&quot;left&quot;:508.3288976377953,&quot;top&quot;:130.5,&quot;width&quot;:446.03984251968507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7.37,&quot;left&quot;:41.829921259842465,&quot;top&quot;:147.92999999999998,&quot;width&quot;:404.3200787401575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7.37,&quot;left&quot;:41.829921259842465,&quot;top&quot;:147.92999999999998,&quot;width&quot;:404.3200787401575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05,&quot;left&quot;:508.3288976377953,&quot;top&quot;:130.5,&quot;width&quot;:446.03984251968507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05,&quot;left&quot;:613.9,&quot;top&quot;:185.3,&quot;width&quot;:332.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05,&quot;left&quot;:613.9,&quot;top&quot;:185.3,&quot;width&quot;:332.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05,&quot;left&quot;:613.9,&quot;top&quot;:185.3,&quot;width&quot;:332.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05,&quot;left&quot;:613.9,&quot;top&quot;:185.3,&quot;width&quot;:332.5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05,&quot;left&quot;:508.3288976377953,&quot;top&quot;:130.5,&quot;width&quot;:446.03984251968507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9694488188976,&quot;left&quot;:508.3288976377953,&quot;top&quot;:130.5,&quot;width&quot;:442.28984251968507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05,&quot;left&quot;:508.3288976377953,&quot;top&quot;:130.5,&quot;width&quot;:446.0398425196850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PHER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UoM_powerpoint_169_acasson</Template>
  <TotalTime>35</TotalTime>
  <Words>2439</Words>
  <Application>Microsoft Macintosh PowerPoint</Application>
  <PresentationFormat>Widescreen</PresentationFormat>
  <Paragraphs>313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等线</vt:lpstr>
      <vt:lpstr>黑体</vt:lpstr>
      <vt:lpstr>宋体</vt:lpstr>
      <vt:lpstr>Arial</vt:lpstr>
      <vt:lpstr>Calibri</vt:lpstr>
      <vt:lpstr>DIN2014-DEMIBOLD</vt:lpstr>
      <vt:lpstr>Geneva</vt:lpstr>
      <vt:lpstr>Segoe UI Light</vt:lpstr>
      <vt:lpstr>Wingdings</vt:lpstr>
      <vt:lpstr>Office Theme</vt:lpstr>
      <vt:lpstr>SPHERE template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Manchester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Ross</dc:creator>
  <cp:lastModifiedBy>Jacob Woodland</cp:lastModifiedBy>
  <cp:revision>12</cp:revision>
  <dcterms:created xsi:type="dcterms:W3CDTF">2022-05-13T10:11:00Z</dcterms:created>
  <dcterms:modified xsi:type="dcterms:W3CDTF">2026-04-21T21:58:35Z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2CC57AE11DA54234AE9AD5083C0DE3B0_13</vt:lpwstr>
  </property>
  <property fmtid="{D5CDD505-2E9C-101B-9397-08002B2CF9AE}" pid="3" name="KSOProductBuildVer">
    <vt:lpwstr>2052-12.1.0.25865</vt:lpwstr>
  </property>
</Properties>
</file>